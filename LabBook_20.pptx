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4"/>
  </p:notesMasterIdLst>
  <p:handoutMasterIdLst>
    <p:handoutMasterId r:id="rId25"/>
  </p:handoutMasterIdLst>
  <p:sldIdLst>
    <p:sldId id="256" r:id="rId2"/>
    <p:sldId id="289" r:id="rId3"/>
    <p:sldId id="295" r:id="rId4"/>
    <p:sldId id="304" r:id="rId5"/>
    <p:sldId id="305" r:id="rId6"/>
    <p:sldId id="302" r:id="rId7"/>
    <p:sldId id="303" r:id="rId8"/>
    <p:sldId id="291" r:id="rId9"/>
    <p:sldId id="296" r:id="rId10"/>
    <p:sldId id="293" r:id="rId11"/>
    <p:sldId id="306" r:id="rId12"/>
    <p:sldId id="294" r:id="rId13"/>
    <p:sldId id="299" r:id="rId14"/>
    <p:sldId id="300" r:id="rId15"/>
    <p:sldId id="301" r:id="rId16"/>
    <p:sldId id="290" r:id="rId17"/>
    <p:sldId id="307" r:id="rId18"/>
    <p:sldId id="297" r:id="rId19"/>
    <p:sldId id="308" r:id="rId20"/>
    <p:sldId id="292" r:id="rId21"/>
    <p:sldId id="298" r:id="rId22"/>
    <p:sldId id="288" r:id="rId2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2C109D-C685-4153-BD0E-9B4BE7CA059C}" v="122" dt="2026-05-03T21:36:24.043"/>
    <p1510:client id="{BF05E3AE-635C-C422-1CD4-A6F9D9B5EEDF}" v="31" dt="2026-05-03T22:17:51.634"/>
    <p1510:client id="{D2DC1DDE-32E1-7B57-6224-3AF1A3049917}" v="3136" dt="2026-05-03T20:57:51.920"/>
    <p1510:client id="{EEF8E4A2-7CDD-96F5-1C14-E2EB8C273733}" v="4" dt="2026-05-03T08:04:32.17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14:42:01.540"/>
    </inkml:context>
    <inkml:brush xml:id="br0">
      <inkml:brushProperty name="width" value="0.025" units="cm"/>
      <inkml:brushProperty name="height" value="0.025" units="cm"/>
      <inkml:brushProperty name="color" value="#F6630D"/>
    </inkml:brush>
  </inkml:definitions>
  <inkml:trace contextRef="#ctx0" brushRef="#br0">0 447 24575,'293'-295'0,"-196"201"0,-62 57 0,-20 25-1365,-1 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14:42:02.100"/>
    </inkml:context>
    <inkml:brush xml:id="br0">
      <inkml:brushProperty name="width" value="0.025" units="cm"/>
      <inkml:brushProperty name="height" value="0.025" units="cm"/>
      <inkml:brushProperty name="color" value="#F6630D"/>
    </inkml:brush>
  </inkml:definitions>
  <inkml:trace contextRef="#ctx0" brushRef="#br0">0 564 24575,'30'-19'0,"0"-1"0,-2-1 0,0-2 0,31-33 0,53-42 0,185-146 0,-240 190-1365,-29 26-5461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14:42:02.574"/>
    </inkml:context>
    <inkml:brush xml:id="br0">
      <inkml:brushProperty name="width" value="0.025" units="cm"/>
      <inkml:brushProperty name="height" value="0.025" units="cm"/>
      <inkml:brushProperty name="color" value="#F6630D"/>
    </inkml:brush>
  </inkml:definitions>
  <inkml:trace contextRef="#ctx0" brushRef="#br0">0 459 24575,'4'-1'0,"-1"1"0,0-1 0,1 0 0,-1 0 0,0 0 0,0-1 0,0 1 0,0-1 0,0 1 0,0-1 0,0 0 0,0 0 0,3-3 0,36-38 0,-21 21 0,299-291 0,-292 283-1365,-6 1-5461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14:42:03.170"/>
    </inkml:context>
    <inkml:brush xml:id="br0">
      <inkml:brushProperty name="width" value="0.025" units="cm"/>
      <inkml:brushProperty name="height" value="0.025" units="cm"/>
      <inkml:brushProperty name="color" value="#F6630D"/>
    </inkml:brush>
  </inkml:definitions>
  <inkml:trace contextRef="#ctx0" brushRef="#br0">1 545 24575,'5'-2'0,"-1"0"0,1 0 0,-1-1 0,1 1 0,-1-1 0,0 0 0,0 0 0,0-1 0,0 1 0,-1-1 0,0 0 0,1 0 0,4-8 0,7-5 0,-1 5 0,0 0 0,1 2 0,1 0 0,-1 0 0,2 2 0,26-11 0,-25 12 0,-1-1 0,0-1 0,-1 0 0,1-1 0,-2-1 0,18-14 0,2-7 0,2 3 0,56-35 0,-51 37 0,74-64 0,-107 83-71,0 1 1,1 0-1,-1 1 0,2 0 0,-1 1 0,0 0 0,1 0 1,0 1-1,0 1 0,0 0 0,24-3 0,-22 3-444,9-2-6311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14:42:04.191"/>
    </inkml:context>
    <inkml:brush xml:id="br0">
      <inkml:brushProperty name="width" value="0.025" units="cm"/>
      <inkml:brushProperty name="height" value="0.025" units="cm"/>
      <inkml:brushProperty name="color" value="#F6630D"/>
    </inkml:brush>
  </inkml:definitions>
  <inkml:trace contextRef="#ctx0" brushRef="#br0">0 258 24575,'5'0'0,"5"-5"0,2-5 0,8-6 0,4-5 0,-1-2 0,4 2 0,2 4 0,-4-3 0,-2-4 0,0 3 0,-4 1 0,0 3 0,0 4 0,2 1 0,2 2 0,-4 3-8191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14:42:04.774"/>
    </inkml:context>
    <inkml:brush xml:id="br0">
      <inkml:brushProperty name="width" value="0.025" units="cm"/>
      <inkml:brushProperty name="height" value="0.025" units="cm"/>
      <inkml:brushProperty name="color" value="#F6630D"/>
    </inkml:brush>
  </inkml:definitions>
  <inkml:trace contextRef="#ctx0" brushRef="#br0">0 478 24575,'221'-117'0,"-191"100"0,-1-1 0,-1-2 0,28-24 0,41-30 0,-33 32 0,-26 15 0,67-34 0,-29 19-1365,-55 26-5461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14:42:05.386"/>
    </inkml:context>
    <inkml:brush xml:id="br0">
      <inkml:brushProperty name="width" value="0.025" units="cm"/>
      <inkml:brushProperty name="height" value="0.025" units="cm"/>
      <inkml:brushProperty name="color" value="#F6630D"/>
    </inkml:brush>
  </inkml:definitions>
  <inkml:trace contextRef="#ctx0" brushRef="#br0">0 539 24575,'13'-19'0,"0"2"0,1 0 0,0 0 0,2 1 0,0 1 0,0 1 0,24-16 0,-3 1 0,19-12 0,2 2 0,1 3 0,2 3 0,83-33 0,-59 18 0,-24 11 0,-39 26-94,47-30-1177,-54 29-5555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14:42:08.014"/>
    </inkml:context>
    <inkml:brush xml:id="br0">
      <inkml:brushProperty name="width" value="0.025" units="cm"/>
      <inkml:brushProperty name="height" value="0.025" units="cm"/>
      <inkml:brushProperty name="color" value="#F6630D"/>
    </inkml:brush>
  </inkml:definitions>
  <inkml:trace contextRef="#ctx0" brushRef="#br0">0 792 24575,'1'-18'0,"1"0"0,0 1 0,1-1 0,1 0 0,1 1 0,0 0 0,2 0 0,0 0 0,0 1 0,1 0 0,14-19 0,9-8 0,1 1 0,58-56 0,-41 48 0,2 1 0,3 3 0,1 2 0,100-60 0,-63 45-1365,-54 27-5461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3 sesiones:</a:t>
            </a:r>
            <a:endParaRPr lang="en-US"/>
          </a:p>
          <a:p>
            <a:r>
              <a:rPr lang="es-ES"/>
              <a:t>1º semana acoplador direccional: dos guías muy cercanas</a:t>
            </a:r>
            <a:endParaRPr lang="en-US"/>
          </a:p>
          <a:p>
            <a:r>
              <a:rPr lang="es-ES"/>
              <a:t>El índice depende del gap y de la distancia que alcanza al propagarse a lo largo del núcleo, porque no es lo mismo que hayan compartido proximidad una micra que 1 milímetro: Valor L. </a:t>
            </a:r>
            <a:endParaRPr lang="en-US"/>
          </a:p>
          <a:p>
            <a:r>
              <a:rPr lang="es-ES"/>
              <a:t>La sección transversal de la guía de onda la representábamos y esto nos de</a:t>
            </a:r>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1643753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C4CFB-F5CB-3055-AC10-E06BEB07D1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4730C7F-B844-DFC7-94C9-A28BB0DEB0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3CACAD-8E78-8C15-C4F8-CF64943D2D7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D031AF1-4192-4708-B373-CA50AF3F8A00}"/>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200602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C543A-FB28-17E2-5FF7-71288C8F32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F46BCD-AFC4-049B-01B8-D0FDD25E9CF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5CAD7A-2E8B-1ABD-1122-6805B0E67F2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5D651BA-99A5-E77D-5C07-73354F882E0C}"/>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067603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C2F45-3100-8874-2492-D42BD89D18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5E2D8A-8D00-EE4E-F94C-A4B888A778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FC661E-AC2F-0DCC-0668-F3D07F8C29A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2FB077B-8129-9718-0BAF-194EFF4B04D8}"/>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992792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C5BFD-B881-A169-56D4-1D7B6F3E61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6F9A7EB-B358-361A-5062-A2937F6D60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91D2537-F455-48D2-62BD-561F549C16E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2546D01-365C-E06D-65B1-353D67EDFE61}"/>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23418564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customXml" Target="../ink/ink2.xml"/><Relationship Id="rId18" Type="http://schemas.openxmlformats.org/officeDocument/2006/relationships/image" Target="../media/image24.png"/><Relationship Id="rId26" Type="http://schemas.openxmlformats.org/officeDocument/2006/relationships/image" Target="../media/image28.png"/><Relationship Id="rId3" Type="http://schemas.openxmlformats.org/officeDocument/2006/relationships/image" Target="../media/image3.svg"/><Relationship Id="rId21" Type="http://schemas.openxmlformats.org/officeDocument/2006/relationships/customXml" Target="../ink/ink6.xml"/><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customXml" Target="../ink/ink4.xml"/><Relationship Id="rId25" Type="http://schemas.openxmlformats.org/officeDocument/2006/relationships/customXml" Target="../ink/ink8.xml"/><Relationship Id="rId2" Type="http://schemas.openxmlformats.org/officeDocument/2006/relationships/notesSlide" Target="../notesSlides/notesSlide6.xml"/><Relationship Id="rId16" Type="http://schemas.openxmlformats.org/officeDocument/2006/relationships/image" Target="../media/image23.pn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customXml" Target="../ink/ink1.xml"/><Relationship Id="rId24" Type="http://schemas.openxmlformats.org/officeDocument/2006/relationships/image" Target="../media/image27.png"/><Relationship Id="rId5" Type="http://schemas.openxmlformats.org/officeDocument/2006/relationships/image" Target="../media/image15.png"/><Relationship Id="rId15" Type="http://schemas.openxmlformats.org/officeDocument/2006/relationships/customXml" Target="../ink/ink3.xml"/><Relationship Id="rId23" Type="http://schemas.openxmlformats.org/officeDocument/2006/relationships/customXml" Target="../ink/ink7.xml"/><Relationship Id="rId10" Type="http://schemas.openxmlformats.org/officeDocument/2006/relationships/image" Target="../media/image19.png"/><Relationship Id="rId19" Type="http://schemas.openxmlformats.org/officeDocument/2006/relationships/customXml" Target="../ink/ink5.xml"/><Relationship Id="rId4" Type="http://schemas.openxmlformats.org/officeDocument/2006/relationships/image" Target="../media/image14.png"/><Relationship Id="rId9" Type="http://schemas.openxmlformats.org/officeDocument/2006/relationships/image" Target="../media/image18.png"/><Relationship Id="rId14" Type="http://schemas.openxmlformats.org/officeDocument/2006/relationships/image" Target="../media/image22.png"/><Relationship Id="rId22"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sv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3.sv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2.0. </a:t>
            </a:r>
            <a:r>
              <a:rPr lang="es-ES" sz="3200" b="1" err="1">
                <a:latin typeface="Lucida Sans"/>
                <a:cs typeface="Lucida Sans"/>
              </a:rPr>
              <a:t>Couplers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Lorena Gómez Diego &amp; Marta Orient Cabañas</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Terminal + ‘</a:t>
            </a:r>
            <a:r>
              <a:rPr lang="en-US" kern="0" err="1">
                <a:solidFill>
                  <a:sysClr val="windowText" lastClr="000000"/>
                </a:solidFill>
                <a:sym typeface="Wingdings" pitchFamily="2" charset="2"/>
              </a:rPr>
              <a:t>uv</a:t>
            </a:r>
            <a:r>
              <a:rPr lang="en-US" kern="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COUPLERS_Student.ipynb</a:t>
            </a:r>
            <a:r>
              <a:rPr lang="en-US" kern="0">
                <a:solidFill>
                  <a:sysClr val="windowText" lastClr="000000"/>
                </a:solidFill>
              </a:rPr>
              <a:t> </a:t>
            </a:r>
          </a:p>
          <a:p>
            <a:pPr algn="just"/>
            <a:endParaRPr lang="en-US" b="1" i="1"/>
          </a:p>
          <a:p>
            <a:pPr algn="just"/>
            <a:r>
              <a:rPr lang="en-US" b="1" i="1"/>
              <a:t>Cross-Sections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lang="es-ES" sz="1600" b="1" spc="-10">
                <a:latin typeface="Calibri"/>
                <a:cs typeface="Calibri"/>
              </a:rPr>
              <a:t>MMI </a:t>
            </a:r>
            <a:r>
              <a:rPr lang="es-ES" sz="1600" b="1" spc="-10" err="1">
                <a:latin typeface="Calibri"/>
                <a:cs typeface="Calibri"/>
              </a:rPr>
              <a:t>Body</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a:t>Multimode Interference (MMI) </a:t>
            </a:r>
            <a:r>
              <a:rPr lang="en-US"/>
              <a:t>coupler</a:t>
            </a:r>
            <a:r>
              <a:rPr lang="en-US" b="1"/>
              <a:t> </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a:t>Directional </a:t>
            </a:r>
            <a:r>
              <a:rPr lang="en-US"/>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a:latin typeface="Calibri"/>
                <a:cs typeface="Calibri"/>
              </a:rPr>
              <a:t>g</a:t>
            </a:r>
            <a:endParaRPr sz="1400">
              <a:latin typeface="Calibri"/>
              <a:cs typeface="Calibri"/>
            </a:endParaRPr>
          </a:p>
          <a:p>
            <a:pPr marR="5080" algn="ctr">
              <a:lnSpc>
                <a:spcPct val="100000"/>
              </a:lnSpc>
              <a:spcBef>
                <a:spcPts val="5"/>
              </a:spcBef>
            </a:pPr>
            <a:r>
              <a:rPr sz="1400" spc="-10">
                <a:latin typeface="Calibri"/>
                <a:cs typeface="Calibri"/>
              </a:rPr>
              <a:t>(</a:t>
            </a:r>
            <a:r>
              <a:rPr lang="es-ES" sz="1400" spc="-10">
                <a:latin typeface="Calibri"/>
                <a:cs typeface="Calibri"/>
              </a:rPr>
              <a:t>gap</a:t>
            </a:r>
            <a:r>
              <a:rPr sz="140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583019" y="3811548"/>
            <a:ext cx="11199971" cy="1938992"/>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a:latin typeface="Arial" panose="020B0604020202020204" pitchFamily="34" charset="0"/>
                <a:cs typeface="Arial" panose="020B0604020202020204" pitchFamily="34" charset="0"/>
              </a:rPr>
              <a:t>Para </a:t>
            </a:r>
            <a:r>
              <a:rPr lang="en-US" sz="1200" err="1">
                <a:latin typeface="Arial" panose="020B0604020202020204" pitchFamily="34" charset="0"/>
                <a:cs typeface="Arial" panose="020B0604020202020204" pitchFamily="34" charset="0"/>
              </a:rPr>
              <a:t>esta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primera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parte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trabajaremos</a:t>
            </a:r>
            <a:r>
              <a:rPr lang="en-US" sz="1200">
                <a:latin typeface="Arial" panose="020B0604020202020204" pitchFamily="34" charset="0"/>
                <a:cs typeface="Arial" panose="020B0604020202020204" pitchFamily="34" charset="0"/>
              </a:rPr>
              <a:t> con DC cross-section. La hoja de </a:t>
            </a:r>
            <a:r>
              <a:rPr lang="en-US" sz="1200" err="1">
                <a:latin typeface="Arial" panose="020B0604020202020204" pitchFamily="34" charset="0"/>
                <a:cs typeface="Arial" panose="020B0604020202020204" pitchFamily="34" charset="0"/>
              </a:rPr>
              <a:t>ruta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será</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muy</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parecida</a:t>
            </a:r>
            <a:r>
              <a:rPr lang="en-US" sz="1200">
                <a:latin typeface="Arial" panose="020B0604020202020204" pitchFamily="34" charset="0"/>
                <a:cs typeface="Arial" panose="020B0604020202020204" pitchFamily="34" charset="0"/>
              </a:rPr>
              <a:t> a la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seguimos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cuando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trabajábamos</a:t>
            </a:r>
            <a:r>
              <a:rPr lang="en-US" sz="1200">
                <a:latin typeface="Arial" panose="020B0604020202020204" pitchFamily="34" charset="0"/>
                <a:cs typeface="Arial" panose="020B0604020202020204" pitchFamily="34" charset="0"/>
              </a:rPr>
              <a:t> con waveguides: </a:t>
            </a:r>
            <a:r>
              <a:rPr lang="en-US" sz="1200" err="1">
                <a:latin typeface="Arial" panose="020B0604020202020204" pitchFamily="34" charset="0"/>
                <a:cs typeface="Arial" panose="020B0604020202020204" pitchFamily="34" charset="0"/>
              </a:rPr>
              <a:t>elegimos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materiales</a:t>
            </a:r>
            <a:r>
              <a:rPr lang="en-US" sz="1200">
                <a:latin typeface="Arial" panose="020B0604020202020204" pitchFamily="34" charset="0"/>
                <a:cs typeface="Arial" panose="020B0604020202020204" pitchFamily="34" charset="0"/>
              </a:rPr>
              <a:t> del core y del cladding, </a:t>
            </a:r>
            <a:r>
              <a:rPr lang="en-US" sz="1200" err="1">
                <a:latin typeface="Arial" panose="020B0604020202020204" pitchFamily="34" charset="0"/>
                <a:cs typeface="Arial" panose="020B0604020202020204" pitchFamily="34" charset="0"/>
              </a:rPr>
              <a:t>mediante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Tidy3d </a:t>
            </a:r>
            <a:r>
              <a:rPr lang="en-US" sz="1200" err="1">
                <a:latin typeface="Arial" panose="020B0604020202020204" pitchFamily="34" charset="0"/>
                <a:cs typeface="Arial" panose="020B0604020202020204" pitchFamily="34" charset="0"/>
              </a:rPr>
              <a:t>modesolver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definimos</a:t>
            </a:r>
            <a:r>
              <a:rPr lang="en-US" sz="1200">
                <a:latin typeface="Arial" panose="020B0604020202020204" pitchFamily="34" charset="0"/>
                <a:cs typeface="Arial" panose="020B0604020202020204" pitchFamily="34" charset="0"/>
              </a:rPr>
              <a:t> la cross-section y </a:t>
            </a:r>
            <a:r>
              <a:rPr lang="en-US" sz="1200" err="1">
                <a:latin typeface="Arial" panose="020B0604020202020204" pitchFamily="34" charset="0"/>
                <a:cs typeface="Arial" panose="020B0604020202020204" pitchFamily="34" charset="0"/>
              </a:rPr>
              <a:t>damos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sentido</a:t>
            </a:r>
            <a:r>
              <a:rPr lang="en-US" sz="1200">
                <a:latin typeface="Arial" panose="020B0604020202020204" pitchFamily="34" charset="0"/>
                <a:cs typeface="Arial" panose="020B0604020202020204" pitchFamily="34" charset="0"/>
              </a:rPr>
              <a:t> a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resultados</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a:p>
            <a:pPr algn="just"/>
            <a:r>
              <a:rPr lang="en-US" sz="1200" err="1">
                <a:latin typeface="Arial"/>
                <a:cs typeface="Arial"/>
              </a:rPr>
              <a:t>Además</a:t>
            </a:r>
            <a:r>
              <a:rPr lang="en-US" sz="1200">
                <a:latin typeface="Arial"/>
                <a:cs typeface="Arial"/>
              </a:rPr>
              <a:t>, con </a:t>
            </a:r>
            <a:r>
              <a:rPr lang="en-US" sz="1200" err="1">
                <a:latin typeface="Arial"/>
                <a:cs typeface="Arial"/>
              </a:rPr>
              <a:t>los</a:t>
            </a:r>
            <a:r>
              <a:rPr lang="en-US" sz="1200">
                <a:latin typeface="Arial"/>
                <a:cs typeface="Arial"/>
              </a:rPr>
              <a:t> </a:t>
            </a:r>
            <a:r>
              <a:rPr lang="en-US" sz="1200" err="1">
                <a:latin typeface="Arial"/>
                <a:cs typeface="Arial"/>
              </a:rPr>
              <a:t>parámetros</a:t>
            </a:r>
            <a:r>
              <a:rPr lang="en-US" sz="1200">
                <a:latin typeface="Arial"/>
                <a:cs typeface="Arial"/>
              </a:rPr>
              <a:t> de entrada </a:t>
            </a:r>
            <a:r>
              <a:rPr lang="en-US" sz="1200" err="1">
                <a:latin typeface="Arial"/>
                <a:cs typeface="Arial"/>
              </a:rPr>
              <a:t>iniciales</a:t>
            </a:r>
            <a:r>
              <a:rPr lang="en-US" sz="1200">
                <a:latin typeface="Arial"/>
                <a:cs typeface="Arial"/>
              </a:rPr>
              <a:t>, </a:t>
            </a:r>
            <a:r>
              <a:rPr lang="en-US" sz="1200" err="1">
                <a:latin typeface="Arial"/>
                <a:cs typeface="Arial"/>
              </a:rPr>
              <a:t>nos</a:t>
            </a:r>
            <a:r>
              <a:rPr lang="en-US" sz="1200">
                <a:latin typeface="Arial"/>
                <a:cs typeface="Arial"/>
              </a:rPr>
              <a:t> </a:t>
            </a:r>
            <a:r>
              <a:rPr lang="en-US" sz="1200" err="1">
                <a:latin typeface="Arial"/>
                <a:cs typeface="Arial"/>
              </a:rPr>
              <a:t>sirve</a:t>
            </a:r>
            <a:r>
              <a:rPr lang="en-US" sz="1200">
                <a:latin typeface="Arial"/>
                <a:cs typeface="Arial"/>
              </a:rPr>
              <a:t> para </a:t>
            </a:r>
            <a:r>
              <a:rPr lang="en-US" sz="1200" err="1">
                <a:latin typeface="Arial"/>
                <a:cs typeface="Arial"/>
              </a:rPr>
              <a:t>comprobar</a:t>
            </a:r>
            <a:r>
              <a:rPr lang="en-US" sz="1200">
                <a:latin typeface="Arial"/>
                <a:cs typeface="Arial"/>
              </a:rPr>
              <a:t> </a:t>
            </a:r>
            <a:r>
              <a:rPr lang="en-US" sz="1200" err="1">
                <a:latin typeface="Arial"/>
                <a:cs typeface="Arial"/>
              </a:rPr>
              <a:t>cuántos</a:t>
            </a:r>
            <a:r>
              <a:rPr lang="en-US" sz="1200">
                <a:latin typeface="Arial"/>
                <a:cs typeface="Arial"/>
              </a:rPr>
              <a:t> </a:t>
            </a:r>
            <a:r>
              <a:rPr lang="en-US" sz="1200" err="1">
                <a:latin typeface="Arial"/>
                <a:cs typeface="Arial"/>
              </a:rPr>
              <a:t>modos</a:t>
            </a:r>
            <a:r>
              <a:rPr lang="en-US" sz="1200">
                <a:latin typeface="Arial"/>
                <a:cs typeface="Arial"/>
              </a:rPr>
              <a:t> </a:t>
            </a:r>
            <a:r>
              <a:rPr lang="en-US" sz="1200" err="1">
                <a:latin typeface="Arial"/>
                <a:cs typeface="Arial"/>
              </a:rPr>
              <a:t>están</a:t>
            </a:r>
            <a:r>
              <a:rPr lang="en-US" sz="1200">
                <a:latin typeface="Arial"/>
                <a:cs typeface="Arial"/>
              </a:rPr>
              <a:t> </a:t>
            </a:r>
            <a:r>
              <a:rPr lang="en-US" sz="1200" err="1">
                <a:latin typeface="Arial"/>
                <a:cs typeface="Arial"/>
              </a:rPr>
              <a:t>guiados</a:t>
            </a:r>
            <a:r>
              <a:rPr lang="en-US" sz="1200">
                <a:latin typeface="Arial"/>
                <a:cs typeface="Arial"/>
              </a:rPr>
              <a:t> y </a:t>
            </a:r>
            <a:r>
              <a:rPr lang="en-US" sz="1200" err="1">
                <a:latin typeface="Arial"/>
                <a:cs typeface="Arial"/>
              </a:rPr>
              <a:t>su</a:t>
            </a:r>
            <a:r>
              <a:rPr lang="en-US" sz="1200">
                <a:latin typeface="Arial"/>
                <a:cs typeface="Arial"/>
              </a:rPr>
              <a:t> </a:t>
            </a:r>
            <a:r>
              <a:rPr lang="en-US" sz="1200" err="1">
                <a:latin typeface="Arial"/>
                <a:cs typeface="Arial"/>
              </a:rPr>
              <a:t>polarización</a:t>
            </a:r>
            <a:r>
              <a:rPr lang="en-US" sz="1200">
                <a:latin typeface="Arial"/>
                <a:cs typeface="Arial"/>
              </a:rPr>
              <a:t>. Como </a:t>
            </a:r>
            <a:r>
              <a:rPr lang="en-US" sz="1200" err="1">
                <a:latin typeface="Arial"/>
                <a:cs typeface="Arial"/>
              </a:rPr>
              <a:t>los</a:t>
            </a:r>
            <a:r>
              <a:rPr lang="en-US" sz="1200">
                <a:latin typeface="Arial"/>
                <a:cs typeface="Arial"/>
              </a:rPr>
              <a:t> primeros 4 </a:t>
            </a:r>
            <a:r>
              <a:rPr lang="en-US" sz="1200" err="1">
                <a:latin typeface="Arial"/>
                <a:cs typeface="Arial"/>
              </a:rPr>
              <a:t>modos</a:t>
            </a:r>
            <a:r>
              <a:rPr lang="en-US" sz="1200">
                <a:latin typeface="Arial"/>
                <a:cs typeface="Arial"/>
              </a:rPr>
              <a:t> </a:t>
            </a:r>
            <a:r>
              <a:rPr lang="en-US" sz="1200" err="1">
                <a:latin typeface="Arial"/>
                <a:cs typeface="Arial"/>
              </a:rPr>
              <a:t>tienen</a:t>
            </a:r>
            <a:r>
              <a:rPr lang="en-US" sz="1200">
                <a:latin typeface="Arial"/>
                <a:cs typeface="Arial"/>
              </a:rPr>
              <a:t> </a:t>
            </a:r>
            <a:r>
              <a:rPr lang="en-US" sz="1200" err="1">
                <a:latin typeface="Arial"/>
                <a:cs typeface="Arial"/>
              </a:rPr>
              <a:t>una</a:t>
            </a:r>
            <a:r>
              <a:rPr lang="en-US" sz="1200">
                <a:latin typeface="Arial"/>
                <a:cs typeface="Arial"/>
              </a:rPr>
              <a:t> </a:t>
            </a:r>
            <a:r>
              <a:rPr lang="en-US" sz="1200" err="1">
                <a:latin typeface="Arial"/>
                <a:cs typeface="Arial"/>
              </a:rPr>
              <a:t>neff</a:t>
            </a:r>
            <a:r>
              <a:rPr lang="en-US" sz="1200">
                <a:latin typeface="Arial"/>
                <a:cs typeface="Arial"/>
              </a:rPr>
              <a:t> </a:t>
            </a:r>
            <a:r>
              <a:rPr lang="en-US" sz="1200" err="1">
                <a:latin typeface="Arial"/>
                <a:cs typeface="Arial"/>
              </a:rPr>
              <a:t>que</a:t>
            </a:r>
            <a:r>
              <a:rPr lang="en-US" sz="1200">
                <a:latin typeface="Arial"/>
                <a:cs typeface="Arial"/>
              </a:rPr>
              <a:t> se </a:t>
            </a:r>
            <a:r>
              <a:rPr lang="en-US" sz="1200" err="1">
                <a:latin typeface="Arial"/>
                <a:cs typeface="Arial"/>
              </a:rPr>
              <a:t>encuentra</a:t>
            </a:r>
            <a:r>
              <a:rPr lang="en-US" sz="1200">
                <a:latin typeface="Arial"/>
                <a:cs typeface="Arial"/>
              </a:rPr>
              <a:t> entre </a:t>
            </a:r>
            <a:r>
              <a:rPr lang="en-US" sz="1200" err="1">
                <a:latin typeface="Arial"/>
                <a:cs typeface="Arial"/>
              </a:rPr>
              <a:t>n</a:t>
            </a:r>
            <a:r>
              <a:rPr lang="en-US" sz="1200" baseline="-25000" err="1">
                <a:latin typeface="Arial"/>
                <a:cs typeface="Arial"/>
              </a:rPr>
              <a:t>core</a:t>
            </a:r>
            <a:r>
              <a:rPr lang="en-US" sz="1200">
                <a:latin typeface="Arial"/>
                <a:cs typeface="Arial"/>
              </a:rPr>
              <a:t> y </a:t>
            </a:r>
            <a:r>
              <a:rPr lang="en-US" sz="1200" err="1">
                <a:latin typeface="Arial"/>
                <a:cs typeface="Arial"/>
              </a:rPr>
              <a:t>n</a:t>
            </a:r>
            <a:r>
              <a:rPr lang="en-US" sz="1200" baseline="-25000" err="1">
                <a:latin typeface="Arial"/>
                <a:cs typeface="Arial"/>
              </a:rPr>
              <a:t>clad</a:t>
            </a:r>
            <a:r>
              <a:rPr lang="en-US" sz="1200">
                <a:latin typeface="Arial"/>
                <a:cs typeface="Arial"/>
              </a:rPr>
              <a:t>, </a:t>
            </a:r>
            <a:r>
              <a:rPr lang="en-US" sz="1200" err="1">
                <a:latin typeface="Arial"/>
                <a:cs typeface="Arial"/>
              </a:rPr>
              <a:t>corresponden</a:t>
            </a:r>
            <a:r>
              <a:rPr lang="en-US" sz="1200">
                <a:latin typeface="Arial"/>
                <a:cs typeface="Arial"/>
              </a:rPr>
              <a:t> a </a:t>
            </a:r>
            <a:r>
              <a:rPr lang="en-US" sz="1200" err="1">
                <a:latin typeface="Arial"/>
                <a:cs typeface="Arial"/>
              </a:rPr>
              <a:t>los</a:t>
            </a:r>
            <a:r>
              <a:rPr lang="en-US" sz="1200">
                <a:latin typeface="Arial"/>
                <a:cs typeface="Arial"/>
              </a:rPr>
              <a:t> </a:t>
            </a:r>
            <a:r>
              <a:rPr lang="en-US" sz="1200" err="1">
                <a:latin typeface="Arial"/>
                <a:cs typeface="Arial"/>
              </a:rPr>
              <a:t>modos</a:t>
            </a:r>
            <a:r>
              <a:rPr lang="en-US" sz="1200">
                <a:latin typeface="Arial"/>
                <a:cs typeface="Arial"/>
              </a:rPr>
              <a:t> </a:t>
            </a:r>
            <a:r>
              <a:rPr lang="en-US" sz="1200" err="1">
                <a:latin typeface="Arial"/>
                <a:cs typeface="Arial"/>
              </a:rPr>
              <a:t>guiados</a:t>
            </a:r>
            <a:r>
              <a:rPr lang="en-US" sz="1200">
                <a:latin typeface="Arial"/>
                <a:cs typeface="Arial"/>
              </a:rPr>
              <a:t> </a:t>
            </a:r>
            <a:r>
              <a:rPr lang="en-US" sz="1200" err="1">
                <a:latin typeface="Arial"/>
                <a:cs typeface="Arial"/>
              </a:rPr>
              <a:t>en</a:t>
            </a:r>
            <a:r>
              <a:rPr lang="en-US" sz="1200">
                <a:latin typeface="Arial"/>
                <a:cs typeface="Arial"/>
              </a:rPr>
              <a:t> </a:t>
            </a:r>
            <a:r>
              <a:rPr lang="en-US" sz="1200" err="1">
                <a:latin typeface="Arial"/>
                <a:cs typeface="Arial"/>
              </a:rPr>
              <a:t>esta</a:t>
            </a:r>
            <a:r>
              <a:rPr lang="en-US" sz="1200">
                <a:latin typeface="Arial"/>
                <a:cs typeface="Arial"/>
              </a:rPr>
              <a:t> </a:t>
            </a:r>
            <a:r>
              <a:rPr lang="en-US" sz="1200" err="1">
                <a:latin typeface="Arial"/>
                <a:cs typeface="Arial"/>
              </a:rPr>
              <a:t>configuración</a:t>
            </a:r>
            <a:r>
              <a:rPr lang="en-US" sz="1200">
                <a:latin typeface="Arial"/>
                <a:cs typeface="Arial"/>
              </a:rPr>
              <a:t>. </a:t>
            </a:r>
            <a:r>
              <a:rPr lang="en-US" sz="1200" err="1">
                <a:latin typeface="Arial"/>
                <a:cs typeface="Arial"/>
              </a:rPr>
              <a:t>Calculando</a:t>
            </a:r>
            <a:r>
              <a:rPr lang="en-US" sz="1200">
                <a:latin typeface="Arial"/>
                <a:cs typeface="Arial"/>
              </a:rPr>
              <a:t> la </a:t>
            </a:r>
            <a:r>
              <a:rPr lang="en-US" sz="1200" err="1">
                <a:latin typeface="Arial"/>
                <a:cs typeface="Arial"/>
              </a:rPr>
              <a:t>fracción</a:t>
            </a:r>
            <a:r>
              <a:rPr lang="en-US" sz="1200">
                <a:latin typeface="Arial"/>
                <a:cs typeface="Arial"/>
              </a:rPr>
              <a:t> TE y TM, </a:t>
            </a:r>
            <a:r>
              <a:rPr lang="en-US" sz="1200" err="1">
                <a:latin typeface="Arial"/>
                <a:cs typeface="Arial"/>
              </a:rPr>
              <a:t>vemos</a:t>
            </a:r>
            <a:r>
              <a:rPr lang="en-US" sz="1200">
                <a:latin typeface="Arial"/>
                <a:cs typeface="Arial"/>
              </a:rPr>
              <a:t> </a:t>
            </a:r>
            <a:r>
              <a:rPr lang="en-US" sz="1200" err="1">
                <a:latin typeface="Arial"/>
                <a:cs typeface="Arial"/>
              </a:rPr>
              <a:t>que</a:t>
            </a:r>
            <a:r>
              <a:rPr lang="en-US" sz="1200">
                <a:latin typeface="Arial"/>
                <a:cs typeface="Arial"/>
              </a:rPr>
              <a:t> </a:t>
            </a:r>
            <a:r>
              <a:rPr lang="en-US" sz="1200" err="1">
                <a:latin typeface="Arial"/>
                <a:cs typeface="Arial"/>
              </a:rPr>
              <a:t>los</a:t>
            </a:r>
            <a:r>
              <a:rPr lang="en-US" sz="1200">
                <a:latin typeface="Arial"/>
                <a:cs typeface="Arial"/>
              </a:rPr>
              <a:t> </a:t>
            </a:r>
            <a:r>
              <a:rPr lang="en-US" sz="1200" err="1">
                <a:latin typeface="Arial"/>
                <a:cs typeface="Arial"/>
              </a:rPr>
              <a:t>modos</a:t>
            </a:r>
            <a:r>
              <a:rPr lang="en-US" sz="1200">
                <a:latin typeface="Arial"/>
                <a:cs typeface="Arial"/>
              </a:rPr>
              <a:t> 0 y 1 son TE y </a:t>
            </a:r>
            <a:r>
              <a:rPr lang="en-US" sz="1200" err="1">
                <a:latin typeface="Arial"/>
                <a:cs typeface="Arial"/>
              </a:rPr>
              <a:t>los</a:t>
            </a:r>
            <a:r>
              <a:rPr lang="en-US" sz="1200">
                <a:latin typeface="Arial"/>
                <a:cs typeface="Arial"/>
              </a:rPr>
              <a:t> </a:t>
            </a:r>
            <a:r>
              <a:rPr lang="en-US" sz="1200" err="1">
                <a:latin typeface="Arial"/>
                <a:cs typeface="Arial"/>
              </a:rPr>
              <a:t>modos</a:t>
            </a:r>
            <a:r>
              <a:rPr lang="en-US" sz="1200">
                <a:latin typeface="Arial"/>
                <a:cs typeface="Arial"/>
              </a:rPr>
              <a:t> 2 y 3 son TM. A </a:t>
            </a:r>
            <a:r>
              <a:rPr lang="en-US" sz="1200" err="1">
                <a:latin typeface="Arial"/>
                <a:cs typeface="Arial"/>
              </a:rPr>
              <a:t>partir</a:t>
            </a:r>
            <a:r>
              <a:rPr lang="en-US" sz="1200">
                <a:latin typeface="Arial"/>
                <a:cs typeface="Arial"/>
              </a:rPr>
              <a:t> de </a:t>
            </a:r>
            <a:r>
              <a:rPr lang="en-US" sz="1200" err="1">
                <a:latin typeface="Arial"/>
                <a:cs typeface="Arial"/>
              </a:rPr>
              <a:t>aquí</a:t>
            </a:r>
            <a:r>
              <a:rPr lang="en-US" sz="1200">
                <a:latin typeface="Arial"/>
                <a:cs typeface="Arial"/>
              </a:rPr>
              <a:t>, </a:t>
            </a:r>
            <a:r>
              <a:rPr lang="en-US" sz="1200" err="1">
                <a:latin typeface="Arial"/>
                <a:cs typeface="Arial"/>
              </a:rPr>
              <a:t>sabiendo</a:t>
            </a:r>
            <a:r>
              <a:rPr lang="en-US" sz="1200">
                <a:latin typeface="Arial"/>
                <a:cs typeface="Arial"/>
              </a:rPr>
              <a:t> la </a:t>
            </a:r>
            <a:r>
              <a:rPr lang="en-US" sz="1200" err="1">
                <a:latin typeface="Arial"/>
                <a:cs typeface="Arial"/>
              </a:rPr>
              <a:t>polarización</a:t>
            </a:r>
            <a:r>
              <a:rPr lang="en-US" sz="1200">
                <a:latin typeface="Arial"/>
                <a:cs typeface="Arial"/>
              </a:rPr>
              <a:t> de </a:t>
            </a:r>
            <a:r>
              <a:rPr lang="en-US" sz="1200" err="1">
                <a:latin typeface="Arial"/>
                <a:cs typeface="Arial"/>
              </a:rPr>
              <a:t>cada</a:t>
            </a:r>
            <a:r>
              <a:rPr lang="en-US" sz="1200">
                <a:latin typeface="Arial"/>
                <a:cs typeface="Arial"/>
              </a:rPr>
              <a:t> modo, </a:t>
            </a:r>
            <a:r>
              <a:rPr lang="en-US" sz="1200" err="1">
                <a:latin typeface="Arial"/>
                <a:cs typeface="Arial"/>
              </a:rPr>
              <a:t>podemos</a:t>
            </a:r>
            <a:r>
              <a:rPr lang="en-US" sz="1200">
                <a:latin typeface="Arial"/>
                <a:cs typeface="Arial"/>
              </a:rPr>
              <a:t> </a:t>
            </a:r>
            <a:r>
              <a:rPr lang="en-US" sz="1200" err="1">
                <a:latin typeface="Arial"/>
                <a:cs typeface="Arial"/>
              </a:rPr>
              <a:t>representar</a:t>
            </a:r>
            <a:r>
              <a:rPr lang="en-US" sz="1200">
                <a:latin typeface="Arial"/>
                <a:cs typeface="Arial"/>
              </a:rPr>
              <a:t> </a:t>
            </a:r>
            <a:r>
              <a:rPr lang="en-US" sz="1200" err="1">
                <a:latin typeface="Arial"/>
                <a:cs typeface="Arial"/>
              </a:rPr>
              <a:t>cada</a:t>
            </a:r>
            <a:r>
              <a:rPr lang="en-US" sz="1200">
                <a:latin typeface="Arial"/>
                <a:cs typeface="Arial"/>
              </a:rPr>
              <a:t> uno </a:t>
            </a:r>
            <a:r>
              <a:rPr lang="en-US" sz="1200" err="1">
                <a:latin typeface="Arial"/>
                <a:cs typeface="Arial"/>
              </a:rPr>
              <a:t>en</a:t>
            </a:r>
            <a:r>
              <a:rPr lang="en-US" sz="1200">
                <a:latin typeface="Arial"/>
                <a:cs typeface="Arial"/>
              </a:rPr>
              <a:t> </a:t>
            </a:r>
            <a:r>
              <a:rPr lang="en-US" sz="1200" err="1">
                <a:latin typeface="Arial"/>
                <a:cs typeface="Arial"/>
              </a:rPr>
              <a:t>su</a:t>
            </a:r>
            <a:r>
              <a:rPr lang="en-US" sz="1200">
                <a:latin typeface="Arial"/>
                <a:cs typeface="Arial"/>
              </a:rPr>
              <a:t> </a:t>
            </a:r>
            <a:r>
              <a:rPr lang="en-US" sz="1200" err="1">
                <a:latin typeface="Arial"/>
                <a:cs typeface="Arial"/>
              </a:rPr>
              <a:t>correspondiente</a:t>
            </a:r>
            <a:r>
              <a:rPr lang="en-US" sz="1200">
                <a:latin typeface="Arial"/>
                <a:cs typeface="Arial"/>
              </a:rPr>
              <a:t> plano.</a:t>
            </a:r>
          </a:p>
          <a:p>
            <a:pPr algn="just"/>
            <a:endParaRPr lang="en-US" sz="1200">
              <a:latin typeface="Arial" panose="020B0604020202020204" pitchFamily="34" charset="0"/>
              <a:cs typeface="Arial" panose="020B0604020202020204" pitchFamily="34" charset="0"/>
            </a:endParaRPr>
          </a:p>
          <a:p>
            <a:pPr algn="just"/>
            <a:r>
              <a:rPr lang="en-US" sz="1200">
                <a:latin typeface="Arial"/>
                <a:cs typeface="Arial"/>
              </a:rPr>
              <a:t>Lo </a:t>
            </a:r>
            <a:r>
              <a:rPr lang="en-US" sz="1200" err="1">
                <a:latin typeface="Arial"/>
                <a:cs typeface="Arial"/>
              </a:rPr>
              <a:t>último</a:t>
            </a:r>
            <a:r>
              <a:rPr lang="en-US" sz="1200">
                <a:latin typeface="Arial"/>
                <a:cs typeface="Arial"/>
              </a:rPr>
              <a:t> de </a:t>
            </a:r>
            <a:r>
              <a:rPr lang="en-US" sz="1200" err="1">
                <a:latin typeface="Arial"/>
                <a:cs typeface="Arial"/>
              </a:rPr>
              <a:t>esta</a:t>
            </a:r>
            <a:r>
              <a:rPr lang="en-US" sz="1200">
                <a:latin typeface="Arial"/>
                <a:cs typeface="Arial"/>
              </a:rPr>
              <a:t> </a:t>
            </a:r>
            <a:r>
              <a:rPr lang="en-US" sz="1200" err="1">
                <a:latin typeface="Arial"/>
                <a:cs typeface="Arial"/>
              </a:rPr>
              <a:t>sección</a:t>
            </a:r>
            <a:r>
              <a:rPr lang="en-US" sz="1200">
                <a:latin typeface="Arial"/>
                <a:cs typeface="Arial"/>
              </a:rPr>
              <a:t> </a:t>
            </a:r>
            <a:r>
              <a:rPr lang="en-US" sz="1200" err="1">
                <a:latin typeface="Arial"/>
                <a:cs typeface="Arial"/>
              </a:rPr>
              <a:t>inicial</a:t>
            </a:r>
            <a:r>
              <a:rPr lang="en-US" sz="1200">
                <a:latin typeface="Arial"/>
                <a:cs typeface="Arial"/>
              </a:rPr>
              <a:t> </a:t>
            </a:r>
            <a:r>
              <a:rPr lang="en-US" sz="1200" err="1">
                <a:latin typeface="Arial"/>
                <a:cs typeface="Arial"/>
              </a:rPr>
              <a:t>será</a:t>
            </a:r>
            <a:r>
              <a:rPr lang="en-US" sz="1200">
                <a:latin typeface="Arial"/>
                <a:cs typeface="Arial"/>
              </a:rPr>
              <a:t> </a:t>
            </a:r>
            <a:r>
              <a:rPr lang="en-US" sz="1200" err="1">
                <a:latin typeface="Arial"/>
                <a:cs typeface="Arial"/>
              </a:rPr>
              <a:t>calcular</a:t>
            </a:r>
            <a:r>
              <a:rPr lang="en-US" sz="1200">
                <a:latin typeface="Arial"/>
                <a:cs typeface="Arial"/>
              </a:rPr>
              <a:t> L</a:t>
            </a:r>
            <a:r>
              <a:rPr lang="el-GR" sz="1200">
                <a:latin typeface="Arial"/>
                <a:cs typeface="Arial"/>
              </a:rPr>
              <a:t>π,</a:t>
            </a:r>
            <a:r>
              <a:rPr lang="ca-ES-valencia" sz="1200">
                <a:latin typeface="Arial"/>
                <a:cs typeface="Arial"/>
              </a:rPr>
              <a:t> la cual es la longitud que define el tamaño total de la región de acoplo necesaria para transferir toda la potencia óptica de una guía de onda a otra.</a:t>
            </a:r>
            <a:r>
              <a:rPr lang="en-US" sz="1200">
                <a:latin typeface="Arial"/>
                <a:cs typeface="Arial"/>
              </a:rPr>
              <a:t> La </a:t>
            </a:r>
            <a:r>
              <a:rPr lang="en-US" sz="1200" err="1">
                <a:latin typeface="Arial"/>
                <a:cs typeface="Arial"/>
              </a:rPr>
              <a:t>calculamos</a:t>
            </a:r>
            <a:r>
              <a:rPr lang="en-US" sz="1200">
                <a:latin typeface="Arial"/>
                <a:cs typeface="Arial"/>
              </a:rPr>
              <a:t> </a:t>
            </a:r>
            <a:r>
              <a:rPr lang="en-US" sz="1200" err="1">
                <a:latin typeface="Arial"/>
                <a:cs typeface="Arial"/>
              </a:rPr>
              <a:t>mediante</a:t>
            </a:r>
            <a:r>
              <a:rPr lang="en-US" sz="1200">
                <a:latin typeface="Arial"/>
                <a:cs typeface="Arial"/>
              </a:rPr>
              <a:t> la </a:t>
            </a:r>
            <a:r>
              <a:rPr lang="en-US" sz="1200" err="1">
                <a:latin typeface="Arial"/>
                <a:cs typeface="Arial"/>
              </a:rPr>
              <a:t>fórmula</a:t>
            </a:r>
            <a:r>
              <a:rPr lang="en-US" sz="1200">
                <a:latin typeface="Arial"/>
                <a:cs typeface="Arial"/>
              </a:rPr>
              <a:t> </a:t>
            </a:r>
            <a:r>
              <a:rPr lang="en-US" sz="1200" err="1">
                <a:latin typeface="Arial"/>
                <a:cs typeface="Arial"/>
              </a:rPr>
              <a:t>que</a:t>
            </a:r>
            <a:r>
              <a:rPr lang="en-US" sz="1200">
                <a:latin typeface="Arial"/>
                <a:cs typeface="Arial"/>
              </a:rPr>
              <a:t> </a:t>
            </a:r>
            <a:r>
              <a:rPr lang="en-US" sz="1200" err="1">
                <a:latin typeface="Arial"/>
                <a:cs typeface="Arial"/>
              </a:rPr>
              <a:t>relaciona</a:t>
            </a:r>
            <a:r>
              <a:rPr lang="en-US" sz="1200">
                <a:latin typeface="Arial"/>
                <a:cs typeface="Arial"/>
              </a:rPr>
              <a:t> </a:t>
            </a:r>
            <a:r>
              <a:rPr lang="en-US" sz="1200" err="1">
                <a:latin typeface="Arial"/>
                <a:cs typeface="Arial"/>
              </a:rPr>
              <a:t>los</a:t>
            </a:r>
            <a:r>
              <a:rPr lang="en-US" sz="1200">
                <a:latin typeface="Arial"/>
                <a:cs typeface="Arial"/>
              </a:rPr>
              <a:t> </a:t>
            </a:r>
            <a:r>
              <a:rPr lang="en-US" sz="1200" err="1">
                <a:latin typeface="Arial"/>
                <a:cs typeface="Arial"/>
              </a:rPr>
              <a:t>índices</a:t>
            </a:r>
            <a:r>
              <a:rPr lang="en-US" sz="1200">
                <a:latin typeface="Arial"/>
                <a:cs typeface="Arial"/>
              </a:rPr>
              <a:t> </a:t>
            </a:r>
            <a:r>
              <a:rPr lang="en-US" sz="1200" err="1">
                <a:latin typeface="Arial"/>
                <a:cs typeface="Arial"/>
              </a:rPr>
              <a:t>efectivos</a:t>
            </a:r>
            <a:r>
              <a:rPr lang="en-US" sz="1200">
                <a:latin typeface="Arial"/>
                <a:cs typeface="Arial"/>
              </a:rPr>
              <a:t> de </a:t>
            </a:r>
            <a:r>
              <a:rPr lang="en-US" sz="1200" err="1">
                <a:latin typeface="Arial"/>
                <a:cs typeface="Arial"/>
              </a:rPr>
              <a:t>los</a:t>
            </a:r>
            <a:r>
              <a:rPr lang="en-US" sz="1200">
                <a:latin typeface="Arial"/>
                <a:cs typeface="Arial"/>
              </a:rPr>
              <a:t> </a:t>
            </a:r>
            <a:r>
              <a:rPr lang="en-US" sz="1200" err="1">
                <a:latin typeface="Arial"/>
                <a:cs typeface="Arial"/>
              </a:rPr>
              <a:t>modos</a:t>
            </a:r>
            <a:r>
              <a:rPr lang="en-US" sz="1200">
                <a:latin typeface="Arial"/>
                <a:cs typeface="Arial"/>
              </a:rPr>
              <a:t> de </a:t>
            </a:r>
            <a:r>
              <a:rPr lang="en-US" sz="1200" err="1">
                <a:latin typeface="Arial"/>
                <a:cs typeface="Arial"/>
              </a:rPr>
              <a:t>cada</a:t>
            </a:r>
            <a:r>
              <a:rPr lang="en-US" sz="1200">
                <a:latin typeface="Arial"/>
                <a:cs typeface="Arial"/>
              </a:rPr>
              <a:t> </a:t>
            </a:r>
            <a:r>
              <a:rPr lang="en-US" sz="1200" err="1">
                <a:latin typeface="Arial"/>
                <a:cs typeface="Arial"/>
              </a:rPr>
              <a:t>polarización</a:t>
            </a:r>
            <a:r>
              <a:rPr lang="en-US" sz="1200">
                <a:latin typeface="Arial"/>
                <a:cs typeface="Arial"/>
              </a:rPr>
              <a:t>: L</a:t>
            </a:r>
            <a:r>
              <a:rPr lang="el-GR" sz="1200">
                <a:latin typeface="Arial"/>
                <a:cs typeface="Arial"/>
              </a:rPr>
              <a:t>π</a:t>
            </a:r>
            <a:r>
              <a:rPr lang="ca-ES-valencia" sz="1200">
                <a:latin typeface="Arial"/>
                <a:cs typeface="Arial"/>
              </a:rPr>
              <a:t>_</a:t>
            </a:r>
            <a:r>
              <a:rPr lang="ca-ES-valencia" sz="1200" err="1">
                <a:latin typeface="Arial"/>
                <a:cs typeface="Arial"/>
              </a:rPr>
              <a:t>TE~neff</a:t>
            </a:r>
            <a:r>
              <a:rPr lang="ca-ES-valencia" sz="1200">
                <a:latin typeface="Arial"/>
                <a:cs typeface="Arial"/>
              </a:rPr>
              <a:t>[0],</a:t>
            </a:r>
            <a:r>
              <a:rPr lang="ca-ES-valencia" sz="1200" err="1">
                <a:latin typeface="Arial"/>
                <a:cs typeface="Arial"/>
              </a:rPr>
              <a:t>neff</a:t>
            </a:r>
            <a:r>
              <a:rPr lang="ca-ES-valencia" sz="1200">
                <a:latin typeface="Arial"/>
                <a:cs typeface="Arial"/>
              </a:rPr>
              <a:t>[1]. </a:t>
            </a:r>
            <a:r>
              <a:rPr lang="en-US" sz="1200">
                <a:latin typeface="Arial"/>
                <a:cs typeface="Arial"/>
              </a:rPr>
              <a:t>L</a:t>
            </a:r>
            <a:r>
              <a:rPr lang="el-GR" sz="1200">
                <a:latin typeface="Arial"/>
                <a:cs typeface="Arial"/>
              </a:rPr>
              <a:t>π</a:t>
            </a:r>
            <a:r>
              <a:rPr lang="ca-ES-valencia" sz="1200">
                <a:latin typeface="Arial"/>
                <a:cs typeface="Arial"/>
              </a:rPr>
              <a:t>_</a:t>
            </a:r>
            <a:r>
              <a:rPr lang="ca-ES-valencia" sz="1200" err="1">
                <a:latin typeface="Arial"/>
                <a:cs typeface="Arial"/>
              </a:rPr>
              <a:t>TM~neff</a:t>
            </a:r>
            <a:r>
              <a:rPr lang="ca-ES-valencia" sz="1200">
                <a:latin typeface="Arial"/>
                <a:cs typeface="Arial"/>
              </a:rPr>
              <a:t>[2],</a:t>
            </a:r>
            <a:r>
              <a:rPr lang="ca-ES-valencia" sz="1200" err="1">
                <a:latin typeface="Arial"/>
                <a:cs typeface="Arial"/>
              </a:rPr>
              <a:t>neff</a:t>
            </a:r>
            <a:r>
              <a:rPr lang="ca-ES-valencia" sz="1200">
                <a:latin typeface="Arial"/>
                <a:cs typeface="Arial"/>
              </a:rPr>
              <a:t>[3]. </a:t>
            </a:r>
            <a:endParaRPr lang="en-US" sz="1200">
              <a:latin typeface="Arial"/>
              <a:cs typeface="Arial"/>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0BAF5-7D6B-4950-A9E5-B75FEC5A09C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658C4B0-CDA3-779E-784C-CC76BA664AF5}"/>
              </a:ext>
            </a:extLst>
          </p:cNvPr>
          <p:cNvSpPr txBox="1">
            <a:spLocks noGrp="1"/>
          </p:cNvSpPr>
          <p:nvPr>
            <p:ph type="title"/>
          </p:nvPr>
        </p:nvSpPr>
        <p:spPr>
          <a:xfrm>
            <a:off x="685800" y="408883"/>
            <a:ext cx="10994410" cy="782265"/>
          </a:xfrm>
          <a:prstGeom prst="rect">
            <a:avLst/>
          </a:prstGeom>
        </p:spPr>
        <p:txBody>
          <a:bodyPr vert="horz" wrap="square" lIns="0" tIns="12700" rIns="0" bIns="0" rtlCol="0" anchor="t">
            <a:spAutoFit/>
          </a:bodyPr>
          <a:lstStyle/>
          <a:p>
            <a:pPr marL="12700">
              <a:spcBef>
                <a:spcPts val="100"/>
              </a:spcBef>
            </a:pPr>
            <a:r>
              <a:rPr lang="en-US" sz="2500"/>
              <a:t>Learning outcome #1 – Directional coupler cross-section in </a:t>
            </a:r>
            <a:r>
              <a:rPr lang="en-US" sz="2500" err="1"/>
              <a:t>GDSFactory</a:t>
            </a:r>
            <a:r>
              <a:rPr lang="en-US" sz="2500"/>
              <a:t> BIS</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EB1EFCCD-F0D3-09AF-84D4-805CC71B1D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1A15942-EDEF-9FF4-3155-C16F2EEA8EE7}"/>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BA881EC9-EA61-7961-004D-1116A4A6C53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0796E605-DC25-1288-2A28-7AEE98F4A9B6}"/>
              </a:ext>
            </a:extLst>
          </p:cNvPr>
          <p:cNvSpPr txBox="1"/>
          <p:nvPr/>
        </p:nvSpPr>
        <p:spPr>
          <a:xfrm>
            <a:off x="604483" y="4423295"/>
            <a:ext cx="11178507"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dirty="0">
                <a:latin typeface="Arial"/>
                <a:ea typeface="+mn-lt"/>
                <a:cs typeface="Arial"/>
              </a:rPr>
              <a:t>En un </a:t>
            </a:r>
            <a:r>
              <a:rPr lang="en-US" sz="1200" dirty="0" err="1">
                <a:latin typeface="Arial"/>
                <a:ea typeface="+mn-lt"/>
                <a:cs typeface="Arial"/>
              </a:rPr>
              <a:t>acoplador</a:t>
            </a:r>
            <a:r>
              <a:rPr lang="en-US" sz="1200" dirty="0">
                <a:latin typeface="Arial"/>
                <a:ea typeface="+mn-lt"/>
                <a:cs typeface="Arial"/>
              </a:rPr>
              <a:t> </a:t>
            </a:r>
            <a:r>
              <a:rPr lang="en-US" sz="1200" dirty="0" err="1">
                <a:latin typeface="Arial"/>
                <a:ea typeface="+mn-lt"/>
                <a:cs typeface="Arial"/>
              </a:rPr>
              <a:t>direccional</a:t>
            </a:r>
            <a:r>
              <a:rPr lang="en-US" sz="1200" dirty="0">
                <a:latin typeface="Arial"/>
                <a:ea typeface="+mn-lt"/>
                <a:cs typeface="Arial"/>
              </a:rPr>
              <a:t>, </a:t>
            </a:r>
            <a:r>
              <a:rPr lang="en-US" sz="1200" dirty="0" err="1">
                <a:latin typeface="Arial"/>
                <a:ea typeface="+mn-lt"/>
                <a:cs typeface="Arial"/>
              </a:rPr>
              <a:t>los</a:t>
            </a:r>
            <a:r>
              <a:rPr lang="en-US" sz="1200" dirty="0">
                <a:latin typeface="Arial"/>
                <a:ea typeface="+mn-lt"/>
                <a:cs typeface="Arial"/>
              </a:rPr>
              <a:t> </a:t>
            </a:r>
            <a:r>
              <a:rPr lang="en-US" sz="1200" dirty="0" err="1">
                <a:latin typeface="Arial"/>
                <a:ea typeface="+mn-lt"/>
                <a:cs typeface="Arial"/>
              </a:rPr>
              <a:t>modos</a:t>
            </a:r>
            <a:r>
              <a:rPr lang="en-US" sz="1200" dirty="0">
                <a:latin typeface="Arial"/>
                <a:ea typeface="+mn-lt"/>
                <a:cs typeface="Arial"/>
              </a:rPr>
              <a:t> </a:t>
            </a:r>
            <a:r>
              <a:rPr lang="en-US" sz="1200" dirty="0" err="1">
                <a:latin typeface="Arial"/>
                <a:ea typeface="+mn-lt"/>
                <a:cs typeface="Arial"/>
              </a:rPr>
              <a:t>fundamentales</a:t>
            </a:r>
            <a:r>
              <a:rPr lang="en-US" sz="1200" dirty="0">
                <a:latin typeface="Arial"/>
                <a:ea typeface="+mn-lt"/>
                <a:cs typeface="Arial"/>
              </a:rPr>
              <a:t> de la </a:t>
            </a:r>
            <a:r>
              <a:rPr lang="en-US" sz="1200" dirty="0" err="1">
                <a:latin typeface="Arial"/>
                <a:ea typeface="+mn-lt"/>
                <a:cs typeface="Arial"/>
              </a:rPr>
              <a:t>estructura</a:t>
            </a:r>
            <a:r>
              <a:rPr lang="en-US" sz="1200" dirty="0">
                <a:latin typeface="Arial"/>
                <a:ea typeface="+mn-lt"/>
                <a:cs typeface="Arial"/>
              </a:rPr>
              <a:t> </a:t>
            </a:r>
            <a:r>
              <a:rPr lang="en-US" sz="1200" dirty="0" err="1">
                <a:latin typeface="Arial"/>
                <a:ea typeface="+mn-lt"/>
                <a:cs typeface="Arial"/>
              </a:rPr>
              <a:t>acoplada</a:t>
            </a:r>
            <a:r>
              <a:rPr lang="en-US" sz="1200" dirty="0">
                <a:latin typeface="Arial"/>
                <a:ea typeface="+mn-lt"/>
                <a:cs typeface="Arial"/>
              </a:rPr>
              <a:t> son </a:t>
            </a:r>
            <a:r>
              <a:rPr lang="en-US" sz="1200" dirty="0" err="1">
                <a:latin typeface="Arial"/>
                <a:ea typeface="+mn-lt"/>
                <a:cs typeface="Arial"/>
              </a:rPr>
              <a:t>el</a:t>
            </a:r>
            <a:r>
              <a:rPr lang="en-US" sz="1200" dirty="0">
                <a:latin typeface="Arial"/>
                <a:ea typeface="+mn-lt"/>
                <a:cs typeface="Arial"/>
              </a:rPr>
              <a:t> modo </a:t>
            </a:r>
            <a:r>
              <a:rPr lang="en-US" sz="1200" dirty="0" err="1">
                <a:latin typeface="Arial"/>
                <a:ea typeface="+mn-lt"/>
                <a:cs typeface="Arial"/>
              </a:rPr>
              <a:t>simétrico</a:t>
            </a:r>
            <a:r>
              <a:rPr lang="en-US" sz="1200" dirty="0">
                <a:latin typeface="Arial"/>
                <a:ea typeface="+mn-lt"/>
                <a:cs typeface="Arial"/>
              </a:rPr>
              <a:t> y </a:t>
            </a:r>
            <a:r>
              <a:rPr lang="en-US" sz="1200" dirty="0" err="1">
                <a:latin typeface="Arial"/>
                <a:ea typeface="+mn-lt"/>
                <a:cs typeface="Arial"/>
              </a:rPr>
              <a:t>el</a:t>
            </a:r>
            <a:r>
              <a:rPr lang="en-US" sz="1200" dirty="0">
                <a:latin typeface="Arial"/>
                <a:ea typeface="+mn-lt"/>
                <a:cs typeface="Arial"/>
              </a:rPr>
              <a:t> </a:t>
            </a:r>
            <a:r>
              <a:rPr lang="en-US" sz="1200" dirty="0" err="1">
                <a:latin typeface="Arial"/>
                <a:ea typeface="+mn-lt"/>
                <a:cs typeface="Arial"/>
              </a:rPr>
              <a:t>antisimétrico</a:t>
            </a:r>
            <a:r>
              <a:rPr lang="en-US" sz="1200" dirty="0">
                <a:latin typeface="Arial"/>
                <a:ea typeface="+mn-lt"/>
                <a:cs typeface="Arial"/>
              </a:rPr>
              <a:t>. El modo </a:t>
            </a:r>
            <a:r>
              <a:rPr lang="en-US" sz="1200" dirty="0" err="1">
                <a:latin typeface="Arial"/>
                <a:ea typeface="+mn-lt"/>
                <a:cs typeface="Arial"/>
              </a:rPr>
              <a:t>antisimétrico</a:t>
            </a:r>
            <a:r>
              <a:rPr lang="en-US" sz="1200" dirty="0">
                <a:latin typeface="Arial"/>
                <a:ea typeface="+mn-lt"/>
                <a:cs typeface="Arial"/>
              </a:rPr>
              <a:t> </a:t>
            </a:r>
            <a:r>
              <a:rPr lang="en-US" sz="1200" dirty="0" err="1">
                <a:latin typeface="Arial"/>
                <a:ea typeface="+mn-lt"/>
                <a:cs typeface="Arial"/>
              </a:rPr>
              <a:t>presenta</a:t>
            </a:r>
            <a:r>
              <a:rPr lang="en-US" sz="1200" dirty="0">
                <a:latin typeface="Arial"/>
                <a:ea typeface="+mn-lt"/>
                <a:cs typeface="Arial"/>
              </a:rPr>
              <a:t> </a:t>
            </a:r>
            <a:r>
              <a:rPr lang="en-US" sz="1200" dirty="0" err="1">
                <a:latin typeface="Arial"/>
                <a:ea typeface="+mn-lt"/>
                <a:cs typeface="Arial"/>
              </a:rPr>
              <a:t>simetría</a:t>
            </a:r>
            <a:r>
              <a:rPr lang="en-US" sz="1200" dirty="0">
                <a:latin typeface="Arial"/>
                <a:ea typeface="+mn-lt"/>
                <a:cs typeface="Arial"/>
              </a:rPr>
              <a:t> impar, con </a:t>
            </a:r>
            <a:r>
              <a:rPr lang="en-US" sz="1200" dirty="0" err="1">
                <a:latin typeface="Arial"/>
                <a:ea typeface="+mn-lt"/>
                <a:cs typeface="Arial"/>
              </a:rPr>
              <a:t>cambio</a:t>
            </a:r>
            <a:r>
              <a:rPr lang="en-US" sz="1200" dirty="0">
                <a:latin typeface="Arial"/>
                <a:ea typeface="+mn-lt"/>
                <a:cs typeface="Arial"/>
              </a:rPr>
              <a:t> de </a:t>
            </a:r>
            <a:r>
              <a:rPr lang="en-US" sz="1200" dirty="0" err="1">
                <a:latin typeface="Arial"/>
                <a:ea typeface="+mn-lt"/>
                <a:cs typeface="Arial"/>
              </a:rPr>
              <a:t>signo</a:t>
            </a:r>
            <a:r>
              <a:rPr lang="en-US" sz="1200" dirty="0">
                <a:latin typeface="Arial"/>
                <a:ea typeface="+mn-lt"/>
                <a:cs typeface="Arial"/>
              </a:rPr>
              <a:t> entre las dos </a:t>
            </a:r>
            <a:r>
              <a:rPr lang="en-US" sz="1200" dirty="0" err="1">
                <a:latin typeface="Arial"/>
                <a:ea typeface="+mn-lt"/>
                <a:cs typeface="Arial"/>
              </a:rPr>
              <a:t>guías</a:t>
            </a:r>
            <a:r>
              <a:rPr lang="en-US" sz="1200" dirty="0">
                <a:latin typeface="Arial"/>
                <a:ea typeface="+mn-lt"/>
                <a:cs typeface="Arial"/>
              </a:rPr>
              <a:t>, </a:t>
            </a:r>
            <a:r>
              <a:rPr lang="en-US" sz="1200" dirty="0" err="1">
                <a:latin typeface="Arial"/>
                <a:ea typeface="+mn-lt"/>
                <a:cs typeface="Arial"/>
              </a:rPr>
              <a:t>mientras</a:t>
            </a:r>
            <a:r>
              <a:rPr lang="en-US" sz="1200" dirty="0">
                <a:latin typeface="Arial"/>
                <a:ea typeface="+mn-lt"/>
                <a:cs typeface="Arial"/>
              </a:rPr>
              <a:t> </a:t>
            </a:r>
            <a:r>
              <a:rPr lang="en-US" sz="1200" dirty="0" err="1">
                <a:latin typeface="Arial"/>
                <a:ea typeface="+mn-lt"/>
                <a:cs typeface="Arial"/>
              </a:rPr>
              <a:t>que</a:t>
            </a:r>
            <a:r>
              <a:rPr lang="en-US" sz="1200" dirty="0">
                <a:latin typeface="Arial"/>
                <a:ea typeface="+mn-lt"/>
                <a:cs typeface="Arial"/>
              </a:rPr>
              <a:t> </a:t>
            </a:r>
            <a:r>
              <a:rPr lang="en-US" sz="1200" dirty="0" err="1">
                <a:latin typeface="Arial"/>
                <a:ea typeface="+mn-lt"/>
                <a:cs typeface="Arial"/>
              </a:rPr>
              <a:t>el</a:t>
            </a:r>
            <a:r>
              <a:rPr lang="en-US" sz="1200" dirty="0">
                <a:latin typeface="Arial"/>
                <a:ea typeface="+mn-lt"/>
                <a:cs typeface="Arial"/>
              </a:rPr>
              <a:t> modo </a:t>
            </a:r>
            <a:r>
              <a:rPr lang="en-US" sz="1200" dirty="0" err="1">
                <a:latin typeface="Arial"/>
                <a:ea typeface="+mn-lt"/>
                <a:cs typeface="Arial"/>
              </a:rPr>
              <a:t>simétrico</a:t>
            </a:r>
            <a:r>
              <a:rPr lang="en-US" sz="1200" dirty="0">
                <a:latin typeface="Arial"/>
                <a:ea typeface="+mn-lt"/>
                <a:cs typeface="Arial"/>
              </a:rPr>
              <a:t> </a:t>
            </a:r>
            <a:r>
              <a:rPr lang="en-US" sz="1200" dirty="0" err="1">
                <a:latin typeface="Arial"/>
                <a:ea typeface="+mn-lt"/>
                <a:cs typeface="Arial"/>
              </a:rPr>
              <a:t>mantiene</a:t>
            </a:r>
            <a:r>
              <a:rPr lang="en-US" sz="1200" dirty="0">
                <a:latin typeface="Arial"/>
                <a:ea typeface="+mn-lt"/>
                <a:cs typeface="Arial"/>
              </a:rPr>
              <a:t> la </a:t>
            </a:r>
            <a:r>
              <a:rPr lang="en-US" sz="1200" dirty="0" err="1">
                <a:latin typeface="Arial"/>
                <a:ea typeface="+mn-lt"/>
                <a:cs typeface="Arial"/>
              </a:rPr>
              <a:t>misma</a:t>
            </a:r>
            <a:r>
              <a:rPr lang="en-US" sz="1200" dirty="0">
                <a:latin typeface="Arial"/>
                <a:ea typeface="+mn-lt"/>
                <a:cs typeface="Arial"/>
              </a:rPr>
              <a:t> </a:t>
            </a:r>
            <a:r>
              <a:rPr lang="en-US" sz="1200" dirty="0" err="1">
                <a:latin typeface="Arial"/>
                <a:ea typeface="+mn-lt"/>
                <a:cs typeface="Arial"/>
              </a:rPr>
              <a:t>fase</a:t>
            </a:r>
            <a:r>
              <a:rPr lang="en-US" sz="1200" dirty="0">
                <a:latin typeface="Arial"/>
                <a:ea typeface="+mn-lt"/>
                <a:cs typeface="Arial"/>
              </a:rPr>
              <a:t> </a:t>
            </a:r>
            <a:r>
              <a:rPr lang="en-US" sz="1200" dirty="0" err="1">
                <a:latin typeface="Arial"/>
                <a:ea typeface="+mn-lt"/>
                <a:cs typeface="Arial"/>
              </a:rPr>
              <a:t>en</a:t>
            </a:r>
            <a:r>
              <a:rPr lang="en-US" sz="1200" dirty="0">
                <a:latin typeface="Arial"/>
                <a:ea typeface="+mn-lt"/>
                <a:cs typeface="Arial"/>
              </a:rPr>
              <a:t> ambas. Como </a:t>
            </a:r>
            <a:r>
              <a:rPr lang="en-US" sz="1200" dirty="0" err="1">
                <a:latin typeface="Arial"/>
                <a:ea typeface="+mn-lt"/>
                <a:cs typeface="Arial"/>
              </a:rPr>
              <a:t>cada</a:t>
            </a:r>
            <a:r>
              <a:rPr lang="en-US" sz="1200" dirty="0">
                <a:latin typeface="Arial"/>
                <a:ea typeface="+mn-lt"/>
                <a:cs typeface="Arial"/>
              </a:rPr>
              <a:t> </a:t>
            </a:r>
            <a:r>
              <a:rPr lang="en-US" sz="1200" dirty="0" err="1">
                <a:latin typeface="Arial"/>
                <a:ea typeface="+mn-lt"/>
                <a:cs typeface="Arial"/>
              </a:rPr>
              <a:t>supermodo</a:t>
            </a:r>
            <a:r>
              <a:rPr lang="en-US" sz="1200" dirty="0">
                <a:latin typeface="Arial"/>
                <a:ea typeface="+mn-lt"/>
                <a:cs typeface="Arial"/>
              </a:rPr>
              <a:t> </a:t>
            </a:r>
            <a:r>
              <a:rPr lang="en-US" sz="1200" dirty="0" err="1">
                <a:latin typeface="Arial"/>
                <a:ea typeface="+mn-lt"/>
                <a:cs typeface="Arial"/>
              </a:rPr>
              <a:t>tiene</a:t>
            </a:r>
            <a:r>
              <a:rPr lang="en-US" sz="1200" dirty="0">
                <a:latin typeface="Arial"/>
                <a:ea typeface="+mn-lt"/>
                <a:cs typeface="Arial"/>
              </a:rPr>
              <a:t> un </a:t>
            </a:r>
            <a:r>
              <a:rPr lang="en-US" sz="1200" dirty="0" err="1">
                <a:latin typeface="Arial"/>
                <a:ea typeface="+mn-lt"/>
                <a:cs typeface="Arial"/>
              </a:rPr>
              <a:t>índice</a:t>
            </a:r>
            <a:r>
              <a:rPr lang="en-US" sz="1200" dirty="0">
                <a:latin typeface="Arial"/>
                <a:ea typeface="+mn-lt"/>
                <a:cs typeface="Arial"/>
              </a:rPr>
              <a:t> </a:t>
            </a:r>
            <a:r>
              <a:rPr lang="en-US" sz="1200" dirty="0" err="1">
                <a:latin typeface="Arial"/>
                <a:ea typeface="+mn-lt"/>
                <a:cs typeface="Arial"/>
              </a:rPr>
              <a:t>efectivo</a:t>
            </a:r>
            <a:r>
              <a:rPr lang="en-US" sz="1200" dirty="0">
                <a:latin typeface="Arial"/>
                <a:ea typeface="+mn-lt"/>
                <a:cs typeface="Arial"/>
              </a:rPr>
              <a:t> </a:t>
            </a:r>
            <a:r>
              <a:rPr lang="en-US" sz="1200" dirty="0" err="1">
                <a:latin typeface="Arial"/>
                <a:ea typeface="+mn-lt"/>
                <a:cs typeface="Arial"/>
              </a:rPr>
              <a:t>distinto</a:t>
            </a:r>
            <a:r>
              <a:rPr lang="en-US" sz="1200" dirty="0">
                <a:latin typeface="Arial"/>
                <a:ea typeface="+mn-lt"/>
                <a:cs typeface="Arial"/>
              </a:rPr>
              <a:t>, también </a:t>
            </a:r>
            <a:r>
              <a:rPr lang="en-US" sz="1200" dirty="0" err="1">
                <a:latin typeface="Arial"/>
                <a:ea typeface="+mn-lt"/>
                <a:cs typeface="Arial"/>
              </a:rPr>
              <a:t>tiene</a:t>
            </a:r>
            <a:r>
              <a:rPr lang="en-US" sz="1200" dirty="0">
                <a:latin typeface="Arial"/>
                <a:ea typeface="+mn-lt"/>
                <a:cs typeface="Arial"/>
              </a:rPr>
              <a:t> </a:t>
            </a:r>
            <a:r>
              <a:rPr lang="en-US" sz="1200" dirty="0" err="1">
                <a:latin typeface="Arial"/>
                <a:ea typeface="+mn-lt"/>
                <a:cs typeface="Arial"/>
              </a:rPr>
              <a:t>una</a:t>
            </a:r>
            <a:r>
              <a:rPr lang="en-US" sz="1200" dirty="0">
                <a:latin typeface="Arial"/>
                <a:ea typeface="+mn-lt"/>
                <a:cs typeface="Arial"/>
              </a:rPr>
              <a:t> </a:t>
            </a:r>
            <a:r>
              <a:rPr lang="en-US" sz="1200" dirty="0" err="1">
                <a:latin typeface="Arial"/>
                <a:ea typeface="+mn-lt"/>
                <a:cs typeface="Arial"/>
              </a:rPr>
              <a:t>constante</a:t>
            </a:r>
            <a:r>
              <a:rPr lang="en-US" sz="1200" dirty="0">
                <a:latin typeface="Arial"/>
                <a:ea typeface="+mn-lt"/>
                <a:cs typeface="Arial"/>
              </a:rPr>
              <a:t> de </a:t>
            </a:r>
            <a:r>
              <a:rPr lang="en-US" sz="1200" dirty="0" err="1">
                <a:latin typeface="Arial"/>
                <a:ea typeface="+mn-lt"/>
                <a:cs typeface="Arial"/>
              </a:rPr>
              <a:t>propagación</a:t>
            </a:r>
            <a:r>
              <a:rPr lang="en-US" sz="1200" dirty="0">
                <a:latin typeface="Arial"/>
                <a:ea typeface="+mn-lt"/>
                <a:cs typeface="Arial"/>
              </a:rPr>
              <a:t> ββ </a:t>
            </a:r>
            <a:r>
              <a:rPr lang="en-US" sz="1200" dirty="0" err="1">
                <a:latin typeface="Arial"/>
                <a:ea typeface="+mn-lt"/>
                <a:cs typeface="Arial"/>
              </a:rPr>
              <a:t>diferente</a:t>
            </a:r>
            <a:r>
              <a:rPr lang="en-US" sz="1200" dirty="0">
                <a:latin typeface="Arial"/>
                <a:ea typeface="+mn-lt"/>
                <a:cs typeface="Arial"/>
              </a:rPr>
              <a:t>. Por </a:t>
            </a:r>
            <a:r>
              <a:rPr lang="en-US" sz="1200" dirty="0" err="1">
                <a:latin typeface="Arial"/>
                <a:ea typeface="+mn-lt"/>
                <a:cs typeface="Arial"/>
              </a:rPr>
              <a:t>ello</a:t>
            </a:r>
            <a:r>
              <a:rPr lang="en-US" sz="1200" dirty="0">
                <a:latin typeface="Arial"/>
                <a:ea typeface="+mn-lt"/>
                <a:cs typeface="Arial"/>
              </a:rPr>
              <a:t>, ambos </a:t>
            </a:r>
            <a:r>
              <a:rPr lang="en-US" sz="1200" dirty="0" err="1">
                <a:latin typeface="Arial"/>
                <a:ea typeface="+mn-lt"/>
                <a:cs typeface="Arial"/>
              </a:rPr>
              <a:t>modos</a:t>
            </a:r>
            <a:r>
              <a:rPr lang="en-US" sz="1200" dirty="0">
                <a:latin typeface="Arial"/>
                <a:ea typeface="+mn-lt"/>
                <a:cs typeface="Arial"/>
              </a:rPr>
              <a:t> se </a:t>
            </a:r>
            <a:r>
              <a:rPr lang="en-US" sz="1200" dirty="0" err="1">
                <a:latin typeface="Arial"/>
                <a:ea typeface="+mn-lt"/>
                <a:cs typeface="Arial"/>
              </a:rPr>
              <a:t>propagan</a:t>
            </a:r>
            <a:r>
              <a:rPr lang="en-US" sz="1200" dirty="0">
                <a:latin typeface="Arial"/>
                <a:ea typeface="+mn-lt"/>
                <a:cs typeface="Arial"/>
              </a:rPr>
              <a:t> a </a:t>
            </a:r>
            <a:r>
              <a:rPr lang="en-US" sz="1200" dirty="0" err="1">
                <a:latin typeface="Arial"/>
                <a:ea typeface="+mn-lt"/>
                <a:cs typeface="Arial"/>
              </a:rPr>
              <a:t>distinta</a:t>
            </a:r>
            <a:r>
              <a:rPr lang="en-US" sz="1200" dirty="0">
                <a:latin typeface="Arial"/>
                <a:ea typeface="+mn-lt"/>
                <a:cs typeface="Arial"/>
              </a:rPr>
              <a:t> </a:t>
            </a:r>
            <a:r>
              <a:rPr lang="en-US" sz="1200" dirty="0" err="1">
                <a:latin typeface="Arial"/>
                <a:ea typeface="+mn-lt"/>
                <a:cs typeface="Arial"/>
              </a:rPr>
              <a:t>velocidad</a:t>
            </a:r>
            <a:r>
              <a:rPr lang="en-US" sz="1200" dirty="0">
                <a:latin typeface="Arial"/>
                <a:ea typeface="+mn-lt"/>
                <a:cs typeface="Arial"/>
              </a:rPr>
              <a:t> de </a:t>
            </a:r>
            <a:r>
              <a:rPr lang="en-US" sz="1200" dirty="0" err="1">
                <a:latin typeface="Arial"/>
                <a:ea typeface="+mn-lt"/>
                <a:cs typeface="Arial"/>
              </a:rPr>
              <a:t>fase</a:t>
            </a:r>
            <a:r>
              <a:rPr lang="en-US" sz="1200" dirty="0">
                <a:latin typeface="Arial"/>
                <a:ea typeface="+mn-lt"/>
                <a:cs typeface="Arial"/>
              </a:rPr>
              <a:t> y </a:t>
            </a:r>
            <a:r>
              <a:rPr lang="en-US" sz="1200" dirty="0" err="1">
                <a:latin typeface="Arial"/>
                <a:ea typeface="+mn-lt"/>
                <a:cs typeface="Arial"/>
              </a:rPr>
              <a:t>adquieren</a:t>
            </a:r>
            <a:r>
              <a:rPr lang="en-US" sz="1200" dirty="0">
                <a:latin typeface="Arial"/>
                <a:ea typeface="+mn-lt"/>
                <a:cs typeface="Arial"/>
              </a:rPr>
              <a:t> </a:t>
            </a:r>
            <a:r>
              <a:rPr lang="en-US" sz="1200" dirty="0" err="1">
                <a:latin typeface="Arial"/>
                <a:ea typeface="+mn-lt"/>
                <a:cs typeface="Arial"/>
              </a:rPr>
              <a:t>una</a:t>
            </a:r>
            <a:r>
              <a:rPr lang="en-US" sz="1200" dirty="0">
                <a:latin typeface="Arial"/>
                <a:ea typeface="+mn-lt"/>
                <a:cs typeface="Arial"/>
              </a:rPr>
              <a:t> </a:t>
            </a:r>
            <a:r>
              <a:rPr lang="en-US" sz="1200" dirty="0" err="1">
                <a:latin typeface="Arial"/>
                <a:ea typeface="+mn-lt"/>
                <a:cs typeface="Arial"/>
              </a:rPr>
              <a:t>fase</a:t>
            </a:r>
            <a:r>
              <a:rPr lang="en-US" sz="1200" dirty="0">
                <a:latin typeface="Arial"/>
                <a:ea typeface="+mn-lt"/>
                <a:cs typeface="Arial"/>
              </a:rPr>
              <a:t> </a:t>
            </a:r>
            <a:r>
              <a:rPr lang="en-US" sz="1200" dirty="0" err="1">
                <a:latin typeface="Arial"/>
                <a:ea typeface="+mn-lt"/>
                <a:cs typeface="Arial"/>
              </a:rPr>
              <a:t>relativa</a:t>
            </a:r>
            <a:r>
              <a:rPr lang="en-US" sz="1200" dirty="0">
                <a:latin typeface="Arial"/>
                <a:ea typeface="+mn-lt"/>
                <a:cs typeface="Arial"/>
              </a:rPr>
              <a:t> </a:t>
            </a:r>
            <a:r>
              <a:rPr lang="en-US" sz="1200" dirty="0" err="1">
                <a:latin typeface="Arial"/>
                <a:ea typeface="+mn-lt"/>
                <a:cs typeface="Arial"/>
              </a:rPr>
              <a:t>que</a:t>
            </a:r>
            <a:r>
              <a:rPr lang="en-US" sz="1200" dirty="0">
                <a:latin typeface="Arial"/>
                <a:ea typeface="+mn-lt"/>
                <a:cs typeface="Arial"/>
              </a:rPr>
              <a:t> </a:t>
            </a:r>
            <a:r>
              <a:rPr lang="en-US" sz="1200" dirty="0" err="1">
                <a:latin typeface="Arial"/>
                <a:ea typeface="+mn-lt"/>
                <a:cs typeface="Arial"/>
              </a:rPr>
              <a:t>evoluciona</a:t>
            </a:r>
            <a:r>
              <a:rPr lang="en-US" sz="1200" dirty="0">
                <a:latin typeface="Arial"/>
                <a:ea typeface="+mn-lt"/>
                <a:cs typeface="Arial"/>
              </a:rPr>
              <a:t> con la </a:t>
            </a:r>
            <a:r>
              <a:rPr lang="en-US" sz="1200" dirty="0" err="1">
                <a:latin typeface="Arial"/>
                <a:ea typeface="+mn-lt"/>
                <a:cs typeface="Arial"/>
              </a:rPr>
              <a:t>distancia</a:t>
            </a:r>
            <a:r>
              <a:rPr lang="en-US" sz="1200" dirty="0">
                <a:latin typeface="Arial"/>
                <a:ea typeface="+mn-lt"/>
                <a:cs typeface="Arial"/>
              </a:rPr>
              <a:t>. Esta </a:t>
            </a:r>
            <a:r>
              <a:rPr lang="en-US" sz="1200" dirty="0" err="1">
                <a:latin typeface="Arial"/>
                <a:ea typeface="+mn-lt"/>
                <a:cs typeface="Arial"/>
              </a:rPr>
              <a:t>diferencia</a:t>
            </a:r>
            <a:r>
              <a:rPr lang="en-US" sz="1200" dirty="0">
                <a:latin typeface="Arial"/>
                <a:ea typeface="+mn-lt"/>
                <a:cs typeface="Arial"/>
              </a:rPr>
              <a:t> de </a:t>
            </a:r>
            <a:r>
              <a:rPr lang="en-US" sz="1200" dirty="0" err="1">
                <a:latin typeface="Arial"/>
                <a:ea typeface="+mn-lt"/>
                <a:cs typeface="Arial"/>
              </a:rPr>
              <a:t>fase</a:t>
            </a:r>
            <a:r>
              <a:rPr lang="en-US" sz="1200" dirty="0">
                <a:latin typeface="Arial"/>
                <a:ea typeface="+mn-lt"/>
                <a:cs typeface="Arial"/>
              </a:rPr>
              <a:t> </a:t>
            </a:r>
            <a:r>
              <a:rPr lang="en-US" sz="1200" dirty="0" err="1">
                <a:latin typeface="Arial"/>
                <a:ea typeface="+mn-lt"/>
                <a:cs typeface="Arial"/>
              </a:rPr>
              <a:t>explica</a:t>
            </a:r>
            <a:r>
              <a:rPr lang="en-US" sz="1200" dirty="0">
                <a:latin typeface="Arial"/>
                <a:ea typeface="+mn-lt"/>
                <a:cs typeface="Arial"/>
              </a:rPr>
              <a:t> </a:t>
            </a:r>
            <a:r>
              <a:rPr lang="en-US" sz="1200" dirty="0" err="1">
                <a:latin typeface="Arial"/>
                <a:ea typeface="+mn-lt"/>
                <a:cs typeface="Arial"/>
              </a:rPr>
              <a:t>el</a:t>
            </a:r>
            <a:r>
              <a:rPr lang="en-US" sz="1200" dirty="0">
                <a:latin typeface="Arial"/>
                <a:ea typeface="+mn-lt"/>
                <a:cs typeface="Arial"/>
              </a:rPr>
              <a:t> </a:t>
            </a:r>
            <a:r>
              <a:rPr lang="en-US" sz="1200" dirty="0" err="1">
                <a:latin typeface="Arial"/>
                <a:ea typeface="+mn-lt"/>
                <a:cs typeface="Arial"/>
              </a:rPr>
              <a:t>acoplamiento</a:t>
            </a:r>
            <a:r>
              <a:rPr lang="en-US" sz="1200" dirty="0">
                <a:latin typeface="Arial"/>
                <a:ea typeface="+mn-lt"/>
                <a:cs typeface="Arial"/>
              </a:rPr>
              <a:t> </a:t>
            </a:r>
            <a:r>
              <a:rPr lang="en-US" sz="1200" dirty="0" err="1">
                <a:latin typeface="Arial"/>
                <a:ea typeface="+mn-lt"/>
                <a:cs typeface="Arial"/>
              </a:rPr>
              <a:t>periódico</a:t>
            </a:r>
            <a:r>
              <a:rPr lang="en-US" sz="1200" dirty="0">
                <a:latin typeface="Arial"/>
                <a:ea typeface="+mn-lt"/>
                <a:cs typeface="Arial"/>
              </a:rPr>
              <a:t> de </a:t>
            </a:r>
            <a:r>
              <a:rPr lang="en-US" sz="1200" dirty="0" err="1">
                <a:latin typeface="Arial"/>
                <a:ea typeface="+mn-lt"/>
                <a:cs typeface="Arial"/>
              </a:rPr>
              <a:t>potencia</a:t>
            </a:r>
            <a:r>
              <a:rPr lang="en-US" sz="1200" dirty="0">
                <a:latin typeface="Arial"/>
                <a:ea typeface="+mn-lt"/>
                <a:cs typeface="Arial"/>
              </a:rPr>
              <a:t> entre las </a:t>
            </a:r>
            <a:r>
              <a:rPr lang="en-US" sz="1200" dirty="0" err="1">
                <a:latin typeface="Arial"/>
                <a:ea typeface="+mn-lt"/>
                <a:cs typeface="Arial"/>
              </a:rPr>
              <a:t>guías</a:t>
            </a:r>
            <a:r>
              <a:rPr lang="en-US" sz="1200" dirty="0">
                <a:latin typeface="Arial"/>
                <a:ea typeface="+mn-lt"/>
                <a:cs typeface="Arial"/>
              </a:rPr>
              <a:t> y da </a:t>
            </a:r>
            <a:r>
              <a:rPr lang="en-US" sz="1200" dirty="0" err="1">
                <a:latin typeface="Arial"/>
                <a:ea typeface="+mn-lt"/>
                <a:cs typeface="Arial"/>
              </a:rPr>
              <a:t>lugar</a:t>
            </a:r>
            <a:r>
              <a:rPr lang="en-US" sz="1200" dirty="0">
                <a:latin typeface="Arial"/>
                <a:ea typeface="+mn-lt"/>
                <a:cs typeface="Arial"/>
              </a:rPr>
              <a:t> a longitudes de </a:t>
            </a:r>
            <a:r>
              <a:rPr lang="en-US" sz="1200" dirty="0" err="1">
                <a:latin typeface="Arial"/>
                <a:ea typeface="+mn-lt"/>
                <a:cs typeface="Arial"/>
              </a:rPr>
              <a:t>acoplamiento</a:t>
            </a:r>
            <a:r>
              <a:rPr lang="en-US" sz="1200" dirty="0">
                <a:latin typeface="Arial"/>
                <a:ea typeface="+mn-lt"/>
                <a:cs typeface="Arial"/>
              </a:rPr>
              <a:t> </a:t>
            </a:r>
            <a:r>
              <a:rPr lang="en-US" sz="1200" dirty="0" err="1">
                <a:latin typeface="Arial"/>
                <a:ea typeface="+mn-lt"/>
                <a:cs typeface="Arial"/>
              </a:rPr>
              <a:t>diferentes</a:t>
            </a:r>
            <a:r>
              <a:rPr lang="en-US" sz="1200" dirty="0">
                <a:latin typeface="Arial"/>
                <a:ea typeface="+mn-lt"/>
                <a:cs typeface="Arial"/>
              </a:rPr>
              <a:t> para </a:t>
            </a:r>
            <a:r>
              <a:rPr lang="en-US" sz="1200" dirty="0" err="1">
                <a:latin typeface="Arial"/>
                <a:ea typeface="+mn-lt"/>
                <a:cs typeface="Arial"/>
              </a:rPr>
              <a:t>cada</a:t>
            </a:r>
            <a:r>
              <a:rPr lang="en-US" sz="1200" dirty="0">
                <a:latin typeface="Arial"/>
                <a:ea typeface="+mn-lt"/>
                <a:cs typeface="Arial"/>
              </a:rPr>
              <a:t> </a:t>
            </a:r>
            <a:r>
              <a:rPr lang="en-US" sz="1200" dirty="0" err="1">
                <a:latin typeface="Arial"/>
                <a:ea typeface="+mn-lt"/>
                <a:cs typeface="Arial"/>
              </a:rPr>
              <a:t>supermodo</a:t>
            </a:r>
            <a:r>
              <a:rPr lang="en-US" sz="1200" dirty="0">
                <a:latin typeface="Arial"/>
                <a:ea typeface="+mn-lt"/>
                <a:cs typeface="Arial"/>
              </a:rPr>
              <a:t>. En </a:t>
            </a:r>
            <a:r>
              <a:rPr lang="en-US" sz="1200" dirty="0" err="1">
                <a:latin typeface="Arial"/>
                <a:ea typeface="+mn-lt"/>
                <a:cs typeface="Arial"/>
              </a:rPr>
              <a:t>el</a:t>
            </a:r>
            <a:r>
              <a:rPr lang="en-US" sz="1200" dirty="0">
                <a:latin typeface="Arial"/>
                <a:ea typeface="+mn-lt"/>
                <a:cs typeface="Arial"/>
              </a:rPr>
              <a:t> modo </a:t>
            </a:r>
            <a:r>
              <a:rPr lang="en-US" sz="1200" dirty="0" err="1">
                <a:latin typeface="Arial"/>
                <a:ea typeface="+mn-lt"/>
                <a:cs typeface="Arial"/>
              </a:rPr>
              <a:t>simétrico</a:t>
            </a:r>
            <a:r>
              <a:rPr lang="en-US" sz="1200" dirty="0">
                <a:latin typeface="Arial"/>
                <a:ea typeface="+mn-lt"/>
                <a:cs typeface="Arial"/>
              </a:rPr>
              <a:t>, la </a:t>
            </a:r>
            <a:r>
              <a:rPr lang="en-US" sz="1200" dirty="0" err="1">
                <a:latin typeface="Arial"/>
                <a:ea typeface="+mn-lt"/>
                <a:cs typeface="Arial"/>
              </a:rPr>
              <a:t>constante</a:t>
            </a:r>
            <a:r>
              <a:rPr lang="en-US" sz="1200" dirty="0">
                <a:latin typeface="Arial"/>
                <a:ea typeface="+mn-lt"/>
                <a:cs typeface="Arial"/>
              </a:rPr>
              <a:t> de </a:t>
            </a:r>
            <a:r>
              <a:rPr lang="en-US" sz="1200" dirty="0" err="1">
                <a:latin typeface="Arial"/>
                <a:ea typeface="+mn-lt"/>
                <a:cs typeface="Arial"/>
              </a:rPr>
              <a:t>propagación</a:t>
            </a:r>
            <a:r>
              <a:rPr lang="en-US" sz="1200" dirty="0">
                <a:latin typeface="Arial"/>
                <a:ea typeface="+mn-lt"/>
                <a:cs typeface="Arial"/>
              </a:rPr>
              <a:t> </a:t>
            </a:r>
            <a:r>
              <a:rPr lang="en-US" sz="1200" dirty="0" err="1">
                <a:latin typeface="Arial"/>
                <a:ea typeface="+mn-lt"/>
                <a:cs typeface="Arial"/>
              </a:rPr>
              <a:t>puede</a:t>
            </a:r>
            <a:r>
              <a:rPr lang="en-US" sz="1200" dirty="0">
                <a:latin typeface="Arial"/>
                <a:ea typeface="+mn-lt"/>
                <a:cs typeface="Arial"/>
              </a:rPr>
              <a:t> </a:t>
            </a:r>
            <a:r>
              <a:rPr lang="en-US" sz="1200" dirty="0" err="1">
                <a:latin typeface="Arial"/>
                <a:ea typeface="+mn-lt"/>
                <a:cs typeface="Arial"/>
              </a:rPr>
              <a:t>escribirse</a:t>
            </a:r>
            <a:r>
              <a:rPr lang="en-US" sz="1200" dirty="0">
                <a:latin typeface="Arial"/>
                <a:ea typeface="+mn-lt"/>
                <a:cs typeface="Arial"/>
              </a:rPr>
              <a:t> </a:t>
            </a:r>
            <a:r>
              <a:rPr lang="en-US" sz="1200" dirty="0" err="1">
                <a:latin typeface="Arial"/>
                <a:ea typeface="+mn-lt"/>
                <a:cs typeface="Arial"/>
              </a:rPr>
              <a:t>como</a:t>
            </a:r>
            <a:r>
              <a:rPr lang="en-US" sz="1200" dirty="0">
                <a:latin typeface="Arial"/>
                <a:ea typeface="+mn-lt"/>
                <a:cs typeface="Arial"/>
              </a:rPr>
              <a:t> β=2π/(</a:t>
            </a:r>
            <a:r>
              <a:rPr lang="en-US" sz="1200" dirty="0" err="1">
                <a:latin typeface="Arial"/>
                <a:ea typeface="+mn-lt"/>
                <a:cs typeface="Arial"/>
              </a:rPr>
              <a:t>λcneff</a:t>
            </a:r>
            <a:r>
              <a:rPr lang="en-US" sz="1200" dirty="0">
                <a:latin typeface="Arial"/>
                <a:ea typeface="+mn-lt"/>
                <a:cs typeface="Arial"/>
              </a:rPr>
              <a:t>), lo </a:t>
            </a:r>
            <a:r>
              <a:rPr lang="en-US" sz="1200" dirty="0" err="1">
                <a:latin typeface="Arial"/>
                <a:ea typeface="+mn-lt"/>
                <a:cs typeface="Arial"/>
              </a:rPr>
              <a:t>que</a:t>
            </a:r>
            <a:r>
              <a:rPr lang="en-US" sz="1200" dirty="0">
                <a:latin typeface="Arial"/>
                <a:ea typeface="+mn-lt"/>
                <a:cs typeface="Arial"/>
              </a:rPr>
              <a:t> </a:t>
            </a:r>
            <a:r>
              <a:rPr lang="en-US" sz="1200" dirty="0" err="1">
                <a:latin typeface="Arial"/>
                <a:ea typeface="+mn-lt"/>
                <a:cs typeface="Arial"/>
              </a:rPr>
              <a:t>relaciona</a:t>
            </a:r>
            <a:r>
              <a:rPr lang="en-US" sz="1200" dirty="0">
                <a:latin typeface="Arial"/>
                <a:ea typeface="+mn-lt"/>
                <a:cs typeface="Arial"/>
              </a:rPr>
              <a:t> </a:t>
            </a:r>
            <a:r>
              <a:rPr lang="en-US" sz="1200" dirty="0" err="1">
                <a:latin typeface="Arial"/>
                <a:ea typeface="+mn-lt"/>
                <a:cs typeface="Arial"/>
              </a:rPr>
              <a:t>directamente</a:t>
            </a:r>
            <a:r>
              <a:rPr lang="en-US" sz="1200" dirty="0">
                <a:latin typeface="Arial"/>
                <a:ea typeface="+mn-lt"/>
                <a:cs typeface="Arial"/>
              </a:rPr>
              <a:t> la </a:t>
            </a:r>
            <a:r>
              <a:rPr lang="en-US" sz="1200" dirty="0" err="1">
                <a:latin typeface="Arial"/>
                <a:ea typeface="+mn-lt"/>
                <a:cs typeface="Arial"/>
              </a:rPr>
              <a:t>propagación</a:t>
            </a:r>
            <a:r>
              <a:rPr lang="en-US" sz="1200" dirty="0">
                <a:latin typeface="Arial"/>
                <a:ea typeface="+mn-lt"/>
                <a:cs typeface="Arial"/>
              </a:rPr>
              <a:t> con </a:t>
            </a:r>
            <a:r>
              <a:rPr lang="en-US" sz="1200" dirty="0" err="1">
                <a:latin typeface="Arial"/>
                <a:ea typeface="+mn-lt"/>
                <a:cs typeface="Arial"/>
              </a:rPr>
              <a:t>el</a:t>
            </a:r>
            <a:r>
              <a:rPr lang="en-US" sz="1200" dirty="0">
                <a:latin typeface="Arial"/>
                <a:ea typeface="+mn-lt"/>
                <a:cs typeface="Arial"/>
              </a:rPr>
              <a:t> </a:t>
            </a:r>
            <a:r>
              <a:rPr lang="en-US" sz="1200" dirty="0" err="1">
                <a:latin typeface="Arial"/>
                <a:ea typeface="+mn-lt"/>
                <a:cs typeface="Arial"/>
              </a:rPr>
              <a:t>índice</a:t>
            </a:r>
            <a:r>
              <a:rPr lang="en-US" sz="1200" dirty="0">
                <a:latin typeface="Arial"/>
                <a:ea typeface="+mn-lt"/>
                <a:cs typeface="Arial"/>
              </a:rPr>
              <a:t> </a:t>
            </a:r>
            <a:r>
              <a:rPr lang="en-US" sz="1200" dirty="0" err="1">
                <a:latin typeface="Arial"/>
                <a:ea typeface="+mn-lt"/>
                <a:cs typeface="Arial"/>
              </a:rPr>
              <a:t>efectivo</a:t>
            </a:r>
            <a:endParaRPr lang="es-ES" dirty="0" err="1">
              <a:latin typeface="Arial"/>
              <a:ea typeface="+mn-lt"/>
              <a:cs typeface="Arial"/>
            </a:endParaRPr>
          </a:p>
        </p:txBody>
      </p:sp>
      <p:pic>
        <p:nvPicPr>
          <p:cNvPr id="4" name="Imagen 3" descr="Gráfico&#10;&#10;El contenido generado por IA puede ser incorrecto.">
            <a:extLst>
              <a:ext uri="{FF2B5EF4-FFF2-40B4-BE49-F238E27FC236}">
                <a16:creationId xmlns:a16="http://schemas.microsoft.com/office/drawing/2014/main" id="{CFB8E44C-935E-43DE-F323-19A296834529}"/>
              </a:ext>
            </a:extLst>
          </p:cNvPr>
          <p:cNvPicPr>
            <a:picLocks noChangeAspect="1"/>
          </p:cNvPicPr>
          <p:nvPr/>
        </p:nvPicPr>
        <p:blipFill>
          <a:blip r:embed="rId4"/>
          <a:stretch>
            <a:fillRect/>
          </a:stretch>
        </p:blipFill>
        <p:spPr>
          <a:xfrm>
            <a:off x="6559438" y="1007571"/>
            <a:ext cx="4600307" cy="3136408"/>
          </a:xfrm>
          <a:prstGeom prst="rect">
            <a:avLst/>
          </a:prstGeom>
        </p:spPr>
      </p:pic>
      <p:pic>
        <p:nvPicPr>
          <p:cNvPr id="6" name="Imagen 5" descr="Gráfico&#10;&#10;El contenido generado por IA puede ser incorrecto.">
            <a:extLst>
              <a:ext uri="{FF2B5EF4-FFF2-40B4-BE49-F238E27FC236}">
                <a16:creationId xmlns:a16="http://schemas.microsoft.com/office/drawing/2014/main" id="{3CC4EFB6-DFE4-F6E4-D6D4-FA63C5A8CA4C}"/>
              </a:ext>
            </a:extLst>
          </p:cNvPr>
          <p:cNvPicPr>
            <a:picLocks noChangeAspect="1"/>
          </p:cNvPicPr>
          <p:nvPr/>
        </p:nvPicPr>
        <p:blipFill>
          <a:blip r:embed="rId5"/>
          <a:stretch>
            <a:fillRect/>
          </a:stretch>
        </p:blipFill>
        <p:spPr>
          <a:xfrm>
            <a:off x="917687" y="1007571"/>
            <a:ext cx="4689923" cy="3136409"/>
          </a:xfrm>
          <a:prstGeom prst="rect">
            <a:avLst/>
          </a:prstGeom>
        </p:spPr>
      </p:pic>
    </p:spTree>
    <p:extLst>
      <p:ext uri="{BB962C8B-B14F-4D97-AF65-F5344CB8AC3E}">
        <p14:creationId xmlns:p14="http://schemas.microsoft.com/office/powerpoint/2010/main" val="2450980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Directional coupler length and coupling coefficient</a:t>
            </a:r>
            <a:br>
              <a:rPr lang="en-US" sz="2500" spc="-5">
                <a:latin typeface="+mj-lt"/>
                <a:cs typeface="Lucida Sans"/>
              </a:rPr>
            </a:br>
            <a:r>
              <a:rPr lang="en-US" b="0"/>
              <a:t>Wavelength 1.5 µm – width 1.2 µm – gap 0.6 µm – thickness 300 nm</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3972342"/>
            <a:ext cx="11199971" cy="2123658"/>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err="1">
                <a:latin typeface="Arial"/>
                <a:cs typeface="Arial"/>
              </a:rPr>
              <a:t>Tenemos</a:t>
            </a:r>
            <a:r>
              <a:rPr lang="en-US" sz="1200">
                <a:latin typeface="Arial"/>
                <a:cs typeface="Arial"/>
              </a:rPr>
              <a:t> 3 puntos claves: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27251E"/>
                </a:solidFill>
                <a:effectLst/>
                <a:uLnTx/>
                <a:uFillTx/>
                <a:latin typeface="Arial"/>
                <a:ea typeface="Calibri"/>
                <a:cs typeface="Arial"/>
              </a:rPr>
              <a:t>- Sin </a:t>
            </a:r>
            <a:r>
              <a:rPr kumimoji="0" lang="en-US" sz="1200" i="0" u="none" strike="noStrike" kern="1200" cap="none" spc="0" normalizeH="0" baseline="0" noProof="0" err="1">
                <a:ln>
                  <a:noFill/>
                </a:ln>
                <a:solidFill>
                  <a:srgbClr val="27251E"/>
                </a:solidFill>
                <a:effectLst/>
                <a:uLnTx/>
                <a:uFillTx/>
                <a:latin typeface="Arial"/>
                <a:ea typeface="Calibri"/>
                <a:cs typeface="Arial"/>
              </a:rPr>
              <a:t>acoplamiento</a:t>
            </a:r>
            <a:r>
              <a:rPr kumimoji="0" lang="en-US" sz="1200" i="0" u="none" strike="noStrike" kern="1200" cap="none" spc="0" normalizeH="0" baseline="0" noProof="0">
                <a:ln>
                  <a:noFill/>
                </a:ln>
                <a:solidFill>
                  <a:srgbClr val="27251E"/>
                </a:solidFill>
                <a:effectLst/>
                <a:uLnTx/>
                <a:uFillTx/>
                <a:latin typeface="Arial"/>
                <a:ea typeface="Calibri"/>
                <a:cs typeface="Arial"/>
              </a:rPr>
              <a:t> (K = 0): </a:t>
            </a:r>
            <a:r>
              <a:rPr kumimoji="0" lang="en-US" sz="1200" i="0" u="none" strike="noStrike" kern="1200" cap="none" spc="0" normalizeH="0" baseline="0" noProof="0" err="1">
                <a:ln>
                  <a:noFill/>
                </a:ln>
                <a:solidFill>
                  <a:srgbClr val="27251E"/>
                </a:solidFill>
                <a:effectLst/>
                <a:uLnTx/>
                <a:uFillTx/>
                <a:latin typeface="Arial"/>
                <a:ea typeface="Calibri"/>
                <a:cs typeface="Arial"/>
              </a:rPr>
              <a:t>toda</a:t>
            </a:r>
            <a:r>
              <a:rPr kumimoji="0" lang="en-US" sz="1200" i="0" u="none" strike="noStrike" kern="1200" cap="none" spc="0" normalizeH="0" baseline="0" noProof="0">
                <a:ln>
                  <a:noFill/>
                </a:ln>
                <a:solidFill>
                  <a:srgbClr val="27251E"/>
                </a:solidFill>
                <a:effectLst/>
                <a:uLnTx/>
                <a:uFillTx/>
                <a:latin typeface="Arial"/>
                <a:ea typeface="Calibri"/>
                <a:cs typeface="Arial"/>
              </a:rPr>
              <a:t> la </a:t>
            </a:r>
            <a:r>
              <a:rPr kumimoji="0" lang="en-US" sz="1200" i="0" u="none" strike="noStrike" kern="1200" cap="none" spc="0" normalizeH="0" baseline="0" noProof="0" err="1">
                <a:ln>
                  <a:noFill/>
                </a:ln>
                <a:solidFill>
                  <a:srgbClr val="27251E"/>
                </a:solidFill>
                <a:effectLst/>
                <a:uLnTx/>
                <a:uFillTx/>
                <a:latin typeface="Arial"/>
                <a:ea typeface="Calibri"/>
                <a:cs typeface="Arial"/>
              </a:rPr>
              <a:t>potencia</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permanece</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en</a:t>
            </a:r>
            <a:r>
              <a:rPr kumimoji="0" lang="en-US" sz="1200" i="0" u="none" strike="noStrike" kern="1200" cap="none" spc="0" normalizeH="0" baseline="0" noProof="0">
                <a:ln>
                  <a:noFill/>
                </a:ln>
                <a:solidFill>
                  <a:srgbClr val="27251E"/>
                </a:solidFill>
                <a:effectLst/>
                <a:uLnTx/>
                <a:uFillTx/>
                <a:latin typeface="Arial"/>
                <a:ea typeface="Calibri"/>
                <a:cs typeface="Arial"/>
              </a:rPr>
              <a:t> la </a:t>
            </a:r>
            <a:r>
              <a:rPr kumimoji="0" lang="en-US" sz="1200" i="0" u="none" strike="noStrike" kern="1200" cap="none" spc="0" normalizeH="0" baseline="0" noProof="0" err="1">
                <a:ln>
                  <a:noFill/>
                </a:ln>
                <a:solidFill>
                  <a:srgbClr val="27251E"/>
                </a:solidFill>
                <a:effectLst/>
                <a:uLnTx/>
                <a:uFillTx/>
                <a:latin typeface="Arial"/>
                <a:ea typeface="Calibri"/>
                <a:cs typeface="Arial"/>
              </a:rPr>
              <a:t>guía</a:t>
            </a:r>
            <a:r>
              <a:rPr kumimoji="0" lang="en-US" sz="1200" i="0" u="none" strike="noStrike" kern="1200" cap="none" spc="0" normalizeH="0" baseline="0" noProof="0">
                <a:ln>
                  <a:noFill/>
                </a:ln>
                <a:solidFill>
                  <a:srgbClr val="27251E"/>
                </a:solidFill>
                <a:effectLst/>
                <a:uLnTx/>
                <a:uFillTx/>
                <a:latin typeface="Arial"/>
                <a:ea typeface="Calibri"/>
                <a:cs typeface="Arial"/>
              </a:rPr>
              <a:t> de entrada.</a:t>
            </a:r>
            <a:endParaRPr lang="en-US" sz="1200" i="0" u="none" strike="noStrike" kern="1200" cap="none" spc="0" normalizeH="0" baseline="0" noProof="0">
              <a:ln>
                <a:noFill/>
              </a:ln>
              <a:solidFill>
                <a:srgbClr val="27251E"/>
              </a:solidFill>
              <a:effectLst/>
              <a:uLnTx/>
              <a:uFillTx/>
              <a:latin typeface="Arial"/>
              <a:ea typeface="Calibri"/>
              <a:cs typeface="Aria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27251E"/>
                </a:solidFill>
                <a:effectLst/>
                <a:uLnTx/>
                <a:uFillTx/>
                <a:latin typeface="Arial"/>
                <a:ea typeface="Calibri"/>
                <a:cs typeface="Arial"/>
              </a:rPr>
              <a:t>- División 50/50 (K = 0.5): </a:t>
            </a:r>
            <a:r>
              <a:rPr lang="en-US" sz="1200" err="1">
                <a:solidFill>
                  <a:srgbClr val="27251E"/>
                </a:solidFill>
                <a:latin typeface="Arial"/>
                <a:ea typeface="Calibri"/>
                <a:cs typeface="Arial"/>
              </a:rPr>
              <a:t>o</a:t>
            </a:r>
            <a:r>
              <a:rPr kumimoji="0" lang="en-US" sz="1200" i="0" u="none" strike="noStrike" kern="1200" cap="none" spc="0" normalizeH="0" baseline="0" noProof="0" err="1">
                <a:ln>
                  <a:noFill/>
                </a:ln>
                <a:solidFill>
                  <a:srgbClr val="27251E"/>
                </a:solidFill>
                <a:effectLst/>
                <a:uLnTx/>
                <a:uFillTx/>
                <a:latin typeface="Arial"/>
                <a:ea typeface="Calibri"/>
                <a:cs typeface="Arial"/>
              </a:rPr>
              <a:t>curre</a:t>
            </a:r>
            <a:r>
              <a:rPr kumimoji="0" lang="en-US" sz="1200" i="0" u="none" strike="noStrike" kern="1200" cap="none" spc="0" normalizeH="0" baseline="0" noProof="0">
                <a:ln>
                  <a:noFill/>
                </a:ln>
                <a:solidFill>
                  <a:srgbClr val="27251E"/>
                </a:solidFill>
                <a:effectLst/>
                <a:uLnTx/>
                <a:uFillTx/>
                <a:latin typeface="Arial"/>
                <a:ea typeface="Calibri"/>
                <a:cs typeface="Arial"/>
              </a:rPr>
              <a:t> a L50/50=Lπ/2≈0.5 µm, </a:t>
            </a:r>
            <a:r>
              <a:rPr kumimoji="0" lang="en-US" sz="1200" i="0" u="none" strike="noStrike" kern="1200" cap="none" spc="0" normalizeH="0" baseline="0" noProof="0" err="1">
                <a:ln>
                  <a:noFill/>
                </a:ln>
                <a:solidFill>
                  <a:srgbClr val="27251E"/>
                </a:solidFill>
                <a:effectLst/>
                <a:uLnTx/>
                <a:uFillTx/>
                <a:latin typeface="Arial"/>
                <a:ea typeface="Calibri"/>
                <a:cs typeface="Arial"/>
              </a:rPr>
              <a:t>marcado</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en</a:t>
            </a:r>
            <a:r>
              <a:rPr kumimoji="0" lang="en-US" sz="1200" i="0" u="none" strike="noStrike" kern="1200" cap="none" spc="0" normalizeH="0" baseline="0" noProof="0">
                <a:ln>
                  <a:noFill/>
                </a:ln>
                <a:solidFill>
                  <a:srgbClr val="27251E"/>
                </a:solidFill>
                <a:effectLst/>
                <a:uLnTx/>
                <a:uFillTx/>
                <a:latin typeface="Arial"/>
                <a:ea typeface="Calibri"/>
                <a:cs typeface="Arial"/>
              </a:rPr>
              <a:t> la </a:t>
            </a:r>
            <a:r>
              <a:rPr kumimoji="0" lang="en-US" sz="1200" i="0" u="none" strike="noStrike" kern="1200" cap="none" spc="0" normalizeH="0" baseline="0" noProof="0" err="1">
                <a:ln>
                  <a:noFill/>
                </a:ln>
                <a:solidFill>
                  <a:srgbClr val="27251E"/>
                </a:solidFill>
                <a:effectLst/>
                <a:uLnTx/>
                <a:uFillTx/>
                <a:latin typeface="Arial"/>
                <a:ea typeface="Calibri"/>
                <a:cs typeface="Arial"/>
              </a:rPr>
              <a:t>gráfica</a:t>
            </a:r>
            <a:r>
              <a:rPr kumimoji="0" lang="en-US" sz="1200" i="0" u="none" strike="noStrike" kern="1200" cap="none" spc="0" normalizeH="0" baseline="0" noProof="0">
                <a:ln>
                  <a:noFill/>
                </a:ln>
                <a:solidFill>
                  <a:srgbClr val="27251E"/>
                </a:solidFill>
                <a:effectLst/>
                <a:uLnTx/>
                <a:uFillTx/>
                <a:latin typeface="Arial"/>
                <a:ea typeface="Calibri"/>
                <a:cs typeface="Arial"/>
              </a:rPr>
              <a:t> con la </a:t>
            </a:r>
            <a:r>
              <a:rPr kumimoji="0" lang="en-US" sz="1200" i="0" u="none" strike="noStrike" kern="1200" cap="none" spc="0" normalizeH="0" baseline="0" noProof="0" err="1">
                <a:ln>
                  <a:noFill/>
                </a:ln>
                <a:solidFill>
                  <a:srgbClr val="27251E"/>
                </a:solidFill>
                <a:effectLst/>
                <a:uLnTx/>
                <a:uFillTx/>
                <a:latin typeface="Arial"/>
                <a:ea typeface="Calibri"/>
                <a:cs typeface="Arial"/>
              </a:rPr>
              <a:t>etiqueta</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1" u="none" strike="noStrike" kern="1200" cap="none" spc="0" normalizeH="0" baseline="0" noProof="0">
                <a:ln>
                  <a:noFill/>
                </a:ln>
                <a:solidFill>
                  <a:srgbClr val="27251E"/>
                </a:solidFill>
                <a:effectLst/>
                <a:uLnTx/>
                <a:uFillTx/>
                <a:latin typeface="Arial"/>
                <a:ea typeface="Calibri"/>
                <a:cs typeface="Arial"/>
              </a:rPr>
              <a:t>50/50 (K=0.5)</a:t>
            </a:r>
            <a:r>
              <a:rPr kumimoji="0" lang="en-US" sz="1200" i="0" u="none" strike="noStrike" kern="1200" cap="none" spc="0" normalizeH="0" baseline="0" noProof="0">
                <a:ln>
                  <a:noFill/>
                </a:ln>
                <a:solidFill>
                  <a:srgbClr val="27251E"/>
                </a:solidFill>
                <a:effectLst/>
                <a:uLnTx/>
                <a:uFillTx/>
                <a:latin typeface="Arial"/>
                <a:ea typeface="Calibri"/>
                <a:cs typeface="Arial"/>
              </a:rPr>
              <a:t>. Este es </a:t>
            </a:r>
            <a:r>
              <a:rPr kumimoji="0" lang="en-US" sz="1200" i="0" u="none" strike="noStrike" kern="1200" cap="none" spc="0" normalizeH="0" baseline="0" noProof="0" err="1">
                <a:ln>
                  <a:noFill/>
                </a:ln>
                <a:solidFill>
                  <a:srgbClr val="27251E"/>
                </a:solidFill>
                <a:effectLst/>
                <a:uLnTx/>
                <a:uFillTx/>
                <a:latin typeface="Arial"/>
                <a:ea typeface="Calibri"/>
                <a:cs typeface="Arial"/>
              </a:rPr>
              <a:t>el</a:t>
            </a:r>
            <a:r>
              <a:rPr kumimoji="0" lang="en-US" sz="1200" i="0" u="none" strike="noStrike" kern="1200" cap="none" spc="0" normalizeH="0" baseline="0" noProof="0">
                <a:ln>
                  <a:noFill/>
                </a:ln>
                <a:solidFill>
                  <a:srgbClr val="27251E"/>
                </a:solidFill>
                <a:effectLst/>
                <a:uLnTx/>
                <a:uFillTx/>
                <a:latin typeface="Arial"/>
                <a:ea typeface="Calibri"/>
                <a:cs typeface="Arial"/>
              </a:rPr>
              <a:t> punto de </a:t>
            </a:r>
            <a:r>
              <a:rPr kumimoji="0" lang="en-US" sz="1200" i="0" u="none" strike="noStrike" kern="1200" cap="none" spc="0" normalizeH="0" baseline="0" noProof="0" err="1">
                <a:ln>
                  <a:noFill/>
                </a:ln>
                <a:solidFill>
                  <a:srgbClr val="27251E"/>
                </a:solidFill>
                <a:effectLst/>
                <a:uLnTx/>
                <a:uFillTx/>
                <a:latin typeface="Arial"/>
                <a:ea typeface="Calibri"/>
                <a:cs typeface="Arial"/>
              </a:rPr>
              <a:t>diseño</a:t>
            </a:r>
            <a:r>
              <a:rPr kumimoji="0" lang="en-US" sz="1200" i="0" u="none" strike="noStrike" kern="1200" cap="none" spc="0" normalizeH="0" baseline="0" noProof="0">
                <a:ln>
                  <a:noFill/>
                </a:ln>
                <a:solidFill>
                  <a:srgbClr val="27251E"/>
                </a:solidFill>
                <a:effectLst/>
                <a:uLnTx/>
                <a:uFillTx/>
                <a:latin typeface="Arial"/>
                <a:ea typeface="Calibri"/>
                <a:cs typeface="Arial"/>
              </a:rPr>
              <a:t> para un divisor de </a:t>
            </a:r>
            <a:r>
              <a:rPr kumimoji="0" lang="en-US" sz="1200" i="0" u="none" strike="noStrike" kern="1200" cap="none" spc="0" normalizeH="0" baseline="0" noProof="0" err="1">
                <a:ln>
                  <a:noFill/>
                </a:ln>
                <a:solidFill>
                  <a:srgbClr val="27251E"/>
                </a:solidFill>
                <a:effectLst/>
                <a:uLnTx/>
                <a:uFillTx/>
                <a:latin typeface="Arial"/>
                <a:ea typeface="Calibri"/>
                <a:cs typeface="Arial"/>
              </a:rPr>
              <a:t>potencia</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balanceado</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equivalente</a:t>
            </a:r>
            <a:r>
              <a:rPr kumimoji="0" lang="en-US" sz="1200" i="0" u="none" strike="noStrike" kern="1200" cap="none" spc="0" normalizeH="0" baseline="0" noProof="0">
                <a:ln>
                  <a:noFill/>
                </a:ln>
                <a:solidFill>
                  <a:srgbClr val="27251E"/>
                </a:solidFill>
                <a:effectLst/>
                <a:uLnTx/>
                <a:uFillTx/>
                <a:latin typeface="Arial"/>
                <a:ea typeface="Calibri"/>
                <a:cs typeface="Arial"/>
              </a:rPr>
              <a:t> a un </a:t>
            </a:r>
            <a:r>
              <a:rPr kumimoji="0" lang="en-US" sz="1200" i="1" u="none" strike="noStrike" kern="1200" cap="none" spc="0" normalizeH="0" baseline="0" noProof="0">
                <a:ln>
                  <a:noFill/>
                </a:ln>
                <a:solidFill>
                  <a:srgbClr val="27251E"/>
                </a:solidFill>
                <a:effectLst/>
                <a:uLnTx/>
                <a:uFillTx/>
                <a:latin typeface="Arial"/>
                <a:ea typeface="Calibri"/>
                <a:cs typeface="Arial"/>
              </a:rPr>
              <a:t>beam splitter</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integrado</a:t>
            </a:r>
            <a:r>
              <a:rPr kumimoji="0" lang="en-US" sz="1200" i="0" u="none" strike="noStrike" kern="1200" cap="none" spc="0" normalizeH="0" baseline="0" noProof="0">
                <a:ln>
                  <a:noFill/>
                </a:ln>
                <a:solidFill>
                  <a:srgbClr val="27251E"/>
                </a:solidFill>
                <a:effectLst/>
                <a:uLnTx/>
                <a:uFillTx/>
                <a:latin typeface="Arial"/>
                <a:ea typeface="Calibri"/>
                <a:cs typeface="Arial"/>
              </a:rPr>
              <a:t>. En la </a:t>
            </a:r>
            <a:r>
              <a:rPr kumimoji="0" lang="en-US" sz="1200" i="0" u="none" strike="noStrike" kern="1200" cap="none" spc="0" normalizeH="0" baseline="0" noProof="0" err="1">
                <a:ln>
                  <a:noFill/>
                </a:ln>
                <a:solidFill>
                  <a:srgbClr val="27251E"/>
                </a:solidFill>
                <a:effectLst/>
                <a:uLnTx/>
                <a:uFillTx/>
                <a:latin typeface="Arial"/>
                <a:ea typeface="Calibri"/>
                <a:cs typeface="Arial"/>
              </a:rPr>
              <a:t>práctica</a:t>
            </a:r>
            <a:r>
              <a:rPr kumimoji="0" lang="en-US" sz="1200" i="0" u="none" strike="noStrike" kern="1200" cap="none" spc="0" normalizeH="0" baseline="0" noProof="0">
                <a:ln>
                  <a:noFill/>
                </a:ln>
                <a:solidFill>
                  <a:srgbClr val="27251E"/>
                </a:solidFill>
                <a:effectLst/>
                <a:uLnTx/>
                <a:uFillTx/>
                <a:latin typeface="Arial"/>
                <a:ea typeface="Calibri"/>
                <a:cs typeface="Arial"/>
              </a:rPr>
              <a:t>, es </a:t>
            </a:r>
            <a:r>
              <a:rPr kumimoji="0" lang="en-US" sz="1200" i="0" u="none" strike="noStrike" kern="1200" cap="none" spc="0" normalizeH="0" baseline="0" noProof="0" err="1">
                <a:ln>
                  <a:noFill/>
                </a:ln>
                <a:solidFill>
                  <a:srgbClr val="27251E"/>
                </a:solidFill>
                <a:effectLst/>
                <a:uLnTx/>
                <a:uFillTx/>
                <a:latin typeface="Arial"/>
                <a:ea typeface="Calibri"/>
                <a:cs typeface="Arial"/>
              </a:rPr>
              <a:t>el</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objetivo</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más</a:t>
            </a:r>
            <a:r>
              <a:rPr kumimoji="0" lang="en-US" sz="1200" i="0" u="none" strike="noStrike" kern="1200" cap="none" spc="0" normalizeH="0" baseline="0" noProof="0">
                <a:ln>
                  <a:noFill/>
                </a:ln>
                <a:solidFill>
                  <a:srgbClr val="27251E"/>
                </a:solidFill>
                <a:effectLst/>
                <a:uLnTx/>
                <a:uFillTx/>
                <a:latin typeface="Arial"/>
                <a:ea typeface="Calibri"/>
                <a:cs typeface="Arial"/>
              </a:rPr>
              <a:t> habitual </a:t>
            </a:r>
            <a:r>
              <a:rPr kumimoji="0" lang="en-US" sz="1200" i="0" u="none" strike="noStrike" kern="1200" cap="none" spc="0" normalizeH="0" baseline="0" noProof="0" err="1">
                <a:ln>
                  <a:noFill/>
                </a:ln>
                <a:solidFill>
                  <a:srgbClr val="27251E"/>
                </a:solidFill>
                <a:effectLst/>
                <a:uLnTx/>
                <a:uFillTx/>
                <a:latin typeface="Arial"/>
                <a:ea typeface="Calibri"/>
                <a:cs typeface="Arial"/>
              </a:rPr>
              <a:t>en</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diseños</a:t>
            </a:r>
            <a:r>
              <a:rPr kumimoji="0" lang="en-US" sz="1200" i="0" u="none" strike="noStrike" kern="1200" cap="none" spc="0" normalizeH="0" baseline="0" noProof="0">
                <a:ln>
                  <a:noFill/>
                </a:ln>
                <a:solidFill>
                  <a:srgbClr val="27251E"/>
                </a:solidFill>
                <a:effectLst/>
                <a:uLnTx/>
                <a:uFillTx/>
                <a:latin typeface="Arial"/>
                <a:ea typeface="Calibri"/>
                <a:cs typeface="Arial"/>
              </a:rPr>
              <a:t> de </a:t>
            </a:r>
            <a:r>
              <a:rPr kumimoji="0" lang="en-US" sz="1200" i="0" u="none" strike="noStrike" kern="1200" cap="none" spc="0" normalizeH="0" baseline="0" noProof="0" err="1">
                <a:ln>
                  <a:noFill/>
                </a:ln>
                <a:solidFill>
                  <a:srgbClr val="27251E"/>
                </a:solidFill>
                <a:effectLst/>
                <a:uLnTx/>
                <a:uFillTx/>
                <a:latin typeface="Arial"/>
                <a:ea typeface="Calibri"/>
                <a:cs typeface="Arial"/>
              </a:rPr>
              <a:t>circuitos</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fotónicos</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como</a:t>
            </a:r>
            <a:r>
              <a:rPr kumimoji="0" lang="en-US" sz="1200" i="0" u="none" strike="noStrike" kern="1200" cap="none" spc="0" normalizeH="0" baseline="0" noProof="0">
                <a:ln>
                  <a:noFill/>
                </a:ln>
                <a:solidFill>
                  <a:srgbClr val="27251E"/>
                </a:solidFill>
                <a:effectLst/>
                <a:uLnTx/>
                <a:uFillTx/>
                <a:latin typeface="Arial"/>
                <a:ea typeface="Calibri"/>
                <a:cs typeface="Arial"/>
              </a:rPr>
              <a:t> </a:t>
            </a:r>
            <a:r>
              <a:rPr kumimoji="0" lang="en-US" sz="1200" i="0" u="none" strike="noStrike" kern="1200" cap="none" spc="0" normalizeH="0" baseline="0" noProof="0" err="1">
                <a:ln>
                  <a:noFill/>
                </a:ln>
                <a:solidFill>
                  <a:srgbClr val="27251E"/>
                </a:solidFill>
                <a:effectLst/>
                <a:uLnTx/>
                <a:uFillTx/>
                <a:latin typeface="Arial"/>
                <a:ea typeface="Calibri"/>
                <a:cs typeface="Arial"/>
              </a:rPr>
              <a:t>interferómetros</a:t>
            </a:r>
            <a:r>
              <a:rPr kumimoji="0" lang="en-US" sz="1200" i="0" u="none" strike="noStrike" kern="1200" cap="none" spc="0" normalizeH="0" baseline="0" noProof="0">
                <a:ln>
                  <a:noFill/>
                </a:ln>
                <a:solidFill>
                  <a:srgbClr val="27251E"/>
                </a:solidFill>
                <a:effectLst/>
                <a:uLnTx/>
                <a:uFillTx/>
                <a:latin typeface="Arial"/>
                <a:ea typeface="Calibri"/>
                <a:cs typeface="Arial"/>
              </a:rPr>
              <a:t> Mach-Zehnder o redes de </a:t>
            </a:r>
            <a:r>
              <a:rPr kumimoji="0" lang="en-US" sz="1200" i="0" u="none" strike="noStrike" kern="1200" cap="none" spc="0" normalizeH="0" baseline="0" noProof="0" err="1">
                <a:ln>
                  <a:noFill/>
                </a:ln>
                <a:solidFill>
                  <a:srgbClr val="27251E"/>
                </a:solidFill>
                <a:effectLst/>
                <a:uLnTx/>
                <a:uFillTx/>
                <a:latin typeface="Arial"/>
                <a:ea typeface="Calibri"/>
                <a:cs typeface="Arial"/>
              </a:rPr>
              <a:t>distribución</a:t>
            </a:r>
            <a:r>
              <a:rPr kumimoji="0" lang="en-US" sz="1200" i="0" u="none" strike="noStrike" kern="1200" cap="none" spc="0" normalizeH="0" baseline="0" noProof="0">
                <a:ln>
                  <a:noFill/>
                </a:ln>
                <a:solidFill>
                  <a:srgbClr val="27251E"/>
                </a:solidFill>
                <a:effectLst/>
                <a:uLnTx/>
                <a:uFillTx/>
                <a:latin typeface="Arial"/>
                <a:ea typeface="Calibri"/>
                <a:cs typeface="Arial"/>
              </a:rPr>
              <a:t> de </a:t>
            </a:r>
            <a:r>
              <a:rPr kumimoji="0" lang="en-US" sz="1200" i="0" u="none" strike="noStrike" kern="1200" cap="none" spc="0" normalizeH="0" baseline="0" noProof="0" err="1">
                <a:ln>
                  <a:noFill/>
                </a:ln>
                <a:solidFill>
                  <a:srgbClr val="27251E"/>
                </a:solidFill>
                <a:effectLst/>
                <a:uLnTx/>
                <a:uFillTx/>
                <a:latin typeface="Arial"/>
                <a:ea typeface="Calibri"/>
                <a:cs typeface="Arial"/>
              </a:rPr>
              <a:t>señal</a:t>
            </a:r>
            <a:r>
              <a:rPr kumimoji="0" lang="en-US" sz="1200" i="0" u="none" strike="noStrike" kern="1200" cap="none" spc="0" normalizeH="0" baseline="0" noProof="0">
                <a:ln>
                  <a:noFill/>
                </a:ln>
                <a:solidFill>
                  <a:srgbClr val="27251E"/>
                </a:solidFill>
                <a:effectLst/>
                <a:uLnTx/>
                <a:uFillTx/>
                <a:latin typeface="Arial"/>
                <a:ea typeface="Calibri"/>
                <a:cs typeface="Arial"/>
              </a:rPr>
              <a:t>.</a:t>
            </a:r>
            <a:endParaRPr lang="es-ES">
              <a:latin typeface="Arial"/>
              <a:cs typeface="Arial"/>
            </a:endParaRPr>
          </a:p>
          <a:p>
            <a:pPr algn="just"/>
            <a:r>
              <a:rPr lang="en-US" sz="1200">
                <a:solidFill>
                  <a:srgbClr val="27251E"/>
                </a:solidFill>
                <a:latin typeface="Arial"/>
                <a:ea typeface="+mn-lt"/>
                <a:cs typeface="Arial"/>
              </a:rPr>
              <a:t>- </a:t>
            </a:r>
            <a:r>
              <a:rPr lang="en-US" sz="1200" err="1">
                <a:solidFill>
                  <a:srgbClr val="27251E"/>
                </a:solidFill>
                <a:latin typeface="Arial"/>
                <a:ea typeface="+mn-lt"/>
                <a:cs typeface="Arial"/>
              </a:rPr>
              <a:t>Transferencia</a:t>
            </a:r>
            <a:r>
              <a:rPr lang="en-US" sz="1200">
                <a:solidFill>
                  <a:srgbClr val="27251E"/>
                </a:solidFill>
                <a:latin typeface="Arial"/>
                <a:ea typeface="+mn-lt"/>
                <a:cs typeface="Arial"/>
              </a:rPr>
              <a:t> completa (K = 1, </a:t>
            </a:r>
            <a:r>
              <a:rPr lang="en-US" sz="1200" err="1">
                <a:solidFill>
                  <a:srgbClr val="27251E"/>
                </a:solidFill>
                <a:latin typeface="Arial"/>
                <a:ea typeface="+mn-lt"/>
                <a:cs typeface="Arial"/>
              </a:rPr>
              <a:t>pico</a:t>
            </a:r>
            <a:r>
              <a:rPr lang="en-US" sz="1200">
                <a:solidFill>
                  <a:srgbClr val="27251E"/>
                </a:solidFill>
                <a:latin typeface="Arial"/>
                <a:ea typeface="+mn-lt"/>
                <a:cs typeface="Arial"/>
              </a:rPr>
              <a:t> de la curva): se </a:t>
            </a:r>
            <a:r>
              <a:rPr lang="en-US" sz="1200" err="1">
                <a:solidFill>
                  <a:srgbClr val="27251E"/>
                </a:solidFill>
                <a:latin typeface="Arial"/>
                <a:ea typeface="+mn-lt"/>
                <a:cs typeface="Arial"/>
              </a:rPr>
              <a:t>alcanza</a:t>
            </a:r>
            <a:r>
              <a:rPr lang="en-US" sz="1200">
                <a:solidFill>
                  <a:srgbClr val="27251E"/>
                </a:solidFill>
                <a:latin typeface="Arial"/>
                <a:ea typeface="+mn-lt"/>
                <a:cs typeface="Arial"/>
              </a:rPr>
              <a:t> </a:t>
            </a:r>
            <a:r>
              <a:rPr lang="en-US" sz="1200" err="1">
                <a:solidFill>
                  <a:srgbClr val="27251E"/>
                </a:solidFill>
                <a:latin typeface="Arial"/>
                <a:ea typeface="+mn-lt"/>
                <a:cs typeface="Arial"/>
              </a:rPr>
              <a:t>en</a:t>
            </a:r>
            <a:r>
              <a:rPr lang="en-US" sz="1200">
                <a:solidFill>
                  <a:srgbClr val="27251E"/>
                </a:solidFill>
                <a:latin typeface="Arial"/>
                <a:ea typeface="+mn-lt"/>
                <a:cs typeface="Arial"/>
              </a:rPr>
              <a:t> L=Lπ≈1.0 µm </a:t>
            </a:r>
            <a:r>
              <a:rPr lang="en-US" sz="1200" err="1">
                <a:solidFill>
                  <a:srgbClr val="27251E"/>
                </a:solidFill>
                <a:latin typeface="Arial"/>
                <a:ea typeface="+mn-lt"/>
                <a:cs typeface="Arial"/>
              </a:rPr>
              <a:t>efectivo</a:t>
            </a:r>
            <a:r>
              <a:rPr lang="en-US" sz="1200">
                <a:solidFill>
                  <a:srgbClr val="27251E"/>
                </a:solidFill>
                <a:latin typeface="Arial"/>
                <a:ea typeface="+mn-lt"/>
                <a:cs typeface="Arial"/>
              </a:rPr>
              <a:t>. En ese punto, </a:t>
            </a:r>
            <a:r>
              <a:rPr lang="en-US" sz="1200" err="1">
                <a:solidFill>
                  <a:srgbClr val="27251E"/>
                </a:solidFill>
                <a:latin typeface="Arial"/>
                <a:ea typeface="+mn-lt"/>
                <a:cs typeface="Arial"/>
              </a:rPr>
              <a:t>los</a:t>
            </a:r>
            <a:r>
              <a:rPr lang="en-US" sz="1200">
                <a:solidFill>
                  <a:srgbClr val="27251E"/>
                </a:solidFill>
                <a:latin typeface="Arial"/>
                <a:ea typeface="+mn-lt"/>
                <a:cs typeface="Arial"/>
              </a:rPr>
              <a:t> campos </a:t>
            </a:r>
            <a:r>
              <a:rPr lang="en-US" sz="1200" err="1">
                <a:solidFill>
                  <a:srgbClr val="27251E"/>
                </a:solidFill>
                <a:latin typeface="Arial"/>
                <a:ea typeface="+mn-lt"/>
                <a:cs typeface="Arial"/>
              </a:rPr>
              <a:t>evanescentes</a:t>
            </a:r>
            <a:r>
              <a:rPr lang="en-US" sz="1200">
                <a:solidFill>
                  <a:srgbClr val="27251E"/>
                </a:solidFill>
                <a:latin typeface="Arial"/>
                <a:ea typeface="+mn-lt"/>
                <a:cs typeface="Arial"/>
              </a:rPr>
              <a:t> de ambas </a:t>
            </a:r>
            <a:r>
              <a:rPr lang="en-US" sz="1200" err="1">
                <a:solidFill>
                  <a:srgbClr val="27251E"/>
                </a:solidFill>
                <a:latin typeface="Arial"/>
                <a:ea typeface="+mn-lt"/>
                <a:cs typeface="Arial"/>
              </a:rPr>
              <a:t>guías</a:t>
            </a:r>
            <a:r>
              <a:rPr lang="en-US" sz="1200">
                <a:solidFill>
                  <a:srgbClr val="27251E"/>
                </a:solidFill>
                <a:latin typeface="Arial"/>
                <a:ea typeface="+mn-lt"/>
                <a:cs typeface="Arial"/>
              </a:rPr>
              <a:t> </a:t>
            </a:r>
            <a:r>
              <a:rPr lang="en-US" sz="1200" err="1">
                <a:solidFill>
                  <a:srgbClr val="27251E"/>
                </a:solidFill>
                <a:latin typeface="Arial"/>
                <a:ea typeface="+mn-lt"/>
                <a:cs typeface="Arial"/>
              </a:rPr>
              <a:t>han</a:t>
            </a:r>
            <a:r>
              <a:rPr lang="en-US" sz="1200">
                <a:solidFill>
                  <a:srgbClr val="27251E"/>
                </a:solidFill>
                <a:latin typeface="Arial"/>
                <a:ea typeface="+mn-lt"/>
                <a:cs typeface="Arial"/>
              </a:rPr>
              <a:t> </a:t>
            </a:r>
            <a:r>
              <a:rPr lang="en-US" sz="1200" err="1">
                <a:solidFill>
                  <a:srgbClr val="27251E"/>
                </a:solidFill>
                <a:latin typeface="Arial"/>
                <a:ea typeface="+mn-lt"/>
                <a:cs typeface="Arial"/>
              </a:rPr>
              <a:t>interaccionado</a:t>
            </a:r>
            <a:r>
              <a:rPr lang="en-US" sz="1200">
                <a:solidFill>
                  <a:srgbClr val="27251E"/>
                </a:solidFill>
                <a:latin typeface="Arial"/>
                <a:ea typeface="+mn-lt"/>
                <a:cs typeface="Arial"/>
              </a:rPr>
              <a:t> </a:t>
            </a:r>
            <a:r>
              <a:rPr lang="en-US" sz="1200" err="1">
                <a:solidFill>
                  <a:srgbClr val="27251E"/>
                </a:solidFill>
                <a:latin typeface="Arial"/>
                <a:ea typeface="+mn-lt"/>
                <a:cs typeface="Arial"/>
              </a:rPr>
              <a:t>durante</a:t>
            </a:r>
            <a:r>
              <a:rPr lang="en-US" sz="1200">
                <a:solidFill>
                  <a:srgbClr val="27251E"/>
                </a:solidFill>
                <a:latin typeface="Arial"/>
                <a:ea typeface="+mn-lt"/>
                <a:cs typeface="Arial"/>
              </a:rPr>
              <a:t> </a:t>
            </a:r>
            <a:r>
              <a:rPr lang="en-US" sz="1200" err="1">
                <a:solidFill>
                  <a:srgbClr val="27251E"/>
                </a:solidFill>
                <a:latin typeface="Arial"/>
                <a:ea typeface="+mn-lt"/>
                <a:cs typeface="Arial"/>
              </a:rPr>
              <a:t>el</a:t>
            </a:r>
            <a:r>
              <a:rPr lang="en-US" sz="1200">
                <a:solidFill>
                  <a:srgbClr val="27251E"/>
                </a:solidFill>
                <a:latin typeface="Arial"/>
                <a:ea typeface="+mn-lt"/>
                <a:cs typeface="Arial"/>
              </a:rPr>
              <a:t> </a:t>
            </a:r>
            <a:r>
              <a:rPr lang="en-US" sz="1200" err="1">
                <a:solidFill>
                  <a:srgbClr val="27251E"/>
                </a:solidFill>
                <a:latin typeface="Arial"/>
                <a:ea typeface="+mn-lt"/>
                <a:cs typeface="Arial"/>
              </a:rPr>
              <a:t>tiempo</a:t>
            </a:r>
            <a:r>
              <a:rPr lang="en-US" sz="1200">
                <a:solidFill>
                  <a:srgbClr val="27251E"/>
                </a:solidFill>
                <a:latin typeface="Arial"/>
                <a:ea typeface="+mn-lt"/>
                <a:cs typeface="Arial"/>
              </a:rPr>
              <a:t> </a:t>
            </a:r>
            <a:r>
              <a:rPr lang="en-US" sz="1200" err="1">
                <a:solidFill>
                  <a:srgbClr val="27251E"/>
                </a:solidFill>
                <a:latin typeface="Arial"/>
                <a:ea typeface="+mn-lt"/>
                <a:cs typeface="Arial"/>
              </a:rPr>
              <a:t>suficiente</a:t>
            </a:r>
            <a:r>
              <a:rPr lang="en-US" sz="1200">
                <a:solidFill>
                  <a:srgbClr val="27251E"/>
                </a:solidFill>
                <a:latin typeface="Arial"/>
                <a:ea typeface="+mn-lt"/>
                <a:cs typeface="Arial"/>
              </a:rPr>
              <a:t> para </a:t>
            </a:r>
            <a:r>
              <a:rPr lang="en-US" sz="1200" err="1">
                <a:solidFill>
                  <a:srgbClr val="27251E"/>
                </a:solidFill>
                <a:latin typeface="Arial"/>
                <a:ea typeface="+mn-lt"/>
                <a:cs typeface="Arial"/>
              </a:rPr>
              <a:t>que</a:t>
            </a:r>
            <a:r>
              <a:rPr lang="en-US" sz="1200">
                <a:solidFill>
                  <a:srgbClr val="27251E"/>
                </a:solidFill>
                <a:latin typeface="Arial"/>
                <a:ea typeface="+mn-lt"/>
                <a:cs typeface="Arial"/>
              </a:rPr>
              <a:t> </a:t>
            </a:r>
            <a:r>
              <a:rPr lang="en-US" sz="1200" err="1">
                <a:solidFill>
                  <a:srgbClr val="27251E"/>
                </a:solidFill>
                <a:latin typeface="Arial"/>
                <a:ea typeface="+mn-lt"/>
                <a:cs typeface="Arial"/>
              </a:rPr>
              <a:t>toda</a:t>
            </a:r>
            <a:r>
              <a:rPr lang="en-US" sz="1200">
                <a:solidFill>
                  <a:srgbClr val="27251E"/>
                </a:solidFill>
                <a:latin typeface="Arial"/>
                <a:ea typeface="+mn-lt"/>
                <a:cs typeface="Arial"/>
              </a:rPr>
              <a:t> la </a:t>
            </a:r>
            <a:r>
              <a:rPr lang="en-US" sz="1200" err="1">
                <a:solidFill>
                  <a:srgbClr val="27251E"/>
                </a:solidFill>
                <a:latin typeface="Arial"/>
                <a:ea typeface="+mn-lt"/>
                <a:cs typeface="Arial"/>
              </a:rPr>
              <a:t>potencia</a:t>
            </a:r>
            <a:r>
              <a:rPr lang="en-US" sz="1200">
                <a:solidFill>
                  <a:srgbClr val="27251E"/>
                </a:solidFill>
                <a:latin typeface="Arial"/>
                <a:ea typeface="+mn-lt"/>
                <a:cs typeface="Arial"/>
              </a:rPr>
              <a:t> </a:t>
            </a:r>
            <a:r>
              <a:rPr lang="en-US" sz="1200" err="1">
                <a:solidFill>
                  <a:srgbClr val="27251E"/>
                </a:solidFill>
                <a:latin typeface="Arial"/>
                <a:ea typeface="+mn-lt"/>
                <a:cs typeface="Arial"/>
              </a:rPr>
              <a:t>haya</a:t>
            </a:r>
            <a:r>
              <a:rPr lang="en-US" sz="1200">
                <a:solidFill>
                  <a:srgbClr val="27251E"/>
                </a:solidFill>
                <a:latin typeface="Arial"/>
                <a:ea typeface="+mn-lt"/>
                <a:cs typeface="Arial"/>
              </a:rPr>
              <a:t> </a:t>
            </a:r>
            <a:r>
              <a:rPr lang="en-US" sz="1200" err="1">
                <a:solidFill>
                  <a:srgbClr val="27251E"/>
                </a:solidFill>
                <a:latin typeface="Arial"/>
                <a:ea typeface="+mn-lt"/>
                <a:cs typeface="Arial"/>
              </a:rPr>
              <a:t>migrado</a:t>
            </a:r>
            <a:r>
              <a:rPr lang="en-US" sz="1200">
                <a:solidFill>
                  <a:srgbClr val="27251E"/>
                </a:solidFill>
                <a:latin typeface="Arial"/>
                <a:ea typeface="+mn-lt"/>
                <a:cs typeface="Arial"/>
              </a:rPr>
              <a:t> de la </a:t>
            </a:r>
            <a:r>
              <a:rPr lang="en-US" sz="1200" err="1">
                <a:solidFill>
                  <a:srgbClr val="27251E"/>
                </a:solidFill>
                <a:latin typeface="Arial"/>
                <a:ea typeface="+mn-lt"/>
                <a:cs typeface="Arial"/>
              </a:rPr>
              <a:t>guía</a:t>
            </a:r>
            <a:r>
              <a:rPr lang="en-US" sz="1200">
                <a:solidFill>
                  <a:srgbClr val="27251E"/>
                </a:solidFill>
                <a:latin typeface="Arial"/>
                <a:ea typeface="+mn-lt"/>
                <a:cs typeface="Arial"/>
              </a:rPr>
              <a:t> 1 a la </a:t>
            </a:r>
            <a:r>
              <a:rPr lang="en-US" sz="1200" err="1">
                <a:solidFill>
                  <a:srgbClr val="27251E"/>
                </a:solidFill>
                <a:latin typeface="Arial"/>
                <a:ea typeface="+mn-lt"/>
                <a:cs typeface="Arial"/>
              </a:rPr>
              <a:t>guía</a:t>
            </a:r>
            <a:r>
              <a:rPr lang="en-US" sz="1200">
                <a:solidFill>
                  <a:srgbClr val="27251E"/>
                </a:solidFill>
                <a:latin typeface="Arial"/>
                <a:ea typeface="+mn-lt"/>
                <a:cs typeface="Arial"/>
              </a:rPr>
              <a:t> 2. La </a:t>
            </a:r>
            <a:r>
              <a:rPr lang="en-US" sz="1200" err="1">
                <a:solidFill>
                  <a:srgbClr val="27251E"/>
                </a:solidFill>
                <a:latin typeface="Arial"/>
                <a:ea typeface="+mn-lt"/>
                <a:cs typeface="Arial"/>
              </a:rPr>
              <a:t>diferencia</a:t>
            </a:r>
            <a:r>
              <a:rPr lang="en-US" sz="1200">
                <a:solidFill>
                  <a:srgbClr val="27251E"/>
                </a:solidFill>
                <a:latin typeface="Arial"/>
                <a:ea typeface="+mn-lt"/>
                <a:cs typeface="Arial"/>
              </a:rPr>
              <a:t> de </a:t>
            </a:r>
            <a:r>
              <a:rPr lang="en-US" sz="1200" err="1">
                <a:solidFill>
                  <a:srgbClr val="27251E"/>
                </a:solidFill>
                <a:latin typeface="Arial"/>
                <a:ea typeface="+mn-lt"/>
                <a:cs typeface="Arial"/>
              </a:rPr>
              <a:t>índices</a:t>
            </a:r>
            <a:r>
              <a:rPr lang="en-US" sz="1200">
                <a:solidFill>
                  <a:srgbClr val="27251E"/>
                </a:solidFill>
                <a:latin typeface="Arial"/>
                <a:ea typeface="+mn-lt"/>
                <a:cs typeface="Arial"/>
              </a:rPr>
              <a:t> </a:t>
            </a:r>
            <a:r>
              <a:rPr lang="en-US" sz="1200" err="1">
                <a:solidFill>
                  <a:srgbClr val="27251E"/>
                </a:solidFill>
                <a:latin typeface="Arial"/>
                <a:ea typeface="+mn-lt"/>
                <a:cs typeface="Arial"/>
              </a:rPr>
              <a:t>efectivos</a:t>
            </a:r>
            <a:r>
              <a:rPr lang="en-US" sz="1200">
                <a:solidFill>
                  <a:srgbClr val="27251E"/>
                </a:solidFill>
                <a:latin typeface="Arial"/>
                <a:ea typeface="+mn-lt"/>
                <a:cs typeface="Arial"/>
              </a:rPr>
              <a:t> (neff,0−neff,1) entre </a:t>
            </a:r>
            <a:r>
              <a:rPr lang="en-US" sz="1200" err="1">
                <a:solidFill>
                  <a:srgbClr val="27251E"/>
                </a:solidFill>
                <a:latin typeface="Arial"/>
                <a:ea typeface="+mn-lt"/>
                <a:cs typeface="Arial"/>
              </a:rPr>
              <a:t>el</a:t>
            </a:r>
            <a:r>
              <a:rPr lang="en-US" sz="1200">
                <a:solidFill>
                  <a:srgbClr val="27251E"/>
                </a:solidFill>
                <a:latin typeface="Arial"/>
                <a:ea typeface="+mn-lt"/>
                <a:cs typeface="Arial"/>
              </a:rPr>
              <a:t> modo par e impar del </a:t>
            </a:r>
            <a:r>
              <a:rPr lang="en-US" sz="1200" err="1">
                <a:solidFill>
                  <a:srgbClr val="27251E"/>
                </a:solidFill>
                <a:latin typeface="Arial"/>
                <a:ea typeface="+mn-lt"/>
                <a:cs typeface="Arial"/>
              </a:rPr>
              <a:t>acoplador</a:t>
            </a:r>
            <a:r>
              <a:rPr lang="en-US" sz="1200">
                <a:solidFill>
                  <a:srgbClr val="27251E"/>
                </a:solidFill>
                <a:latin typeface="Arial"/>
                <a:ea typeface="+mn-lt"/>
                <a:cs typeface="Arial"/>
              </a:rPr>
              <a:t> </a:t>
            </a:r>
            <a:r>
              <a:rPr lang="en-US" sz="1200" err="1">
                <a:solidFill>
                  <a:srgbClr val="27251E"/>
                </a:solidFill>
                <a:latin typeface="Arial"/>
                <a:ea typeface="+mn-lt"/>
                <a:cs typeface="Arial"/>
              </a:rPr>
              <a:t>fija</a:t>
            </a:r>
            <a:r>
              <a:rPr lang="en-US" sz="1200">
                <a:solidFill>
                  <a:srgbClr val="27251E"/>
                </a:solidFill>
                <a:latin typeface="Arial"/>
                <a:ea typeface="+mn-lt"/>
                <a:cs typeface="Arial"/>
              </a:rPr>
              <a:t> </a:t>
            </a:r>
            <a:r>
              <a:rPr lang="en-US" sz="1200" err="1">
                <a:solidFill>
                  <a:srgbClr val="27251E"/>
                </a:solidFill>
                <a:latin typeface="Arial"/>
                <a:ea typeface="+mn-lt"/>
                <a:cs typeface="Arial"/>
              </a:rPr>
              <a:t>exactamente</a:t>
            </a:r>
            <a:r>
              <a:rPr lang="en-US" sz="1200">
                <a:solidFill>
                  <a:srgbClr val="27251E"/>
                </a:solidFill>
                <a:latin typeface="Arial"/>
                <a:ea typeface="+mn-lt"/>
                <a:cs typeface="Arial"/>
              </a:rPr>
              <a:t> </a:t>
            </a:r>
            <a:r>
              <a:rPr lang="en-US" sz="1200" err="1">
                <a:solidFill>
                  <a:srgbClr val="27251E"/>
                </a:solidFill>
                <a:latin typeface="Arial"/>
                <a:ea typeface="+mn-lt"/>
                <a:cs typeface="Arial"/>
              </a:rPr>
              <a:t>esta</a:t>
            </a:r>
            <a:r>
              <a:rPr lang="en-US" sz="1200">
                <a:solidFill>
                  <a:srgbClr val="27251E"/>
                </a:solidFill>
                <a:latin typeface="Arial"/>
                <a:ea typeface="+mn-lt"/>
                <a:cs typeface="Arial"/>
              </a:rPr>
              <a:t> </a:t>
            </a:r>
            <a:r>
              <a:rPr lang="en-US" sz="1200" err="1">
                <a:solidFill>
                  <a:srgbClr val="27251E"/>
                </a:solidFill>
                <a:latin typeface="Arial"/>
                <a:ea typeface="+mn-lt"/>
                <a:cs typeface="Arial"/>
              </a:rPr>
              <a:t>longitud</a:t>
            </a:r>
            <a:r>
              <a:rPr lang="en-US" sz="1200">
                <a:solidFill>
                  <a:srgbClr val="27251E"/>
                </a:solidFill>
                <a:latin typeface="Arial"/>
                <a:ea typeface="+mn-lt"/>
                <a:cs typeface="Arial"/>
              </a:rPr>
              <a:t>.</a:t>
            </a:r>
            <a:endParaRPr lang="en-US">
              <a:latin typeface="Arial"/>
              <a:cs typeface="Arial"/>
            </a:endParaRPr>
          </a:p>
          <a:p>
            <a:pPr algn="just"/>
            <a:endParaRPr lang="en-US" sz="1200">
              <a:solidFill>
                <a:srgbClr val="27251E"/>
              </a:solidFill>
              <a:latin typeface="Arial"/>
              <a:ea typeface="+mn-lt"/>
              <a:cs typeface="Arial"/>
            </a:endParaRPr>
          </a:p>
          <a:p>
            <a:pPr algn="just"/>
            <a:r>
              <a:rPr lang="en-US" sz="1200" err="1">
                <a:solidFill>
                  <a:srgbClr val="27251E"/>
                </a:solidFill>
                <a:latin typeface="Arial"/>
                <a:ea typeface="+mn-lt"/>
                <a:cs typeface="Arial"/>
              </a:rPr>
              <a:t>Además</a:t>
            </a:r>
            <a:r>
              <a:rPr lang="en-US" sz="1200">
                <a:solidFill>
                  <a:srgbClr val="27251E"/>
                </a:solidFill>
                <a:latin typeface="Arial"/>
                <a:ea typeface="+mn-lt"/>
                <a:cs typeface="Arial"/>
              </a:rPr>
              <a:t>, la curva no se </a:t>
            </a:r>
            <a:r>
              <a:rPr lang="en-US" sz="1200" err="1">
                <a:solidFill>
                  <a:srgbClr val="27251E"/>
                </a:solidFill>
                <a:latin typeface="Arial"/>
                <a:ea typeface="+mn-lt"/>
                <a:cs typeface="Arial"/>
              </a:rPr>
              <a:t>detiene</a:t>
            </a:r>
            <a:r>
              <a:rPr lang="en-US" sz="1200">
                <a:solidFill>
                  <a:srgbClr val="27251E"/>
                </a:solidFill>
                <a:latin typeface="Arial"/>
                <a:ea typeface="+mn-lt"/>
                <a:cs typeface="Arial"/>
              </a:rPr>
              <a:t> </a:t>
            </a:r>
            <a:r>
              <a:rPr lang="en-US" sz="1200" err="1">
                <a:solidFill>
                  <a:srgbClr val="27251E"/>
                </a:solidFill>
                <a:latin typeface="Arial"/>
                <a:ea typeface="+mn-lt"/>
                <a:cs typeface="Arial"/>
              </a:rPr>
              <a:t>en</a:t>
            </a:r>
            <a:r>
              <a:rPr lang="en-US" sz="1200">
                <a:solidFill>
                  <a:srgbClr val="27251E"/>
                </a:solidFill>
                <a:latin typeface="Arial"/>
                <a:ea typeface="+mn-lt"/>
                <a:cs typeface="Arial"/>
              </a:rPr>
              <a:t> K = 1, </a:t>
            </a:r>
            <a:r>
              <a:rPr lang="en-US" sz="1200" err="1">
                <a:solidFill>
                  <a:srgbClr val="27251E"/>
                </a:solidFill>
                <a:latin typeface="Arial"/>
                <a:ea typeface="+mn-lt"/>
                <a:cs typeface="Arial"/>
              </a:rPr>
              <a:t>si</a:t>
            </a:r>
            <a:r>
              <a:rPr lang="en-US" sz="1200">
                <a:solidFill>
                  <a:srgbClr val="27251E"/>
                </a:solidFill>
                <a:latin typeface="Arial"/>
                <a:ea typeface="+mn-lt"/>
                <a:cs typeface="Arial"/>
              </a:rPr>
              <a:t> se </a:t>
            </a:r>
            <a:r>
              <a:rPr lang="en-US" sz="1200" err="1">
                <a:solidFill>
                  <a:srgbClr val="27251E"/>
                </a:solidFill>
                <a:latin typeface="Arial"/>
                <a:ea typeface="+mn-lt"/>
                <a:cs typeface="Arial"/>
              </a:rPr>
              <a:t>continúa</a:t>
            </a:r>
            <a:r>
              <a:rPr lang="en-US" sz="1200">
                <a:solidFill>
                  <a:srgbClr val="27251E"/>
                </a:solidFill>
                <a:latin typeface="Arial"/>
                <a:ea typeface="+mn-lt"/>
                <a:cs typeface="Arial"/>
              </a:rPr>
              <a:t> </a:t>
            </a:r>
            <a:r>
              <a:rPr lang="en-US" sz="1200" err="1">
                <a:solidFill>
                  <a:srgbClr val="27251E"/>
                </a:solidFill>
                <a:latin typeface="Arial"/>
                <a:ea typeface="+mn-lt"/>
                <a:cs typeface="Arial"/>
              </a:rPr>
              <a:t>aumentando</a:t>
            </a:r>
            <a:r>
              <a:rPr lang="en-US" sz="1200">
                <a:solidFill>
                  <a:srgbClr val="27251E"/>
                </a:solidFill>
                <a:latin typeface="Arial"/>
                <a:ea typeface="+mn-lt"/>
                <a:cs typeface="Arial"/>
              </a:rPr>
              <a:t> L </a:t>
            </a:r>
            <a:r>
              <a:rPr lang="en-US" sz="1200" err="1">
                <a:solidFill>
                  <a:srgbClr val="27251E"/>
                </a:solidFill>
                <a:latin typeface="Arial"/>
                <a:ea typeface="+mn-lt"/>
                <a:cs typeface="Arial"/>
              </a:rPr>
              <a:t>más</a:t>
            </a:r>
            <a:r>
              <a:rPr lang="en-US" sz="1200">
                <a:solidFill>
                  <a:srgbClr val="27251E"/>
                </a:solidFill>
                <a:latin typeface="Arial"/>
                <a:ea typeface="+mn-lt"/>
                <a:cs typeface="Arial"/>
              </a:rPr>
              <a:t> </a:t>
            </a:r>
            <a:r>
              <a:rPr lang="en-US" sz="1200" err="1">
                <a:solidFill>
                  <a:srgbClr val="27251E"/>
                </a:solidFill>
                <a:latin typeface="Arial"/>
                <a:ea typeface="+mn-lt"/>
                <a:cs typeface="Arial"/>
              </a:rPr>
              <a:t>allá</a:t>
            </a:r>
            <a:r>
              <a:rPr lang="en-US" sz="1200">
                <a:solidFill>
                  <a:srgbClr val="27251E"/>
                </a:solidFill>
                <a:latin typeface="Arial"/>
                <a:ea typeface="+mn-lt"/>
                <a:cs typeface="Arial"/>
              </a:rPr>
              <a:t> de Lπ</a:t>
            </a:r>
            <a:r>
              <a:rPr lang="en-US" sz="600">
                <a:solidFill>
                  <a:srgbClr val="27251E"/>
                </a:solidFill>
                <a:latin typeface="Arial"/>
                <a:ea typeface="+mn-lt"/>
                <a:cs typeface="Arial"/>
              </a:rPr>
              <a:t> </a:t>
            </a:r>
            <a:r>
              <a:rPr lang="en-US" sz="1200">
                <a:solidFill>
                  <a:srgbClr val="27251E"/>
                </a:solidFill>
                <a:latin typeface="Arial"/>
                <a:ea typeface="+mn-lt"/>
                <a:cs typeface="Arial"/>
              </a:rPr>
              <a:t>, la </a:t>
            </a:r>
            <a:r>
              <a:rPr lang="en-US" sz="1200" err="1">
                <a:solidFill>
                  <a:srgbClr val="27251E"/>
                </a:solidFill>
                <a:latin typeface="Arial"/>
                <a:ea typeface="+mn-lt"/>
                <a:cs typeface="Arial"/>
              </a:rPr>
              <a:t>potencia</a:t>
            </a:r>
            <a:r>
              <a:rPr lang="en-US" sz="1200">
                <a:solidFill>
                  <a:srgbClr val="27251E"/>
                </a:solidFill>
                <a:latin typeface="Arial"/>
                <a:ea typeface="+mn-lt"/>
                <a:cs typeface="Arial"/>
              </a:rPr>
              <a:t> </a:t>
            </a:r>
            <a:r>
              <a:rPr lang="en-US" sz="1200" err="1">
                <a:solidFill>
                  <a:srgbClr val="27251E"/>
                </a:solidFill>
                <a:latin typeface="Arial"/>
                <a:ea typeface="+mn-lt"/>
                <a:cs typeface="Arial"/>
              </a:rPr>
              <a:t>comienza</a:t>
            </a:r>
            <a:r>
              <a:rPr lang="en-US" sz="1200">
                <a:solidFill>
                  <a:srgbClr val="27251E"/>
                </a:solidFill>
                <a:latin typeface="Arial"/>
                <a:ea typeface="+mn-lt"/>
                <a:cs typeface="Arial"/>
              </a:rPr>
              <a:t> a </a:t>
            </a:r>
            <a:r>
              <a:rPr lang="en-US" sz="1200" err="1">
                <a:solidFill>
                  <a:srgbClr val="27251E"/>
                </a:solidFill>
                <a:latin typeface="Arial"/>
                <a:ea typeface="+mn-lt"/>
                <a:cs typeface="Arial"/>
              </a:rPr>
              <a:t>regresar</a:t>
            </a:r>
            <a:r>
              <a:rPr lang="en-US" sz="1200">
                <a:solidFill>
                  <a:srgbClr val="27251E"/>
                </a:solidFill>
                <a:latin typeface="Arial"/>
                <a:ea typeface="+mn-lt"/>
                <a:cs typeface="Arial"/>
              </a:rPr>
              <a:t> a la </a:t>
            </a:r>
            <a:r>
              <a:rPr lang="en-US" sz="1200" err="1">
                <a:solidFill>
                  <a:srgbClr val="27251E"/>
                </a:solidFill>
                <a:latin typeface="Arial"/>
                <a:ea typeface="+mn-lt"/>
                <a:cs typeface="Arial"/>
              </a:rPr>
              <a:t>guía</a:t>
            </a:r>
            <a:r>
              <a:rPr lang="en-US" sz="1200">
                <a:solidFill>
                  <a:srgbClr val="27251E"/>
                </a:solidFill>
                <a:latin typeface="Arial"/>
                <a:ea typeface="+mn-lt"/>
                <a:cs typeface="Arial"/>
              </a:rPr>
              <a:t> original (K </a:t>
            </a:r>
            <a:r>
              <a:rPr lang="en-US" sz="1200" err="1">
                <a:solidFill>
                  <a:srgbClr val="27251E"/>
                </a:solidFill>
                <a:latin typeface="Arial"/>
                <a:ea typeface="+mn-lt"/>
                <a:cs typeface="Arial"/>
              </a:rPr>
              <a:t>vuelve</a:t>
            </a:r>
            <a:r>
              <a:rPr lang="en-US" sz="1200">
                <a:solidFill>
                  <a:srgbClr val="27251E"/>
                </a:solidFill>
                <a:latin typeface="Arial"/>
                <a:ea typeface="+mn-lt"/>
                <a:cs typeface="Arial"/>
              </a:rPr>
              <a:t> a </a:t>
            </a:r>
            <a:r>
              <a:rPr lang="en-US" sz="1200" err="1">
                <a:solidFill>
                  <a:srgbClr val="27251E"/>
                </a:solidFill>
                <a:latin typeface="Arial"/>
                <a:ea typeface="+mn-lt"/>
                <a:cs typeface="Arial"/>
              </a:rPr>
              <a:t>bajar</a:t>
            </a:r>
            <a:r>
              <a:rPr lang="en-US" sz="1200">
                <a:solidFill>
                  <a:srgbClr val="27251E"/>
                </a:solidFill>
                <a:latin typeface="Arial"/>
                <a:ea typeface="+mn-lt"/>
                <a:cs typeface="Arial"/>
              </a:rPr>
              <a:t> </a:t>
            </a:r>
            <a:r>
              <a:rPr lang="en-US" sz="1200" err="1">
                <a:solidFill>
                  <a:srgbClr val="27251E"/>
                </a:solidFill>
                <a:latin typeface="Arial"/>
                <a:ea typeface="+mn-lt"/>
                <a:cs typeface="Arial"/>
              </a:rPr>
              <a:t>hacia</a:t>
            </a:r>
            <a:r>
              <a:rPr lang="en-US" sz="1200">
                <a:solidFill>
                  <a:srgbClr val="27251E"/>
                </a:solidFill>
                <a:latin typeface="Arial"/>
                <a:ea typeface="+mn-lt"/>
                <a:cs typeface="Arial"/>
              </a:rPr>
              <a:t> 0 </a:t>
            </a:r>
            <a:r>
              <a:rPr lang="en-US" sz="1200" err="1">
                <a:solidFill>
                  <a:srgbClr val="27251E"/>
                </a:solidFill>
                <a:latin typeface="Arial"/>
                <a:ea typeface="+mn-lt"/>
                <a:cs typeface="Arial"/>
              </a:rPr>
              <a:t>en</a:t>
            </a:r>
            <a:r>
              <a:rPr lang="en-US" sz="1200">
                <a:solidFill>
                  <a:srgbClr val="27251E"/>
                </a:solidFill>
                <a:latin typeface="Arial"/>
                <a:ea typeface="+mn-lt"/>
                <a:cs typeface="Arial"/>
              </a:rPr>
              <a:t> L=2Lπ</a:t>
            </a:r>
            <a:r>
              <a:rPr lang="en-US" sz="600">
                <a:solidFill>
                  <a:srgbClr val="27251E"/>
                </a:solidFill>
                <a:latin typeface="Arial"/>
                <a:ea typeface="+mn-lt"/>
                <a:cs typeface="Arial"/>
              </a:rPr>
              <a:t> </a:t>
            </a:r>
            <a:r>
              <a:rPr lang="en-US" sz="1200">
                <a:solidFill>
                  <a:srgbClr val="27251E"/>
                </a:solidFill>
                <a:latin typeface="Arial"/>
                <a:ea typeface="+mn-lt"/>
                <a:cs typeface="Arial"/>
              </a:rPr>
              <a:t>), </a:t>
            </a:r>
            <a:r>
              <a:rPr lang="en-US" sz="1200" err="1">
                <a:solidFill>
                  <a:srgbClr val="27251E"/>
                </a:solidFill>
                <a:latin typeface="Arial"/>
                <a:ea typeface="+mn-lt"/>
                <a:cs typeface="Arial"/>
              </a:rPr>
              <a:t>siguiendo</a:t>
            </a:r>
            <a:r>
              <a:rPr lang="en-US" sz="1200">
                <a:solidFill>
                  <a:srgbClr val="27251E"/>
                </a:solidFill>
                <a:latin typeface="Arial"/>
                <a:ea typeface="+mn-lt"/>
                <a:cs typeface="Arial"/>
              </a:rPr>
              <a:t> </a:t>
            </a:r>
            <a:r>
              <a:rPr lang="en-US" sz="1200" err="1">
                <a:solidFill>
                  <a:srgbClr val="27251E"/>
                </a:solidFill>
                <a:latin typeface="Arial"/>
                <a:ea typeface="+mn-lt"/>
                <a:cs typeface="Arial"/>
              </a:rPr>
              <a:t>el</a:t>
            </a:r>
            <a:r>
              <a:rPr lang="en-US" sz="1200">
                <a:solidFill>
                  <a:srgbClr val="27251E"/>
                </a:solidFill>
                <a:latin typeface="Arial"/>
                <a:ea typeface="+mn-lt"/>
                <a:cs typeface="Arial"/>
              </a:rPr>
              <a:t> </a:t>
            </a:r>
            <a:r>
              <a:rPr lang="en-US" sz="1200" err="1">
                <a:solidFill>
                  <a:srgbClr val="27251E"/>
                </a:solidFill>
                <a:latin typeface="Arial"/>
                <a:ea typeface="+mn-lt"/>
                <a:cs typeface="Arial"/>
              </a:rPr>
              <a:t>comportamiento</a:t>
            </a:r>
            <a:r>
              <a:rPr lang="en-US" sz="1200">
                <a:solidFill>
                  <a:srgbClr val="27251E"/>
                </a:solidFill>
                <a:latin typeface="Arial"/>
                <a:ea typeface="+mn-lt"/>
                <a:cs typeface="Arial"/>
              </a:rPr>
              <a:t> </a:t>
            </a:r>
            <a:r>
              <a:rPr lang="en-US" sz="1200" err="1">
                <a:solidFill>
                  <a:srgbClr val="27251E"/>
                </a:solidFill>
                <a:latin typeface="Arial"/>
                <a:ea typeface="+mn-lt"/>
                <a:cs typeface="Arial"/>
              </a:rPr>
              <a:t>periódico</a:t>
            </a:r>
            <a:r>
              <a:rPr lang="en-US" sz="1200">
                <a:solidFill>
                  <a:srgbClr val="27251E"/>
                </a:solidFill>
                <a:latin typeface="Arial"/>
                <a:ea typeface="+mn-lt"/>
                <a:cs typeface="Arial"/>
              </a:rPr>
              <a:t> del </a:t>
            </a:r>
            <a:r>
              <a:rPr lang="en-US" sz="1200" err="1">
                <a:solidFill>
                  <a:srgbClr val="27251E"/>
                </a:solidFill>
                <a:latin typeface="Arial"/>
                <a:ea typeface="+mn-lt"/>
                <a:cs typeface="Arial"/>
              </a:rPr>
              <a:t>seno</a:t>
            </a:r>
            <a:r>
              <a:rPr lang="en-US" sz="1200">
                <a:solidFill>
                  <a:srgbClr val="27251E"/>
                </a:solidFill>
                <a:latin typeface="Arial"/>
                <a:ea typeface="+mn-lt"/>
                <a:cs typeface="Arial"/>
              </a:rPr>
              <a:t> </a:t>
            </a:r>
            <a:r>
              <a:rPr lang="en-US" sz="1200" err="1">
                <a:solidFill>
                  <a:srgbClr val="27251E"/>
                </a:solidFill>
                <a:latin typeface="Arial"/>
                <a:ea typeface="+mn-lt"/>
                <a:cs typeface="Arial"/>
              </a:rPr>
              <a:t>cuadrado</a:t>
            </a:r>
            <a:r>
              <a:rPr lang="en-US" sz="1200">
                <a:solidFill>
                  <a:srgbClr val="27251E"/>
                </a:solidFill>
                <a:latin typeface="Arial"/>
                <a:ea typeface="+mn-lt"/>
                <a:cs typeface="Arial"/>
              </a:rPr>
              <a:t>. Esto es </a:t>
            </a:r>
            <a:r>
              <a:rPr lang="en-US" sz="1200" err="1">
                <a:solidFill>
                  <a:srgbClr val="27251E"/>
                </a:solidFill>
                <a:latin typeface="Arial"/>
                <a:ea typeface="+mn-lt"/>
                <a:cs typeface="Arial"/>
              </a:rPr>
              <a:t>inherente</a:t>
            </a:r>
            <a:r>
              <a:rPr lang="en-US" sz="1200">
                <a:solidFill>
                  <a:srgbClr val="27251E"/>
                </a:solidFill>
                <a:latin typeface="Arial"/>
                <a:ea typeface="+mn-lt"/>
                <a:cs typeface="Arial"/>
              </a:rPr>
              <a:t> al </a:t>
            </a:r>
            <a:r>
              <a:rPr lang="en-US" sz="1200" err="1">
                <a:solidFill>
                  <a:srgbClr val="27251E"/>
                </a:solidFill>
                <a:latin typeface="Arial"/>
                <a:ea typeface="+mn-lt"/>
                <a:cs typeface="Arial"/>
              </a:rPr>
              <a:t>acoplamiento</a:t>
            </a:r>
            <a:r>
              <a:rPr lang="en-US" sz="1200">
                <a:solidFill>
                  <a:srgbClr val="27251E"/>
                </a:solidFill>
                <a:latin typeface="Arial"/>
                <a:ea typeface="+mn-lt"/>
                <a:cs typeface="Arial"/>
              </a:rPr>
              <a:t> </a:t>
            </a:r>
            <a:r>
              <a:rPr lang="en-US" sz="1200" err="1">
                <a:solidFill>
                  <a:srgbClr val="27251E"/>
                </a:solidFill>
                <a:latin typeface="Arial"/>
                <a:ea typeface="+mn-lt"/>
                <a:cs typeface="Arial"/>
              </a:rPr>
              <a:t>evanescente</a:t>
            </a:r>
            <a:r>
              <a:rPr lang="en-US" sz="1200">
                <a:solidFill>
                  <a:srgbClr val="27251E"/>
                </a:solidFill>
                <a:latin typeface="Arial"/>
                <a:ea typeface="+mn-lt"/>
                <a:cs typeface="Arial"/>
              </a:rPr>
              <a:t> reversible.</a:t>
            </a:r>
            <a:endParaRPr lang="en-US">
              <a:latin typeface="Arial"/>
              <a:cs typeface="Arial"/>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159149"/>
            <a:ext cx="11199971" cy="2696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6629400" y="1821527"/>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L/</a:t>
            </a:r>
            <a:r>
              <a:rPr lang="en-US" err="1"/>
              <a:t>Lpi</a:t>
            </a:r>
            <a:r>
              <a:rPr lang="en-US"/>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000" y="1981200"/>
            <a:ext cx="2981325" cy="866806"/>
          </a:xfrm>
          <a:prstGeom prst="rect">
            <a:avLst/>
          </a:prstGeom>
        </p:spPr>
      </p:pic>
      <p:pic>
        <p:nvPicPr>
          <p:cNvPr id="5" name="Imagen 4" descr="Gráfico, Gráfico de líneas&#10;&#10;El contenido generado por IA puede ser incorrecto.">
            <a:extLst>
              <a:ext uri="{FF2B5EF4-FFF2-40B4-BE49-F238E27FC236}">
                <a16:creationId xmlns:a16="http://schemas.microsoft.com/office/drawing/2014/main" id="{6C7F406D-48A0-BD12-572D-1E24A4C058D1}"/>
              </a:ext>
            </a:extLst>
          </p:cNvPr>
          <p:cNvPicPr>
            <a:picLocks noChangeAspect="1"/>
          </p:cNvPicPr>
          <p:nvPr/>
        </p:nvPicPr>
        <p:blipFill>
          <a:blip r:embed="rId5"/>
          <a:srcRect t="2074"/>
          <a:stretch>
            <a:fillRect/>
          </a:stretch>
        </p:blipFill>
        <p:spPr>
          <a:xfrm>
            <a:off x="5996022" y="1204721"/>
            <a:ext cx="4951412" cy="2605282"/>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a:latin typeface="Arial" panose="020B0604020202020204" pitchFamily="34" charset="0"/>
                <a:cs typeface="Arial" panose="020B0604020202020204" pitchFamily="34" charset="0"/>
              </a:rPr>
              <a:t>Comment results (Coupling relationship, </a:t>
            </a:r>
            <a:r>
              <a:rPr lang="en-US" sz="1200" err="1">
                <a:latin typeface="Arial" panose="020B0604020202020204" pitchFamily="34" charset="0"/>
                <a:cs typeface="Arial" panose="020B0604020202020204" pitchFamily="34" charset="0"/>
              </a:rPr>
              <a:t>Lpi</a:t>
            </a:r>
            <a:r>
              <a:rPr lang="en-US" sz="1200">
                <a:latin typeface="Arial" panose="020B0604020202020204" pitchFamily="34" charset="0"/>
                <a:cs typeface="Arial" panose="020B0604020202020204" pitchFamily="34" charset="0"/>
              </a:rPr>
              <a:t>, losses, … )</a:t>
            </a:r>
          </a:p>
          <a:p>
            <a:pPr algn="just"/>
            <a:r>
              <a:rPr lang="en-US" sz="1200">
                <a:solidFill>
                  <a:srgbClr val="27251E"/>
                </a:solidFill>
                <a:latin typeface="Arial"/>
                <a:ea typeface="+mn-lt"/>
                <a:cs typeface="Arial"/>
              </a:rPr>
              <a:t>Al </a:t>
            </a:r>
            <a:r>
              <a:rPr lang="en-US" sz="1200" err="1">
                <a:solidFill>
                  <a:srgbClr val="27251E"/>
                </a:solidFill>
                <a:latin typeface="Arial"/>
                <a:ea typeface="+mn-lt"/>
                <a:cs typeface="Arial"/>
              </a:rPr>
              <a:t>aumentar</a:t>
            </a:r>
            <a:r>
              <a:rPr lang="en-US" sz="1200">
                <a:solidFill>
                  <a:srgbClr val="27251E"/>
                </a:solidFill>
                <a:latin typeface="Arial"/>
                <a:ea typeface="+mn-lt"/>
                <a:cs typeface="Arial"/>
              </a:rPr>
              <a:t> </a:t>
            </a:r>
            <a:r>
              <a:rPr lang="en-US" sz="1200" err="1">
                <a:solidFill>
                  <a:srgbClr val="27251E"/>
                </a:solidFill>
                <a:latin typeface="Arial"/>
                <a:ea typeface="+mn-lt"/>
                <a:cs typeface="Arial"/>
              </a:rPr>
              <a:t>el</a:t>
            </a:r>
            <a:r>
              <a:rPr lang="en-US" sz="1200">
                <a:solidFill>
                  <a:srgbClr val="27251E"/>
                </a:solidFill>
                <a:latin typeface="Arial"/>
                <a:ea typeface="+mn-lt"/>
                <a:cs typeface="Arial"/>
              </a:rPr>
              <a:t> gap, </a:t>
            </a:r>
            <a:r>
              <a:rPr lang="en-US" sz="1200" err="1">
                <a:solidFill>
                  <a:srgbClr val="27251E"/>
                </a:solidFill>
                <a:latin typeface="Arial"/>
                <a:ea typeface="+mn-lt"/>
                <a:cs typeface="Arial"/>
              </a:rPr>
              <a:t>los</a:t>
            </a:r>
            <a:r>
              <a:rPr lang="en-US" sz="1200">
                <a:solidFill>
                  <a:srgbClr val="27251E"/>
                </a:solidFill>
                <a:latin typeface="Arial"/>
                <a:ea typeface="+mn-lt"/>
                <a:cs typeface="Arial"/>
              </a:rPr>
              <a:t> campos </a:t>
            </a:r>
            <a:r>
              <a:rPr lang="en-US" sz="1200" err="1">
                <a:solidFill>
                  <a:srgbClr val="27251E"/>
                </a:solidFill>
                <a:latin typeface="Arial"/>
                <a:ea typeface="+mn-lt"/>
                <a:cs typeface="Arial"/>
              </a:rPr>
              <a:t>evanescentes</a:t>
            </a:r>
            <a:r>
              <a:rPr lang="en-US" sz="1200">
                <a:solidFill>
                  <a:srgbClr val="27251E"/>
                </a:solidFill>
                <a:latin typeface="Arial"/>
                <a:ea typeface="+mn-lt"/>
                <a:cs typeface="Arial"/>
              </a:rPr>
              <a:t> de ambas </a:t>
            </a:r>
            <a:r>
              <a:rPr lang="en-US" sz="1200" err="1">
                <a:solidFill>
                  <a:srgbClr val="27251E"/>
                </a:solidFill>
                <a:latin typeface="Arial"/>
                <a:ea typeface="+mn-lt"/>
                <a:cs typeface="Arial"/>
              </a:rPr>
              <a:t>guías</a:t>
            </a:r>
            <a:r>
              <a:rPr lang="en-US" sz="1200">
                <a:solidFill>
                  <a:srgbClr val="27251E"/>
                </a:solidFill>
                <a:latin typeface="Arial"/>
                <a:ea typeface="+mn-lt"/>
                <a:cs typeface="Arial"/>
              </a:rPr>
              <a:t> se </a:t>
            </a:r>
            <a:r>
              <a:rPr lang="en-US" sz="1200" err="1">
                <a:solidFill>
                  <a:srgbClr val="27251E"/>
                </a:solidFill>
                <a:latin typeface="Arial"/>
                <a:ea typeface="+mn-lt"/>
                <a:cs typeface="Arial"/>
              </a:rPr>
              <a:t>solapan</a:t>
            </a:r>
            <a:r>
              <a:rPr lang="en-US" sz="1200">
                <a:solidFill>
                  <a:srgbClr val="27251E"/>
                </a:solidFill>
                <a:latin typeface="Arial"/>
                <a:ea typeface="+mn-lt"/>
                <a:cs typeface="Arial"/>
              </a:rPr>
              <a:t> </a:t>
            </a:r>
            <a:r>
              <a:rPr lang="en-US" sz="1200" err="1">
                <a:solidFill>
                  <a:srgbClr val="27251E"/>
                </a:solidFill>
                <a:latin typeface="Arial"/>
                <a:ea typeface="+mn-lt"/>
                <a:cs typeface="Arial"/>
              </a:rPr>
              <a:t>cada</a:t>
            </a:r>
            <a:r>
              <a:rPr lang="en-US" sz="1200">
                <a:solidFill>
                  <a:srgbClr val="27251E"/>
                </a:solidFill>
                <a:latin typeface="Arial"/>
                <a:ea typeface="+mn-lt"/>
                <a:cs typeface="Arial"/>
              </a:rPr>
              <a:t> </a:t>
            </a:r>
            <a:r>
              <a:rPr lang="en-US" sz="1200" err="1">
                <a:solidFill>
                  <a:srgbClr val="27251E"/>
                </a:solidFill>
                <a:latin typeface="Arial"/>
                <a:ea typeface="+mn-lt"/>
                <a:cs typeface="Arial"/>
              </a:rPr>
              <a:t>vez</a:t>
            </a:r>
            <a:r>
              <a:rPr lang="en-US" sz="1200">
                <a:solidFill>
                  <a:srgbClr val="27251E"/>
                </a:solidFill>
                <a:latin typeface="Arial"/>
                <a:ea typeface="+mn-lt"/>
                <a:cs typeface="Arial"/>
              </a:rPr>
              <a:t> </a:t>
            </a:r>
            <a:r>
              <a:rPr lang="en-US" sz="1200" err="1">
                <a:solidFill>
                  <a:srgbClr val="27251E"/>
                </a:solidFill>
                <a:latin typeface="Arial"/>
                <a:ea typeface="+mn-lt"/>
                <a:cs typeface="Arial"/>
              </a:rPr>
              <a:t>menos</a:t>
            </a:r>
            <a:r>
              <a:rPr lang="en-US" sz="1200">
                <a:solidFill>
                  <a:srgbClr val="27251E"/>
                </a:solidFill>
                <a:latin typeface="Arial"/>
                <a:ea typeface="+mn-lt"/>
                <a:cs typeface="Arial"/>
              </a:rPr>
              <a:t>, </a:t>
            </a:r>
            <a:r>
              <a:rPr lang="en-US" sz="1200" err="1">
                <a:solidFill>
                  <a:srgbClr val="27251E"/>
                </a:solidFill>
                <a:latin typeface="Arial"/>
                <a:ea typeface="+mn-lt"/>
                <a:cs typeface="Arial"/>
              </a:rPr>
              <a:t>por</a:t>
            </a:r>
            <a:r>
              <a:rPr lang="en-US" sz="1200">
                <a:solidFill>
                  <a:srgbClr val="27251E"/>
                </a:solidFill>
                <a:latin typeface="Arial"/>
                <a:ea typeface="+mn-lt"/>
                <a:cs typeface="Arial"/>
              </a:rPr>
              <a:t> lo </a:t>
            </a:r>
            <a:r>
              <a:rPr lang="en-US" sz="1200" err="1">
                <a:solidFill>
                  <a:srgbClr val="27251E"/>
                </a:solidFill>
                <a:latin typeface="Arial"/>
                <a:ea typeface="+mn-lt"/>
                <a:cs typeface="Arial"/>
              </a:rPr>
              <a:t>que</a:t>
            </a:r>
            <a:r>
              <a:rPr lang="en-US" sz="1200">
                <a:solidFill>
                  <a:srgbClr val="27251E"/>
                </a:solidFill>
                <a:latin typeface="Arial"/>
                <a:ea typeface="+mn-lt"/>
                <a:cs typeface="Arial"/>
              </a:rPr>
              <a:t> la </a:t>
            </a:r>
            <a:r>
              <a:rPr lang="en-US" sz="1200" err="1">
                <a:solidFill>
                  <a:srgbClr val="27251E"/>
                </a:solidFill>
                <a:latin typeface="Arial"/>
                <a:ea typeface="+mn-lt"/>
                <a:cs typeface="Arial"/>
              </a:rPr>
              <a:t>diferencia</a:t>
            </a:r>
            <a:r>
              <a:rPr lang="en-US" sz="1200">
                <a:solidFill>
                  <a:srgbClr val="27251E"/>
                </a:solidFill>
                <a:latin typeface="Arial"/>
                <a:ea typeface="+mn-lt"/>
                <a:cs typeface="Arial"/>
              </a:rPr>
              <a:t> (neff,0−neff,1) se reduce </a:t>
            </a:r>
            <a:r>
              <a:rPr lang="en-US" sz="1200" err="1">
                <a:solidFill>
                  <a:srgbClr val="27251E"/>
                </a:solidFill>
                <a:latin typeface="Arial"/>
                <a:ea typeface="+mn-lt"/>
                <a:cs typeface="Arial"/>
              </a:rPr>
              <a:t>drásticamente</a:t>
            </a:r>
            <a:r>
              <a:rPr lang="en-US" sz="1200">
                <a:solidFill>
                  <a:srgbClr val="27251E"/>
                </a:solidFill>
                <a:latin typeface="Arial"/>
                <a:ea typeface="+mn-lt"/>
                <a:cs typeface="Arial"/>
              </a:rPr>
              <a:t>. Como Lπ es </a:t>
            </a:r>
            <a:r>
              <a:rPr lang="en-US" sz="1200" err="1">
                <a:solidFill>
                  <a:srgbClr val="27251E"/>
                </a:solidFill>
                <a:latin typeface="Arial"/>
                <a:ea typeface="+mn-lt"/>
                <a:cs typeface="Arial"/>
              </a:rPr>
              <a:t>inversamente</a:t>
            </a:r>
            <a:r>
              <a:rPr lang="en-US" sz="1200">
                <a:solidFill>
                  <a:srgbClr val="27251E"/>
                </a:solidFill>
                <a:latin typeface="Arial"/>
                <a:ea typeface="+mn-lt"/>
                <a:cs typeface="Arial"/>
              </a:rPr>
              <a:t> </a:t>
            </a:r>
            <a:r>
              <a:rPr lang="en-US" sz="1200" err="1">
                <a:solidFill>
                  <a:srgbClr val="27251E"/>
                </a:solidFill>
                <a:latin typeface="Arial"/>
                <a:ea typeface="+mn-lt"/>
                <a:cs typeface="Arial"/>
              </a:rPr>
              <a:t>proporcional</a:t>
            </a:r>
            <a:r>
              <a:rPr lang="en-US" sz="1200">
                <a:solidFill>
                  <a:srgbClr val="27251E"/>
                </a:solidFill>
                <a:latin typeface="Arial"/>
                <a:ea typeface="+mn-lt"/>
                <a:cs typeface="Arial"/>
              </a:rPr>
              <a:t> a </a:t>
            </a:r>
            <a:r>
              <a:rPr lang="en-US" sz="1200" err="1">
                <a:solidFill>
                  <a:srgbClr val="27251E"/>
                </a:solidFill>
                <a:latin typeface="Arial"/>
                <a:ea typeface="+mn-lt"/>
                <a:cs typeface="Arial"/>
              </a:rPr>
              <a:t>esa</a:t>
            </a:r>
            <a:r>
              <a:rPr lang="en-US" sz="1200">
                <a:solidFill>
                  <a:srgbClr val="27251E"/>
                </a:solidFill>
                <a:latin typeface="Arial"/>
                <a:ea typeface="+mn-lt"/>
                <a:cs typeface="Arial"/>
              </a:rPr>
              <a:t> </a:t>
            </a:r>
            <a:r>
              <a:rPr lang="en-US" sz="1200" err="1">
                <a:solidFill>
                  <a:srgbClr val="27251E"/>
                </a:solidFill>
                <a:latin typeface="Arial"/>
                <a:ea typeface="+mn-lt"/>
                <a:cs typeface="Arial"/>
              </a:rPr>
              <a:t>diferencia</a:t>
            </a:r>
            <a:r>
              <a:rPr lang="en-US" sz="1200">
                <a:solidFill>
                  <a:srgbClr val="27251E"/>
                </a:solidFill>
                <a:latin typeface="Arial"/>
                <a:ea typeface="+mn-lt"/>
                <a:cs typeface="Arial"/>
              </a:rPr>
              <a:t>, </a:t>
            </a:r>
            <a:r>
              <a:rPr lang="en-US" sz="1200" err="1">
                <a:solidFill>
                  <a:srgbClr val="27251E"/>
                </a:solidFill>
                <a:latin typeface="Arial"/>
                <a:ea typeface="+mn-lt"/>
                <a:cs typeface="Arial"/>
              </a:rPr>
              <a:t>crece</a:t>
            </a:r>
            <a:r>
              <a:rPr lang="en-US" sz="1200">
                <a:solidFill>
                  <a:srgbClr val="27251E"/>
                </a:solidFill>
                <a:latin typeface="Arial"/>
                <a:ea typeface="+mn-lt"/>
                <a:cs typeface="Arial"/>
              </a:rPr>
              <a:t> de forma </a:t>
            </a:r>
            <a:r>
              <a:rPr lang="en-US" sz="1200" err="1">
                <a:solidFill>
                  <a:srgbClr val="27251E"/>
                </a:solidFill>
                <a:latin typeface="Arial"/>
                <a:ea typeface="+mn-lt"/>
                <a:cs typeface="Arial"/>
              </a:rPr>
              <a:t>exponencial</a:t>
            </a:r>
            <a:r>
              <a:rPr lang="en-US" sz="1200">
                <a:solidFill>
                  <a:srgbClr val="27251E"/>
                </a:solidFill>
                <a:latin typeface="Arial"/>
                <a:ea typeface="+mn-lt"/>
                <a:cs typeface="Arial"/>
              </a:rPr>
              <a:t> con </a:t>
            </a:r>
            <a:r>
              <a:rPr lang="en-US" sz="1200" err="1">
                <a:solidFill>
                  <a:srgbClr val="27251E"/>
                </a:solidFill>
                <a:latin typeface="Arial"/>
                <a:ea typeface="+mn-lt"/>
                <a:cs typeface="Arial"/>
              </a:rPr>
              <a:t>el</a:t>
            </a:r>
            <a:r>
              <a:rPr lang="en-US" sz="1200">
                <a:solidFill>
                  <a:srgbClr val="27251E"/>
                </a:solidFill>
                <a:latin typeface="Arial"/>
                <a:ea typeface="+mn-lt"/>
                <a:cs typeface="Arial"/>
              </a:rPr>
              <a:t> gap, lo </a:t>
            </a:r>
            <a:r>
              <a:rPr lang="en-US" sz="1200" err="1">
                <a:solidFill>
                  <a:srgbClr val="27251E"/>
                </a:solidFill>
                <a:latin typeface="Arial"/>
                <a:ea typeface="+mn-lt"/>
                <a:cs typeface="Arial"/>
              </a:rPr>
              <a:t>que</a:t>
            </a:r>
            <a:r>
              <a:rPr lang="en-US" sz="1200">
                <a:solidFill>
                  <a:srgbClr val="27251E"/>
                </a:solidFill>
                <a:latin typeface="Arial"/>
                <a:ea typeface="+mn-lt"/>
                <a:cs typeface="Arial"/>
              </a:rPr>
              <a:t> </a:t>
            </a:r>
            <a:r>
              <a:rPr lang="en-US" sz="1200" err="1">
                <a:solidFill>
                  <a:srgbClr val="27251E"/>
                </a:solidFill>
                <a:latin typeface="Arial"/>
                <a:ea typeface="+mn-lt"/>
                <a:cs typeface="Arial"/>
              </a:rPr>
              <a:t>refleja</a:t>
            </a:r>
            <a:r>
              <a:rPr lang="en-US" sz="1200">
                <a:solidFill>
                  <a:srgbClr val="27251E"/>
                </a:solidFill>
                <a:latin typeface="Arial"/>
                <a:ea typeface="+mn-lt"/>
                <a:cs typeface="Arial"/>
              </a:rPr>
              <a:t> </a:t>
            </a:r>
            <a:r>
              <a:rPr lang="en-US" sz="1200" err="1">
                <a:solidFill>
                  <a:srgbClr val="27251E"/>
                </a:solidFill>
                <a:latin typeface="Arial"/>
                <a:ea typeface="+mn-lt"/>
                <a:cs typeface="Arial"/>
              </a:rPr>
              <a:t>que</a:t>
            </a:r>
            <a:r>
              <a:rPr lang="en-US" sz="1200">
                <a:solidFill>
                  <a:srgbClr val="27251E"/>
                </a:solidFill>
                <a:latin typeface="Arial"/>
                <a:ea typeface="+mn-lt"/>
                <a:cs typeface="Arial"/>
              </a:rPr>
              <a:t> la luz </a:t>
            </a:r>
            <a:r>
              <a:rPr lang="en-US" sz="1200" err="1">
                <a:solidFill>
                  <a:srgbClr val="27251E"/>
                </a:solidFill>
                <a:latin typeface="Arial"/>
                <a:ea typeface="+mn-lt"/>
                <a:cs typeface="Arial"/>
              </a:rPr>
              <a:t>necesita</a:t>
            </a:r>
            <a:r>
              <a:rPr lang="en-US" sz="1200">
                <a:solidFill>
                  <a:srgbClr val="27251E"/>
                </a:solidFill>
                <a:latin typeface="Arial"/>
                <a:ea typeface="+mn-lt"/>
                <a:cs typeface="Arial"/>
              </a:rPr>
              <a:t> </a:t>
            </a:r>
            <a:r>
              <a:rPr lang="en-US" sz="1200" err="1">
                <a:solidFill>
                  <a:srgbClr val="27251E"/>
                </a:solidFill>
                <a:latin typeface="Arial"/>
                <a:ea typeface="+mn-lt"/>
                <a:cs typeface="Arial"/>
              </a:rPr>
              <a:t>recorrer</a:t>
            </a:r>
            <a:r>
              <a:rPr lang="en-US" sz="1200">
                <a:solidFill>
                  <a:srgbClr val="27251E"/>
                </a:solidFill>
                <a:latin typeface="Arial"/>
                <a:ea typeface="+mn-lt"/>
                <a:cs typeface="Arial"/>
              </a:rPr>
              <a:t> </a:t>
            </a:r>
            <a:r>
              <a:rPr lang="en-US" sz="1200" err="1">
                <a:solidFill>
                  <a:srgbClr val="27251E"/>
                </a:solidFill>
                <a:latin typeface="Arial"/>
                <a:ea typeface="+mn-lt"/>
                <a:cs typeface="Arial"/>
              </a:rPr>
              <a:t>una</a:t>
            </a:r>
            <a:r>
              <a:rPr lang="en-US" sz="1200">
                <a:solidFill>
                  <a:srgbClr val="27251E"/>
                </a:solidFill>
                <a:latin typeface="Arial"/>
                <a:ea typeface="+mn-lt"/>
                <a:cs typeface="Arial"/>
              </a:rPr>
              <a:t> </a:t>
            </a:r>
            <a:r>
              <a:rPr lang="en-US" sz="1200" err="1">
                <a:solidFill>
                  <a:srgbClr val="27251E"/>
                </a:solidFill>
                <a:latin typeface="Arial"/>
                <a:ea typeface="+mn-lt"/>
                <a:cs typeface="Arial"/>
              </a:rPr>
              <a:t>distancia</a:t>
            </a:r>
            <a:r>
              <a:rPr lang="en-US" sz="1200">
                <a:solidFill>
                  <a:srgbClr val="27251E"/>
                </a:solidFill>
                <a:latin typeface="Arial"/>
                <a:ea typeface="+mn-lt"/>
                <a:cs typeface="Arial"/>
              </a:rPr>
              <a:t> </a:t>
            </a:r>
            <a:r>
              <a:rPr lang="en-US" sz="1200" err="1">
                <a:solidFill>
                  <a:srgbClr val="27251E"/>
                </a:solidFill>
                <a:latin typeface="Arial"/>
                <a:ea typeface="+mn-lt"/>
                <a:cs typeface="Arial"/>
              </a:rPr>
              <a:t>enormemente</a:t>
            </a:r>
            <a:r>
              <a:rPr lang="en-US" sz="1200">
                <a:solidFill>
                  <a:srgbClr val="27251E"/>
                </a:solidFill>
                <a:latin typeface="Arial"/>
                <a:ea typeface="+mn-lt"/>
                <a:cs typeface="Arial"/>
              </a:rPr>
              <a:t> mayor para </a:t>
            </a:r>
            <a:r>
              <a:rPr lang="en-US" sz="1200" err="1">
                <a:solidFill>
                  <a:srgbClr val="27251E"/>
                </a:solidFill>
                <a:latin typeface="Arial"/>
                <a:ea typeface="+mn-lt"/>
                <a:cs typeface="Arial"/>
              </a:rPr>
              <a:t>acoplarse</a:t>
            </a:r>
            <a:r>
              <a:rPr lang="en-US" sz="1200">
                <a:solidFill>
                  <a:srgbClr val="27251E"/>
                </a:solidFill>
                <a:latin typeface="Arial"/>
                <a:ea typeface="+mn-lt"/>
                <a:cs typeface="Arial"/>
              </a:rPr>
              <a:t> </a:t>
            </a:r>
            <a:r>
              <a:rPr lang="en-US" sz="1200" err="1">
                <a:solidFill>
                  <a:srgbClr val="27251E"/>
                </a:solidFill>
                <a:latin typeface="Arial"/>
                <a:ea typeface="+mn-lt"/>
                <a:cs typeface="Arial"/>
              </a:rPr>
              <a:t>por</a:t>
            </a:r>
            <a:r>
              <a:rPr lang="en-US" sz="1200">
                <a:solidFill>
                  <a:srgbClr val="27251E"/>
                </a:solidFill>
                <a:latin typeface="Arial"/>
                <a:ea typeface="+mn-lt"/>
                <a:cs typeface="Arial"/>
              </a:rPr>
              <a:t> </a:t>
            </a:r>
            <a:r>
              <a:rPr lang="en-US" sz="1200" err="1">
                <a:solidFill>
                  <a:srgbClr val="27251E"/>
                </a:solidFill>
                <a:latin typeface="Arial"/>
                <a:ea typeface="+mn-lt"/>
                <a:cs typeface="Arial"/>
              </a:rPr>
              <a:t>completo</a:t>
            </a:r>
            <a:r>
              <a:rPr lang="en-US" sz="1200">
                <a:solidFill>
                  <a:srgbClr val="27251E"/>
                </a:solidFill>
                <a:latin typeface="Arial"/>
                <a:ea typeface="+mn-lt"/>
                <a:cs typeface="Arial"/>
              </a:rPr>
              <a:t>.</a:t>
            </a:r>
            <a:endParaRPr lang="en-US">
              <a:latin typeface="Arial"/>
              <a:cs typeface="Arial"/>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5334000" y="2463595"/>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plots and output text here</a:t>
            </a:r>
          </a:p>
        </p:txBody>
      </p:sp>
      <p:pic>
        <p:nvPicPr>
          <p:cNvPr id="4" name="Imagen 3" descr="Gráfico, Gráfico de líneas&#10;&#10;El contenido generado por IA puede ser incorrecto.">
            <a:extLst>
              <a:ext uri="{FF2B5EF4-FFF2-40B4-BE49-F238E27FC236}">
                <a16:creationId xmlns:a16="http://schemas.microsoft.com/office/drawing/2014/main" id="{43D2874D-92B5-5F7E-99E2-F29070F81BD1}"/>
              </a:ext>
            </a:extLst>
          </p:cNvPr>
          <p:cNvPicPr>
            <a:picLocks noChangeAspect="1"/>
          </p:cNvPicPr>
          <p:nvPr/>
        </p:nvPicPr>
        <p:blipFill>
          <a:blip r:embed="rId4"/>
          <a:stretch>
            <a:fillRect/>
          </a:stretch>
        </p:blipFill>
        <p:spPr>
          <a:xfrm>
            <a:off x="6358509" y="1659789"/>
            <a:ext cx="5192024" cy="2938373"/>
          </a:xfrm>
          <a:prstGeom prst="rect">
            <a:avLst/>
          </a:prstGeom>
        </p:spPr>
      </p:pic>
      <p:pic>
        <p:nvPicPr>
          <p:cNvPr id="6" name="Imagen 5" descr="Tabla&#10;&#10;El contenido generado por IA puede ser incorrecto.">
            <a:extLst>
              <a:ext uri="{FF2B5EF4-FFF2-40B4-BE49-F238E27FC236}">
                <a16:creationId xmlns:a16="http://schemas.microsoft.com/office/drawing/2014/main" id="{549978DB-B93C-BF07-0E1F-65FBCAA3826B}"/>
              </a:ext>
            </a:extLst>
          </p:cNvPr>
          <p:cNvPicPr>
            <a:picLocks noChangeAspect="1"/>
          </p:cNvPicPr>
          <p:nvPr/>
        </p:nvPicPr>
        <p:blipFill>
          <a:blip r:embed="rId5"/>
          <a:stretch>
            <a:fillRect/>
          </a:stretch>
        </p:blipFill>
        <p:spPr>
          <a:xfrm>
            <a:off x="2779596" y="2381250"/>
            <a:ext cx="2295525" cy="895350"/>
          </a:xfrm>
          <a:prstGeom prst="rect">
            <a:avLst/>
          </a:prstGeom>
        </p:spPr>
      </p:pic>
      <p:sp>
        <p:nvSpPr>
          <p:cNvPr id="9" name="CuadroTexto 8">
            <a:extLst>
              <a:ext uri="{FF2B5EF4-FFF2-40B4-BE49-F238E27FC236}">
                <a16:creationId xmlns:a16="http://schemas.microsoft.com/office/drawing/2014/main" id="{7F249A17-0AD3-6773-EFF7-73933698A84F}"/>
              </a:ext>
            </a:extLst>
          </p:cNvPr>
          <p:cNvSpPr txBox="1"/>
          <p:nvPr/>
        </p:nvSpPr>
        <p:spPr>
          <a:xfrm>
            <a:off x="946102" y="1898960"/>
            <a:ext cx="48133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27251E"/>
                </a:solidFill>
                <a:latin typeface="Times New Roman" panose="02020603050405020304" pitchFamily="18" charset="0"/>
                <a:cs typeface="Times New Roman" panose="02020603050405020304" pitchFamily="18" charset="0"/>
              </a:rPr>
              <a:t>Calculamos</a:t>
            </a:r>
            <a:r>
              <a:rPr lang="en-US">
                <a:solidFill>
                  <a:srgbClr val="27251E"/>
                </a:solidFill>
                <a:latin typeface="Times New Roman" panose="02020603050405020304" pitchFamily="18" charset="0"/>
                <a:cs typeface="Times New Roman" panose="02020603050405020304" pitchFamily="18" charset="0"/>
              </a:rPr>
              <a:t> las longitudes L</a:t>
            </a:r>
            <a:r>
              <a:rPr lang="el-GR">
                <a:solidFill>
                  <a:srgbClr val="27251E"/>
                </a:solidFill>
                <a:latin typeface="Times New Roman" panose="02020603050405020304" pitchFamily="18" charset="0"/>
                <a:cs typeface="Times New Roman" panose="02020603050405020304" pitchFamily="18" charset="0"/>
              </a:rPr>
              <a:t>π</a:t>
            </a:r>
            <a:r>
              <a:rPr lang="ca-ES-valencia">
                <a:solidFill>
                  <a:srgbClr val="27251E"/>
                </a:solidFill>
                <a:latin typeface="Times New Roman" panose="02020603050405020304" pitchFamily="18" charset="0"/>
                <a:cs typeface="Times New Roman" panose="02020603050405020304" pitchFamily="18" charset="0"/>
              </a:rPr>
              <a:t> usando la relación </a:t>
            </a:r>
            <a:r>
              <a:rPr lang="en-US">
                <a:solidFill>
                  <a:srgbClr val="27251E"/>
                </a:solidFill>
                <a:latin typeface="Times New Roman" panose="02020603050405020304" pitchFamily="18" charset="0"/>
                <a:ea typeface="+mn-lt"/>
                <a:cs typeface="Times New Roman" panose="02020603050405020304" pitchFamily="18" charset="0"/>
              </a:rPr>
              <a:t> neff,0−neff,1:</a:t>
            </a:r>
            <a:endParaRPr lang="es-ES"/>
          </a:p>
        </p:txBody>
      </p:sp>
      <p:sp>
        <p:nvSpPr>
          <p:cNvPr id="10" name="CuadroTexto 9">
            <a:extLst>
              <a:ext uri="{FF2B5EF4-FFF2-40B4-BE49-F238E27FC236}">
                <a16:creationId xmlns:a16="http://schemas.microsoft.com/office/drawing/2014/main" id="{57CCA1CC-643A-5051-2BAD-86A9D1CB4498}"/>
              </a:ext>
            </a:extLst>
          </p:cNvPr>
          <p:cNvSpPr txBox="1"/>
          <p:nvPr/>
        </p:nvSpPr>
        <p:spPr>
          <a:xfrm>
            <a:off x="946102" y="3513333"/>
            <a:ext cx="48133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7251E"/>
                </a:solidFill>
                <a:latin typeface="Times New Roman" panose="02020603050405020304" pitchFamily="18" charset="0"/>
                <a:cs typeface="Times New Roman" panose="02020603050405020304" pitchFamily="18" charset="0"/>
              </a:rPr>
              <a:t>Para L</a:t>
            </a:r>
            <a:r>
              <a:rPr lang="ca-ES-valencia">
                <a:solidFill>
                  <a:srgbClr val="27251E"/>
                </a:solidFill>
                <a:latin typeface="Times New Roman" panose="02020603050405020304" pitchFamily="18" charset="0"/>
                <a:cs typeface="Times New Roman" panose="02020603050405020304" pitchFamily="18" charset="0"/>
              </a:rPr>
              <a:t>50/50, simplemente calculamos </a:t>
            </a:r>
            <a:r>
              <a:rPr lang="en-US">
                <a:solidFill>
                  <a:srgbClr val="27251E"/>
                </a:solidFill>
                <a:latin typeface="Times New Roman" panose="02020603050405020304" pitchFamily="18" charset="0"/>
                <a:cs typeface="Times New Roman" panose="02020603050405020304" pitchFamily="18" charset="0"/>
              </a:rPr>
              <a:t>L</a:t>
            </a:r>
            <a:r>
              <a:rPr lang="el-GR">
                <a:solidFill>
                  <a:srgbClr val="27251E"/>
                </a:solidFill>
                <a:latin typeface="Times New Roman" panose="02020603050405020304" pitchFamily="18" charset="0"/>
                <a:cs typeface="Times New Roman" panose="02020603050405020304" pitchFamily="18" charset="0"/>
              </a:rPr>
              <a:t>π</a:t>
            </a:r>
            <a:r>
              <a:rPr lang="ca-ES-valencia">
                <a:solidFill>
                  <a:srgbClr val="27251E"/>
                </a:solidFill>
                <a:latin typeface="Times New Roman" panose="02020603050405020304" pitchFamily="18" charset="0"/>
                <a:cs typeface="Times New Roman" panose="02020603050405020304" pitchFamily="18" charset="0"/>
              </a:rPr>
              <a:t>/2 y visualizamos</a:t>
            </a:r>
            <a:endParaRPr lang="es-ES"/>
          </a:p>
        </p:txBody>
      </p:sp>
    </p:spTree>
    <p:extLst>
      <p:ext uri="{BB962C8B-B14F-4D97-AF65-F5344CB8AC3E}">
        <p14:creationId xmlns:p14="http://schemas.microsoft.com/office/powerpoint/2010/main" val="1558326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Parallel uncoupled waveguides – TE0 mode</a:t>
            </a:r>
            <a:br>
              <a:rPr lang="en-US" sz="2500" spc="-5">
                <a:latin typeface="+mj-lt"/>
                <a:cs typeface="Lucida Sans"/>
              </a:rPr>
            </a:br>
            <a:r>
              <a:rPr lang="en-US" b="0"/>
              <a:t>Wavelength 1.55 µm, width 1.0 µm, gap to be found for uncoupled </a:t>
            </a:r>
            <a:r>
              <a:rPr lang="en-US" b="0" err="1"/>
              <a:t>wvgs</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495800"/>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Como </a:t>
            </a:r>
            <a:r>
              <a:rPr lang="en-US" sz="1200" err="1">
                <a:latin typeface="Arial" panose="020B0604020202020204" pitchFamily="34" charset="0"/>
                <a:cs typeface="Arial" panose="020B0604020202020204" pitchFamily="34" charset="0"/>
              </a:rPr>
              <a:t>vemos</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caso</a:t>
            </a:r>
            <a:r>
              <a:rPr lang="en-US" sz="1200">
                <a:latin typeface="Arial" panose="020B0604020202020204" pitchFamily="34" charset="0"/>
                <a:cs typeface="Arial" panose="020B0604020202020204" pitchFamily="34" charset="0"/>
              </a:rPr>
              <a:t> del </a:t>
            </a:r>
            <a:r>
              <a:rPr lang="en-US" sz="1200" err="1">
                <a:latin typeface="Arial" panose="020B0604020202020204" pitchFamily="34" charset="0"/>
                <a:cs typeface="Arial" panose="020B0604020202020204" pitchFamily="34" charset="0"/>
              </a:rPr>
              <a:t>acoplador</a:t>
            </a:r>
            <a:r>
              <a:rPr lang="en-US" sz="1200">
                <a:latin typeface="Arial" panose="020B0604020202020204" pitchFamily="34" charset="0"/>
                <a:cs typeface="Arial" panose="020B0604020202020204" pitchFamily="34" charset="0"/>
              </a:rPr>
              <a:t> deep-etched,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gap </a:t>
            </a:r>
            <a:r>
              <a:rPr lang="en-US" sz="1200" err="1">
                <a:latin typeface="Arial" panose="020B0604020202020204" pitchFamily="34" charset="0"/>
                <a:cs typeface="Arial" panose="020B0604020202020204" pitchFamily="34" charset="0"/>
              </a:rPr>
              <a:t>mínimo</a:t>
            </a:r>
            <a:r>
              <a:rPr lang="en-US" sz="1200">
                <a:latin typeface="Arial" panose="020B0604020202020204" pitchFamily="34" charset="0"/>
                <a:cs typeface="Arial" panose="020B0604020202020204" pitchFamily="34" charset="0"/>
              </a:rPr>
              <a:t> es inferior al shallow-etched (4um vs 5um). </a:t>
            </a:r>
          </a:p>
          <a:p>
            <a:pPr marL="171450" indent="-171450" algn="just">
              <a:buFontTx/>
              <a:buChar char="-"/>
            </a:pPr>
            <a:r>
              <a:rPr lang="en-US" sz="1200">
                <a:latin typeface="Arial" panose="020B0604020202020204" pitchFamily="34" charset="0"/>
                <a:cs typeface="Arial" panose="020B0604020202020204" pitchFamily="34" charset="0"/>
              </a:rPr>
              <a:t>Si </a:t>
            </a:r>
            <a:r>
              <a:rPr lang="en-US" sz="1200" err="1">
                <a:latin typeface="Arial" panose="020B0604020202020204" pitchFamily="34" charset="0"/>
                <a:cs typeface="Arial" panose="020B0604020202020204" pitchFamily="34" charset="0"/>
              </a:rPr>
              <a:t>recordamos</a:t>
            </a:r>
            <a:r>
              <a:rPr lang="en-US" sz="1200">
                <a:latin typeface="Arial" panose="020B0604020202020204" pitchFamily="34" charset="0"/>
                <a:cs typeface="Arial" panose="020B0604020202020204" pitchFamily="34" charset="0"/>
              </a:rPr>
              <a:t>, las </a:t>
            </a:r>
            <a:r>
              <a:rPr lang="en-US" sz="1200" err="1">
                <a:latin typeface="Arial" panose="020B0604020202020204" pitchFamily="34" charset="0"/>
                <a:cs typeface="Arial" panose="020B0604020202020204" pitchFamily="34" charset="0"/>
              </a:rPr>
              <a:t>guías</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onda</a:t>
            </a:r>
            <a:r>
              <a:rPr lang="en-US" sz="1200">
                <a:latin typeface="Arial" panose="020B0604020202020204" pitchFamily="34" charset="0"/>
                <a:cs typeface="Arial" panose="020B0604020202020204" pitchFamily="34" charset="0"/>
              </a:rPr>
              <a:t> deep-etched </a:t>
            </a:r>
            <a:r>
              <a:rPr lang="en-US" sz="1200" err="1">
                <a:latin typeface="Arial" panose="020B0604020202020204" pitchFamily="34" charset="0"/>
                <a:cs typeface="Arial" panose="020B0604020202020204" pitchFamily="34" charset="0"/>
              </a:rPr>
              <a:t>presentan</a:t>
            </a:r>
            <a:r>
              <a:rPr lang="en-US" sz="1200">
                <a:latin typeface="Arial" panose="020B0604020202020204" pitchFamily="34" charset="0"/>
                <a:cs typeface="Arial" panose="020B0604020202020204" pitchFamily="34" charset="0"/>
              </a:rPr>
              <a:t> un mayor </a:t>
            </a:r>
            <a:r>
              <a:rPr lang="en-US" sz="1200" err="1">
                <a:latin typeface="Arial" panose="020B0604020202020204" pitchFamily="34" charset="0"/>
                <a:cs typeface="Arial" panose="020B0604020202020204" pitchFamily="34" charset="0"/>
              </a:rPr>
              <a:t>confinamiento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núcleo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por</a:t>
            </a:r>
            <a:r>
              <a:rPr lang="en-US" sz="1200">
                <a:latin typeface="Arial" panose="020B0604020202020204" pitchFamily="34" charset="0"/>
                <a:cs typeface="Arial" panose="020B0604020202020204" pitchFamily="34" charset="0"/>
              </a:rPr>
              <a:t> lo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podemos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deducir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acoplamiento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será</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menor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cuando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coloquemos</a:t>
            </a:r>
            <a:r>
              <a:rPr lang="en-US" sz="1200">
                <a:latin typeface="Arial" panose="020B0604020202020204" pitchFamily="34" charset="0"/>
                <a:cs typeface="Arial" panose="020B0604020202020204" pitchFamily="34" charset="0"/>
              </a:rPr>
              <a:t> dos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paralelo</a:t>
            </a:r>
            <a:r>
              <a:rPr lang="en-US" sz="1200">
                <a:latin typeface="Arial" panose="020B0604020202020204" pitchFamily="34" charset="0"/>
                <a:cs typeface="Arial" panose="020B0604020202020204" pitchFamily="34" charset="0"/>
              </a:rPr>
              <a:t>, lo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consecuencia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representa</a:t>
            </a:r>
            <a:r>
              <a:rPr lang="en-US" sz="1200">
                <a:latin typeface="Arial" panose="020B0604020202020204" pitchFamily="34" charset="0"/>
                <a:cs typeface="Arial" panose="020B0604020202020204" pitchFamily="34" charset="0"/>
              </a:rPr>
              <a:t> un gap </a:t>
            </a:r>
            <a:r>
              <a:rPr lang="en-US" sz="1200" err="1">
                <a:latin typeface="Arial" panose="020B0604020202020204" pitchFamily="34" charset="0"/>
                <a:cs typeface="Arial" panose="020B0604020202020204" pitchFamily="34" charset="0"/>
              </a:rPr>
              <a:t>mínimo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menor</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cumplir</a:t>
            </a:r>
            <a:r>
              <a:rPr lang="en-US" sz="1200">
                <a:latin typeface="Arial" panose="020B0604020202020204" pitchFamily="34" charset="0"/>
                <a:cs typeface="Arial" panose="020B0604020202020204" pitchFamily="34" charset="0"/>
              </a:rPr>
              <a:t> con las </a:t>
            </a:r>
            <a:r>
              <a:rPr lang="en-US" sz="1200" err="1">
                <a:latin typeface="Arial" panose="020B0604020202020204" pitchFamily="34" charset="0"/>
                <a:cs typeface="Arial" panose="020B0604020202020204" pitchFamily="34" charset="0"/>
              </a:rPr>
              <a:t>condiciones</a:t>
            </a:r>
            <a:r>
              <a:rPr lang="en-US" sz="1200">
                <a:latin typeface="Arial" panose="020B0604020202020204" pitchFamily="34" charset="0"/>
                <a:cs typeface="Arial" panose="020B0604020202020204" pitchFamily="34" charset="0"/>
              </a:rPr>
              <a:t> de no </a:t>
            </a:r>
            <a:r>
              <a:rPr lang="en-US" sz="1200" err="1">
                <a:latin typeface="Arial" panose="020B0604020202020204" pitchFamily="34" charset="0"/>
                <a:cs typeface="Arial" panose="020B0604020202020204" pitchFamily="34" charset="0"/>
              </a:rPr>
              <a:t>acoplo</a:t>
            </a:r>
            <a:r>
              <a:rPr lang="en-US" sz="1200">
                <a:latin typeface="Arial" panose="020B0604020202020204" pitchFamily="34" charset="0"/>
                <a:cs typeface="Arial" panose="020B0604020202020204" pitchFamily="34" charset="0"/>
              </a:rPr>
              <a:t> (K&lt;0.01).</a:t>
            </a:r>
          </a:p>
          <a:p>
            <a:pPr marL="171450" indent="-171450" algn="just">
              <a:buFontTx/>
              <a:buChar char="-"/>
            </a:pPr>
            <a:r>
              <a:rPr lang="en-US" sz="1200">
                <a:latin typeface="Arial" panose="020B0604020202020204" pitchFamily="34" charset="0"/>
                <a:cs typeface="Arial" panose="020B0604020202020204" pitchFamily="34" charset="0"/>
              </a:rPr>
              <a:t>Por </a:t>
            </a:r>
            <a:r>
              <a:rPr lang="en-US" sz="1200" err="1">
                <a:latin typeface="Arial" panose="020B0604020202020204" pitchFamily="34" charset="0"/>
                <a:cs typeface="Arial" panose="020B0604020202020204" pitchFamily="34" charset="0"/>
              </a:rPr>
              <a:t>otro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lado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las </a:t>
            </a:r>
            <a:r>
              <a:rPr lang="en-US" sz="1200" err="1">
                <a:latin typeface="Arial" panose="020B0604020202020204" pitchFamily="34" charset="0"/>
                <a:cs typeface="Arial" panose="020B0604020202020204" pitchFamily="34" charset="0"/>
              </a:rPr>
              <a:t>guías</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onda</a:t>
            </a:r>
            <a:r>
              <a:rPr lang="en-US" sz="1200">
                <a:latin typeface="Arial" panose="020B0604020202020204" pitchFamily="34" charset="0"/>
                <a:cs typeface="Arial" panose="020B0604020202020204" pitchFamily="34" charset="0"/>
              </a:rPr>
              <a:t> shallow-etched,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campo </a:t>
            </a:r>
            <a:r>
              <a:rPr lang="en-US" sz="1200" err="1">
                <a:latin typeface="Arial" panose="020B0604020202020204" pitchFamily="34" charset="0"/>
                <a:cs typeface="Arial" panose="020B0604020202020204" pitchFamily="34" charset="0"/>
              </a:rPr>
              <a:t>está</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menos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confinado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por</a:t>
            </a:r>
            <a:r>
              <a:rPr lang="en-US" sz="1200">
                <a:latin typeface="Arial" panose="020B0604020202020204" pitchFamily="34" charset="0"/>
                <a:cs typeface="Arial" panose="020B0604020202020204" pitchFamily="34" charset="0"/>
              </a:rPr>
              <a:t> lo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gap </a:t>
            </a:r>
            <a:r>
              <a:rPr lang="en-US" sz="1200" err="1">
                <a:latin typeface="Arial" panose="020B0604020202020204" pitchFamily="34" charset="0"/>
                <a:cs typeface="Arial" panose="020B0604020202020204" pitchFamily="34" charset="0"/>
              </a:rPr>
              <a:t>mínimo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requerido</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no </a:t>
            </a:r>
            <a:r>
              <a:rPr lang="en-US" sz="1200" err="1">
                <a:latin typeface="Arial" panose="020B0604020202020204" pitchFamily="34" charset="0"/>
                <a:cs typeface="Arial" panose="020B0604020202020204" pitchFamily="34" charset="0"/>
              </a:rPr>
              <a:t>haya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acoplo</a:t>
            </a:r>
            <a:r>
              <a:rPr lang="en-US" sz="1200">
                <a:latin typeface="Arial" panose="020B0604020202020204" pitchFamily="34" charset="0"/>
                <a:cs typeface="Arial" panose="020B0604020202020204" pitchFamily="34" charset="0"/>
              </a:rPr>
              <a:t> entre </a:t>
            </a:r>
            <a:r>
              <a:rPr lang="en-US" sz="1200" err="1">
                <a:latin typeface="Arial" panose="020B0604020202020204" pitchFamily="34" charset="0"/>
                <a:cs typeface="Arial" panose="020B0604020202020204" pitchFamily="34" charset="0"/>
              </a:rPr>
              <a:t>guías</a:t>
            </a:r>
            <a:r>
              <a:rPr lang="en-US" sz="1200">
                <a:latin typeface="Arial" panose="020B0604020202020204" pitchFamily="34" charset="0"/>
                <a:cs typeface="Arial" panose="020B0604020202020204" pitchFamily="34" charset="0"/>
              </a:rPr>
              <a:t> es mayor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para las deep-etched,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este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caso</a:t>
            </a:r>
            <a:r>
              <a:rPr lang="en-US" sz="1200">
                <a:latin typeface="Arial" panose="020B0604020202020204" pitchFamily="34" charset="0"/>
                <a:cs typeface="Arial" panose="020B0604020202020204" pitchFamily="34" charset="0"/>
              </a:rPr>
              <a:t> 5um.</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Por </a:t>
            </a:r>
            <a:r>
              <a:rPr lang="en-US" sz="1200" err="1">
                <a:latin typeface="Arial" panose="020B0604020202020204" pitchFamily="34" charset="0"/>
                <a:cs typeface="Arial" panose="020B0604020202020204" pitchFamily="34" charset="0"/>
              </a:rPr>
              <a:t>otra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parte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vemos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simulación</a:t>
            </a:r>
            <a:r>
              <a:rPr lang="en-US" sz="1200">
                <a:latin typeface="Arial" panose="020B0604020202020204" pitchFamily="34" charset="0"/>
                <a:cs typeface="Arial" panose="020B0604020202020204" pitchFamily="34" charset="0"/>
              </a:rPr>
              <a:t> de deep-etched </a:t>
            </a:r>
            <a:r>
              <a:rPr lang="en-US" sz="1200" err="1">
                <a:latin typeface="Arial" panose="020B0604020202020204" pitchFamily="34" charset="0"/>
                <a:cs typeface="Arial" panose="020B0604020202020204" pitchFamily="34" charset="0"/>
              </a:rPr>
              <a:t>presenta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una</a:t>
            </a:r>
            <a:r>
              <a:rPr lang="en-US" sz="1200">
                <a:latin typeface="Arial" panose="020B0604020202020204" pitchFamily="34" charset="0"/>
                <a:cs typeface="Arial" panose="020B0604020202020204" pitchFamily="34" charset="0"/>
              </a:rPr>
              <a:t> forma </a:t>
            </a:r>
            <a:r>
              <a:rPr lang="en-US" sz="1200" err="1">
                <a:latin typeface="Arial" panose="020B0604020202020204" pitchFamily="34" charset="0"/>
                <a:cs typeface="Arial" panose="020B0604020202020204" pitchFamily="34" charset="0"/>
              </a:rPr>
              <a:t>inesperada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ya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esperaríamos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tener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una</a:t>
            </a:r>
            <a:r>
              <a:rPr lang="en-US" sz="1200">
                <a:latin typeface="Arial" panose="020B0604020202020204" pitchFamily="34" charset="0"/>
                <a:cs typeface="Arial" panose="020B0604020202020204" pitchFamily="34" charset="0"/>
              </a:rPr>
              <a:t> curva </a:t>
            </a:r>
            <a:r>
              <a:rPr lang="en-US" sz="1200" err="1">
                <a:latin typeface="Arial" panose="020B0604020202020204" pitchFamily="34" charset="0"/>
                <a:cs typeface="Arial" panose="020B0604020202020204" pitchFamily="34" charset="0"/>
              </a:rPr>
              <a:t>creciente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donde</a:t>
            </a:r>
            <a:r>
              <a:rPr lang="en-US" sz="1200">
                <a:latin typeface="Arial" panose="020B0604020202020204" pitchFamily="34" charset="0"/>
                <a:cs typeface="Arial" panose="020B0604020202020204" pitchFamily="34" charset="0"/>
              </a:rPr>
              <a:t> la L</a:t>
            </a:r>
            <a:r>
              <a:rPr lang="el-GR" sz="1200">
                <a:latin typeface="Times New Roman" panose="02020603050405020304" pitchFamily="18" charset="0"/>
                <a:cs typeface="Times New Roman" panose="02020603050405020304" pitchFamily="18" charset="0"/>
              </a:rPr>
              <a:t>π</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óptima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cruzase</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manera</a:t>
            </a:r>
            <a:r>
              <a:rPr lang="en-US" sz="1200">
                <a:latin typeface="Arial" panose="020B0604020202020204" pitchFamily="34" charset="0"/>
                <a:cs typeface="Arial" panose="020B0604020202020204" pitchFamily="34" charset="0"/>
              </a:rPr>
              <a:t> continua y regular con </a:t>
            </a:r>
            <a:r>
              <a:rPr lang="en-US" sz="1200" err="1">
                <a:latin typeface="Arial" panose="020B0604020202020204" pitchFamily="34" charset="0"/>
                <a:cs typeface="Arial" panose="020B0604020202020204" pitchFamily="34" charset="0"/>
              </a:rPr>
              <a:t>su</a:t>
            </a:r>
            <a:r>
              <a:rPr lang="en-US" sz="1200">
                <a:latin typeface="Arial" panose="020B0604020202020204" pitchFamily="34" charset="0"/>
                <a:cs typeface="Arial" panose="020B0604020202020204" pitchFamily="34" charset="0"/>
              </a:rPr>
              <a:t> gap </a:t>
            </a:r>
            <a:r>
              <a:rPr lang="en-US" sz="1200" err="1">
                <a:latin typeface="Arial" panose="020B0604020202020204" pitchFamily="34" charset="0"/>
                <a:cs typeface="Arial" panose="020B0604020202020204" pitchFamily="34" charset="0"/>
              </a:rPr>
              <a:t>mínimo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correspondiente</a:t>
            </a:r>
            <a:r>
              <a:rPr lang="en-US" sz="1200">
                <a:latin typeface="Arial" panose="020B0604020202020204" pitchFamily="34" charset="0"/>
                <a:cs typeface="Arial" panose="020B0604020202020204" pitchFamily="34" charset="0"/>
              </a:rPr>
              <a:t>. Es </a:t>
            </a:r>
            <a:r>
              <a:rPr lang="en-US" sz="1200" err="1">
                <a:latin typeface="Arial" panose="020B0604020202020204" pitchFamily="34" charset="0"/>
                <a:cs typeface="Arial" panose="020B0604020202020204" pitchFamily="34" charset="0"/>
              </a:rPr>
              <a:t>por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ello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también la </a:t>
            </a:r>
            <a:r>
              <a:rPr lang="en-US" sz="1200" err="1">
                <a:latin typeface="Arial" panose="020B0604020202020204" pitchFamily="34" charset="0"/>
                <a:cs typeface="Arial" panose="020B0604020202020204" pitchFamily="34" charset="0"/>
              </a:rPr>
              <a:t>calculada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manualmente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difiere</a:t>
            </a:r>
            <a:r>
              <a:rPr lang="en-US" sz="1200">
                <a:latin typeface="Arial" panose="020B0604020202020204" pitchFamily="34" charset="0"/>
                <a:cs typeface="Arial" panose="020B0604020202020204" pitchFamily="34" charset="0"/>
              </a:rPr>
              <a:t> de la </a:t>
            </a:r>
            <a:r>
              <a:rPr lang="en-US" sz="1200" err="1">
                <a:latin typeface="Arial" panose="020B0604020202020204" pitchFamily="34" charset="0"/>
                <a:cs typeface="Arial" panose="020B0604020202020204" pitchFamily="34" charset="0"/>
              </a:rPr>
              <a:t>calculada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iterativamente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pensamos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debido</a:t>
            </a:r>
            <a:r>
              <a:rPr lang="en-US" sz="1200">
                <a:latin typeface="Arial" panose="020B0604020202020204" pitchFamily="34" charset="0"/>
                <a:cs typeface="Arial" panose="020B0604020202020204" pitchFamily="34" charset="0"/>
              </a:rPr>
              <a:t> al solver, hay </a:t>
            </a:r>
            <a:r>
              <a:rPr lang="en-US" sz="1200" err="1">
                <a:latin typeface="Arial" panose="020B0604020202020204" pitchFamily="34" charset="0"/>
                <a:cs typeface="Arial" panose="020B0604020202020204" pitchFamily="34" charset="0"/>
              </a:rPr>
              <a:t>ciertos</a:t>
            </a:r>
            <a:r>
              <a:rPr lang="en-US" sz="1200">
                <a:latin typeface="Arial" panose="020B0604020202020204" pitchFamily="34" charset="0"/>
                <a:cs typeface="Arial" panose="020B0604020202020204" pitchFamily="34" charset="0"/>
              </a:rPr>
              <a:t> puntos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no </a:t>
            </a:r>
            <a:r>
              <a:rPr lang="en-US" sz="1200" err="1">
                <a:latin typeface="Arial" panose="020B0604020202020204" pitchFamily="34" charset="0"/>
                <a:cs typeface="Arial" panose="020B0604020202020204" pitchFamily="34" charset="0"/>
              </a:rPr>
              <a:t>siguen</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tendencia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creciente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como</a:t>
            </a:r>
            <a:r>
              <a:rPr lang="en-US" sz="1200">
                <a:latin typeface="Arial" panose="020B0604020202020204" pitchFamily="34" charset="0"/>
                <a:cs typeface="Arial" panose="020B0604020202020204" pitchFamily="34" charset="0"/>
              </a:rPr>
              <a:t> es de </a:t>
            </a:r>
            <a:r>
              <a:rPr lang="en-US" sz="1200" err="1">
                <a:latin typeface="Arial" panose="020B0604020202020204" pitchFamily="34" charset="0"/>
                <a:cs typeface="Arial" panose="020B0604020202020204" pitchFamily="34" charset="0"/>
              </a:rPr>
              <a:t>esperar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sino</a:t>
            </a:r>
            <a:r>
              <a:rPr lang="en-US" sz="1200">
                <a:latin typeface="Arial" panose="020B0604020202020204" pitchFamily="34" charset="0"/>
                <a:cs typeface="Arial" panose="020B0604020202020204" pitchFamily="34" charset="0"/>
              </a:rPr>
              <a:t> no </a:t>
            </a:r>
            <a:r>
              <a:rPr lang="en-US" sz="1200" err="1">
                <a:latin typeface="Arial" panose="020B0604020202020204" pitchFamily="34" charset="0"/>
                <a:cs typeface="Arial" panose="020B0604020202020204" pitchFamily="34" charset="0"/>
              </a:rPr>
              <a:t>habría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solución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matemática</a:t>
            </a:r>
            <a:r>
              <a:rPr lang="en-US" sz="1200">
                <a:latin typeface="Arial" panose="020B0604020202020204" pitchFamily="34" charset="0"/>
                <a:cs typeface="Arial" panose="020B0604020202020204" pitchFamily="34" charset="0"/>
              </a:rPr>
              <a:t>).</a:t>
            </a:r>
          </a:p>
        </p:txBody>
      </p:sp>
      <p:sp>
        <p:nvSpPr>
          <p:cNvPr id="4" name="Rectángulo 3">
            <a:extLst>
              <a:ext uri="{FF2B5EF4-FFF2-40B4-BE49-F238E27FC236}">
                <a16:creationId xmlns:a16="http://schemas.microsoft.com/office/drawing/2014/main" id="{FB4B77A0-B37C-3130-FB52-4E560C66946F}"/>
              </a:ext>
            </a:extLst>
          </p:cNvPr>
          <p:cNvSpPr/>
          <p:nvPr/>
        </p:nvSpPr>
        <p:spPr>
          <a:xfrm>
            <a:off x="609441" y="11430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1430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04296"/>
                <a:ext cx="4546634" cy="1477328"/>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r>
                      <a:rPr lang="es-ES" b="0" i="1" smtClean="0">
                        <a:latin typeface="Cambria Math" panose="02040503050406030204" pitchFamily="18" charset="0"/>
                      </a:rPr>
                      <m:t>𝐾</m:t>
                    </m:r>
                  </m:oMath>
                </a14:m>
                <a:r>
                  <a:rPr lang="en-US"/>
                  <a:t> vs gap for 10 mm </a:t>
                </a:r>
                <a:r>
                  <a:rPr lang="en-US" err="1"/>
                  <a:t>wvgs</a:t>
                </a:r>
                <a:r>
                  <a:rPr lang="en-US"/>
                  <a:t> to be uncoupled</a:t>
                </a:r>
              </a:p>
              <a:p>
                <a:pPr algn="ctr"/>
                <a:endParaRPr lang="en-US"/>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04296"/>
                <a:ext cx="4546634" cy="1477328"/>
              </a:xfrm>
              <a:prstGeom prst="rect">
                <a:avLst/>
              </a:prstGeom>
              <a:blipFill>
                <a:blip r:embed="rId4"/>
                <a:stretch>
                  <a:fillRect t="-20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04296"/>
                <a:ext cx="4546634" cy="1477328"/>
              </a:xfrm>
              <a:prstGeom prst="rect">
                <a:avLst/>
              </a:prstGeom>
              <a:noFill/>
            </p:spPr>
            <p:txBody>
              <a:bodyPr wrap="square" rtlCol="0">
                <a:spAutoFit/>
              </a:bodyPr>
              <a:lstStyle/>
              <a:p>
                <a:pPr algn="ctr"/>
                <a:r>
                  <a:rPr lang="en-US" b="1"/>
                  <a:t>shallow</a:t>
                </a:r>
                <a:r>
                  <a:rPr lang="en-US"/>
                  <a:t> waveguide</a:t>
                </a:r>
              </a:p>
              <a:p>
                <a:pPr algn="ctr"/>
                <a:r>
                  <a:rPr lang="en-US" err="1"/>
                  <a:t>slab_thickness</a:t>
                </a:r>
                <a:r>
                  <a:rPr lang="en-US"/>
                  <a:t> = 150 nm</a:t>
                </a:r>
              </a:p>
              <a:p>
                <a:pPr algn="ctr"/>
                <a:endParaRPr lang="en-US"/>
              </a:p>
              <a:p>
                <a:pPr algn="ctr"/>
                <a:r>
                  <a:rPr lang="en-US"/>
                  <a:t>Paste </a:t>
                </a:r>
                <a14:m>
                  <m:oMath xmlns:m="http://schemas.openxmlformats.org/officeDocument/2006/math">
                    <m:r>
                      <a:rPr lang="es-ES" i="1">
                        <a:latin typeface="Cambria Math" panose="02040503050406030204" pitchFamily="18" charset="0"/>
                      </a:rPr>
                      <m:t>𝐾</m:t>
                    </m:r>
                  </m:oMath>
                </a14:m>
                <a:r>
                  <a:rPr lang="en-US"/>
                  <a:t> vs gap for 10 mm </a:t>
                </a:r>
                <a:r>
                  <a:rPr lang="en-US" err="1"/>
                  <a:t>wvgs</a:t>
                </a:r>
                <a:r>
                  <a:rPr lang="en-US"/>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04296"/>
                <a:ext cx="4546634" cy="1477328"/>
              </a:xfrm>
              <a:prstGeom prst="rect">
                <a:avLst/>
              </a:prstGeom>
              <a:blipFill>
                <a:blip r:embed="rId5"/>
                <a:stretch>
                  <a:fillRect t="-2058" b="-5350"/>
                </a:stretch>
              </a:blipFill>
            </p:spPr>
            <p:txBody>
              <a:bodyPr/>
              <a:lstStyle/>
              <a:p>
                <a:r>
                  <a:rPr lang="en-US">
                    <a:noFill/>
                  </a:rPr>
                  <a:t> </a:t>
                </a:r>
              </a:p>
            </p:txBody>
          </p:sp>
        </mc:Fallback>
      </mc:AlternateContent>
      <p:pic>
        <p:nvPicPr>
          <p:cNvPr id="7" name="Imagen 6">
            <a:extLst>
              <a:ext uri="{FF2B5EF4-FFF2-40B4-BE49-F238E27FC236}">
                <a16:creationId xmlns:a16="http://schemas.microsoft.com/office/drawing/2014/main" id="{731FBC5D-41A9-B80C-57B1-3DADAE18C457}"/>
              </a:ext>
            </a:extLst>
          </p:cNvPr>
          <p:cNvPicPr>
            <a:picLocks noChangeAspect="1"/>
          </p:cNvPicPr>
          <p:nvPr/>
        </p:nvPicPr>
        <p:blipFill>
          <a:blip r:embed="rId6"/>
          <a:stretch>
            <a:fillRect/>
          </a:stretch>
        </p:blipFill>
        <p:spPr>
          <a:xfrm>
            <a:off x="6409944" y="1371600"/>
            <a:ext cx="5248656" cy="2971800"/>
          </a:xfrm>
          <a:prstGeom prst="rect">
            <a:avLst/>
          </a:prstGeom>
        </p:spPr>
      </p:pic>
      <p:pic>
        <p:nvPicPr>
          <p:cNvPr id="11" name="Imagen 10">
            <a:extLst>
              <a:ext uri="{FF2B5EF4-FFF2-40B4-BE49-F238E27FC236}">
                <a16:creationId xmlns:a16="http://schemas.microsoft.com/office/drawing/2014/main" id="{64C3CF58-74D2-41AE-9217-54A17E23C588}"/>
              </a:ext>
            </a:extLst>
          </p:cNvPr>
          <p:cNvPicPr>
            <a:picLocks noChangeAspect="1"/>
          </p:cNvPicPr>
          <p:nvPr/>
        </p:nvPicPr>
        <p:blipFill>
          <a:blip r:embed="rId7">
            <a:extLst>
              <a:ext uri="{28A0092B-C50C-407E-A947-70E740481C1C}">
                <a14:useLocalDpi xmlns:a14="http://schemas.microsoft.com/office/drawing/2010/main" val="0"/>
              </a:ext>
            </a:extLst>
          </a:blip>
          <a:srcRect t="672" r="3846" b="672"/>
          <a:stretch>
            <a:fillRect/>
          </a:stretch>
        </p:blipFill>
        <p:spPr>
          <a:xfrm>
            <a:off x="7162800" y="2034247"/>
            <a:ext cx="1905000" cy="732618"/>
          </a:xfrm>
          <a:prstGeom prst="rect">
            <a:avLst/>
          </a:prstGeom>
        </p:spPr>
      </p:pic>
      <p:pic>
        <p:nvPicPr>
          <p:cNvPr id="13" name="Imagen 12">
            <a:extLst>
              <a:ext uri="{FF2B5EF4-FFF2-40B4-BE49-F238E27FC236}">
                <a16:creationId xmlns:a16="http://schemas.microsoft.com/office/drawing/2014/main" id="{FC7B1260-125A-6C08-73F8-FE55A5C5F1BC}"/>
              </a:ext>
            </a:extLst>
          </p:cNvPr>
          <p:cNvPicPr>
            <a:picLocks noChangeAspect="1"/>
          </p:cNvPicPr>
          <p:nvPr/>
        </p:nvPicPr>
        <p:blipFill>
          <a:blip r:embed="rId8"/>
          <a:srcRect b="2523"/>
          <a:stretch>
            <a:fillRect/>
          </a:stretch>
        </p:blipFill>
        <p:spPr>
          <a:xfrm>
            <a:off x="689991" y="1475547"/>
            <a:ext cx="5343525" cy="2944053"/>
          </a:xfrm>
          <a:prstGeom prst="rect">
            <a:avLst/>
          </a:prstGeom>
        </p:spPr>
      </p:pic>
      <p:pic>
        <p:nvPicPr>
          <p:cNvPr id="15" name="Imagen 14">
            <a:extLst>
              <a:ext uri="{FF2B5EF4-FFF2-40B4-BE49-F238E27FC236}">
                <a16:creationId xmlns:a16="http://schemas.microsoft.com/office/drawing/2014/main" id="{E3EE4D38-5B11-1F65-8DAC-CB15AF434A5D}"/>
              </a:ext>
            </a:extLst>
          </p:cNvPr>
          <p:cNvPicPr>
            <a:picLocks noChangeAspect="1"/>
          </p:cNvPicPr>
          <p:nvPr/>
        </p:nvPicPr>
        <p:blipFill>
          <a:blip r:embed="rId9"/>
          <a:stretch>
            <a:fillRect/>
          </a:stretch>
        </p:blipFill>
        <p:spPr>
          <a:xfrm>
            <a:off x="1447799" y="2916549"/>
            <a:ext cx="1828801" cy="685800"/>
          </a:xfrm>
          <a:prstGeom prst="rect">
            <a:avLst/>
          </a:prstGeom>
        </p:spPr>
      </p:pic>
      <p:pic>
        <p:nvPicPr>
          <p:cNvPr id="18" name="Imagen 17">
            <a:extLst>
              <a:ext uri="{FF2B5EF4-FFF2-40B4-BE49-F238E27FC236}">
                <a16:creationId xmlns:a16="http://schemas.microsoft.com/office/drawing/2014/main" id="{59022AC4-9D77-D035-D0E1-A73DC546C517}"/>
              </a:ext>
            </a:extLst>
          </p:cNvPr>
          <p:cNvPicPr>
            <a:picLocks noChangeAspect="1"/>
          </p:cNvPicPr>
          <p:nvPr/>
        </p:nvPicPr>
        <p:blipFill>
          <a:blip r:embed="rId10"/>
          <a:stretch>
            <a:fillRect/>
          </a:stretch>
        </p:blipFill>
        <p:spPr>
          <a:xfrm>
            <a:off x="685800" y="1219200"/>
            <a:ext cx="4800600" cy="243739"/>
          </a:xfrm>
          <a:prstGeom prst="rect">
            <a:avLst/>
          </a:prstGeom>
        </p:spPr>
      </p:pic>
      <p:sp>
        <p:nvSpPr>
          <p:cNvPr id="91" name="CuadroTexto 90">
            <a:extLst>
              <a:ext uri="{FF2B5EF4-FFF2-40B4-BE49-F238E27FC236}">
                <a16:creationId xmlns:a16="http://schemas.microsoft.com/office/drawing/2014/main" id="{2D8594FC-ABA3-28A8-2F1E-F660458FCE40}"/>
              </a:ext>
            </a:extLst>
          </p:cNvPr>
          <p:cNvSpPr txBox="1"/>
          <p:nvPr/>
        </p:nvSpPr>
        <p:spPr>
          <a:xfrm>
            <a:off x="2374354" y="2208944"/>
            <a:ext cx="2515432" cy="276999"/>
          </a:xfrm>
          <a:prstGeom prst="rect">
            <a:avLst/>
          </a:prstGeom>
          <a:noFill/>
        </p:spPr>
        <p:txBody>
          <a:bodyPr wrap="none" rtlCol="0">
            <a:spAutoFit/>
          </a:bodyPr>
          <a:lstStyle/>
          <a:p>
            <a:r>
              <a:rPr lang="ca-ES-valencia" sz="1200">
                <a:solidFill>
                  <a:schemeClr val="accent6">
                    <a:lumMod val="75000"/>
                  </a:schemeClr>
                </a:solidFill>
              </a:rPr>
              <a:t>Línea de tendencia que esperaríamos</a:t>
            </a:r>
            <a:endParaRPr lang="es-ES" sz="1200">
              <a:solidFill>
                <a:schemeClr val="accent6">
                  <a:lumMod val="75000"/>
                </a:schemeClr>
              </a:solidFill>
            </a:endParaRPr>
          </a:p>
        </p:txBody>
      </p:sp>
      <p:grpSp>
        <p:nvGrpSpPr>
          <p:cNvPr id="100" name="Grupo 99">
            <a:extLst>
              <a:ext uri="{FF2B5EF4-FFF2-40B4-BE49-F238E27FC236}">
                <a16:creationId xmlns:a16="http://schemas.microsoft.com/office/drawing/2014/main" id="{EE5520D9-F185-78F2-A79B-3F3BA59C4A9C}"/>
              </a:ext>
            </a:extLst>
          </p:cNvPr>
          <p:cNvGrpSpPr/>
          <p:nvPr/>
        </p:nvGrpSpPr>
        <p:grpSpPr>
          <a:xfrm>
            <a:off x="3191070" y="3417000"/>
            <a:ext cx="441000" cy="431640"/>
            <a:chOff x="3191070" y="3417000"/>
            <a:chExt cx="441000" cy="431640"/>
          </a:xfrm>
        </p:grpSpPr>
        <mc:AlternateContent xmlns:mc="http://schemas.openxmlformats.org/markup-compatibility/2006" xmlns:p14="http://schemas.microsoft.com/office/powerpoint/2010/main">
          <mc:Choice Requires="p14">
            <p:contentPart p14:bwMode="auto" r:id="rId11">
              <p14:nvContentPartPr>
                <p14:cNvPr id="92" name="Entrada de lápiz 91">
                  <a:extLst>
                    <a:ext uri="{FF2B5EF4-FFF2-40B4-BE49-F238E27FC236}">
                      <a16:creationId xmlns:a16="http://schemas.microsoft.com/office/drawing/2014/main" id="{2C1256E3-838A-108A-F9ED-5511D6AE4A91}"/>
                    </a:ext>
                  </a:extLst>
                </p14:cNvPr>
                <p14:cNvContentPartPr/>
                <p14:nvPr/>
              </p14:nvContentPartPr>
              <p14:xfrm>
                <a:off x="3191070" y="3687720"/>
                <a:ext cx="163440" cy="160920"/>
              </p14:xfrm>
            </p:contentPart>
          </mc:Choice>
          <mc:Fallback xmlns="">
            <p:pic>
              <p:nvPicPr>
                <p:cNvPr id="92" name="Entrada de lápiz 91">
                  <a:extLst>
                    <a:ext uri="{FF2B5EF4-FFF2-40B4-BE49-F238E27FC236}">
                      <a16:creationId xmlns:a16="http://schemas.microsoft.com/office/drawing/2014/main" id="{2C1256E3-838A-108A-F9ED-5511D6AE4A91}"/>
                    </a:ext>
                  </a:extLst>
                </p:cNvPr>
                <p:cNvPicPr/>
                <p:nvPr/>
              </p:nvPicPr>
              <p:blipFill>
                <a:blip r:embed="rId12"/>
                <a:stretch>
                  <a:fillRect/>
                </a:stretch>
              </p:blipFill>
              <p:spPr>
                <a:xfrm>
                  <a:off x="3186759" y="3683410"/>
                  <a:ext cx="172061" cy="169541"/>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3" name="Entrada de lápiz 92">
                  <a:extLst>
                    <a:ext uri="{FF2B5EF4-FFF2-40B4-BE49-F238E27FC236}">
                      <a16:creationId xmlns:a16="http://schemas.microsoft.com/office/drawing/2014/main" id="{8EA2AA73-3FBB-0A0E-A58E-4724F7C588FC}"/>
                    </a:ext>
                  </a:extLst>
                </p14:cNvPr>
                <p14:cNvContentPartPr/>
                <p14:nvPr/>
              </p14:nvContentPartPr>
              <p14:xfrm>
                <a:off x="3390870" y="3417000"/>
                <a:ext cx="241200" cy="203040"/>
              </p14:xfrm>
            </p:contentPart>
          </mc:Choice>
          <mc:Fallback xmlns="">
            <p:pic>
              <p:nvPicPr>
                <p:cNvPr id="93" name="Entrada de lápiz 92">
                  <a:extLst>
                    <a:ext uri="{FF2B5EF4-FFF2-40B4-BE49-F238E27FC236}">
                      <a16:creationId xmlns:a16="http://schemas.microsoft.com/office/drawing/2014/main" id="{8EA2AA73-3FBB-0A0E-A58E-4724F7C588FC}"/>
                    </a:ext>
                  </a:extLst>
                </p:cNvPr>
                <p:cNvPicPr/>
                <p:nvPr/>
              </p:nvPicPr>
              <p:blipFill>
                <a:blip r:embed="rId14"/>
                <a:stretch>
                  <a:fillRect/>
                </a:stretch>
              </p:blipFill>
              <p:spPr>
                <a:xfrm>
                  <a:off x="3386550" y="3412680"/>
                  <a:ext cx="249840" cy="21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94" name="Entrada de lápiz 93">
                <a:extLst>
                  <a:ext uri="{FF2B5EF4-FFF2-40B4-BE49-F238E27FC236}">
                    <a16:creationId xmlns:a16="http://schemas.microsoft.com/office/drawing/2014/main" id="{33593ABD-16DE-F4B7-9738-74C0F555B19F}"/>
                  </a:ext>
                </a:extLst>
              </p14:cNvPr>
              <p14:cNvContentPartPr/>
              <p14:nvPr/>
            </p14:nvContentPartPr>
            <p14:xfrm>
              <a:off x="3781470" y="3102000"/>
              <a:ext cx="173160" cy="165240"/>
            </p14:xfrm>
          </p:contentPart>
        </mc:Choice>
        <mc:Fallback xmlns="">
          <p:pic>
            <p:nvPicPr>
              <p:cNvPr id="94" name="Entrada de lápiz 93">
                <a:extLst>
                  <a:ext uri="{FF2B5EF4-FFF2-40B4-BE49-F238E27FC236}">
                    <a16:creationId xmlns:a16="http://schemas.microsoft.com/office/drawing/2014/main" id="{33593ABD-16DE-F4B7-9738-74C0F555B19F}"/>
                  </a:ext>
                </a:extLst>
              </p:cNvPr>
              <p:cNvPicPr/>
              <p:nvPr/>
            </p:nvPicPr>
            <p:blipFill>
              <a:blip r:embed="rId16"/>
              <a:stretch>
                <a:fillRect/>
              </a:stretch>
            </p:blipFill>
            <p:spPr>
              <a:xfrm>
                <a:off x="3777150" y="3097689"/>
                <a:ext cx="181800" cy="173861"/>
              </a:xfrm>
              <a:prstGeom prst="rect">
                <a:avLst/>
              </a:prstGeom>
            </p:spPr>
          </p:pic>
        </mc:Fallback>
      </mc:AlternateContent>
      <p:grpSp>
        <p:nvGrpSpPr>
          <p:cNvPr id="99" name="Grupo 98">
            <a:extLst>
              <a:ext uri="{FF2B5EF4-FFF2-40B4-BE49-F238E27FC236}">
                <a16:creationId xmlns:a16="http://schemas.microsoft.com/office/drawing/2014/main" id="{CE87B80E-7707-465A-4E33-6F5D2CA94D2B}"/>
              </a:ext>
            </a:extLst>
          </p:cNvPr>
          <p:cNvGrpSpPr/>
          <p:nvPr/>
        </p:nvGrpSpPr>
        <p:grpSpPr>
          <a:xfrm>
            <a:off x="4124190" y="2592960"/>
            <a:ext cx="504000" cy="360000"/>
            <a:chOff x="4124190" y="2592960"/>
            <a:chExt cx="504000" cy="360000"/>
          </a:xfrm>
        </p:grpSpPr>
        <mc:AlternateContent xmlns:mc="http://schemas.openxmlformats.org/markup-compatibility/2006" xmlns:p14="http://schemas.microsoft.com/office/powerpoint/2010/main">
          <mc:Choice Requires="p14">
            <p:contentPart p14:bwMode="auto" r:id="rId17">
              <p14:nvContentPartPr>
                <p14:cNvPr id="95" name="Entrada de lápiz 94">
                  <a:extLst>
                    <a:ext uri="{FF2B5EF4-FFF2-40B4-BE49-F238E27FC236}">
                      <a16:creationId xmlns:a16="http://schemas.microsoft.com/office/drawing/2014/main" id="{54A0EA2C-C2E7-663E-DD77-8E0A1791FB3F}"/>
                    </a:ext>
                  </a:extLst>
                </p14:cNvPr>
                <p14:cNvContentPartPr/>
                <p14:nvPr/>
              </p14:nvContentPartPr>
              <p14:xfrm>
                <a:off x="4124190" y="2756760"/>
                <a:ext cx="306000" cy="196200"/>
              </p14:xfrm>
            </p:contentPart>
          </mc:Choice>
          <mc:Fallback xmlns="">
            <p:pic>
              <p:nvPicPr>
                <p:cNvPr id="95" name="Entrada de lápiz 94">
                  <a:extLst>
                    <a:ext uri="{FF2B5EF4-FFF2-40B4-BE49-F238E27FC236}">
                      <a16:creationId xmlns:a16="http://schemas.microsoft.com/office/drawing/2014/main" id="{54A0EA2C-C2E7-663E-DD77-8E0A1791FB3F}"/>
                    </a:ext>
                  </a:extLst>
                </p:cNvPr>
                <p:cNvPicPr/>
                <p:nvPr/>
              </p:nvPicPr>
              <p:blipFill>
                <a:blip r:embed="rId18"/>
                <a:stretch>
                  <a:fillRect/>
                </a:stretch>
              </p:blipFill>
              <p:spPr>
                <a:xfrm>
                  <a:off x="4119865" y="2752440"/>
                  <a:ext cx="31465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96" name="Entrada de lápiz 95">
                  <a:extLst>
                    <a:ext uri="{FF2B5EF4-FFF2-40B4-BE49-F238E27FC236}">
                      <a16:creationId xmlns:a16="http://schemas.microsoft.com/office/drawing/2014/main" id="{7DCC3232-7E67-1529-2E2D-C35640D3B809}"/>
                    </a:ext>
                  </a:extLst>
                </p14:cNvPr>
                <p14:cNvContentPartPr/>
                <p14:nvPr/>
              </p14:nvContentPartPr>
              <p14:xfrm>
                <a:off x="4505070" y="2592960"/>
                <a:ext cx="123120" cy="92880"/>
              </p14:xfrm>
            </p:contentPart>
          </mc:Choice>
          <mc:Fallback xmlns="">
            <p:pic>
              <p:nvPicPr>
                <p:cNvPr id="96" name="Entrada de lápiz 95">
                  <a:extLst>
                    <a:ext uri="{FF2B5EF4-FFF2-40B4-BE49-F238E27FC236}">
                      <a16:creationId xmlns:a16="http://schemas.microsoft.com/office/drawing/2014/main" id="{7DCC3232-7E67-1529-2E2D-C35640D3B809}"/>
                    </a:ext>
                  </a:extLst>
                </p:cNvPr>
                <p:cNvPicPr/>
                <p:nvPr/>
              </p:nvPicPr>
              <p:blipFill>
                <a:blip r:embed="rId20"/>
                <a:stretch>
                  <a:fillRect/>
                </a:stretch>
              </p:blipFill>
              <p:spPr>
                <a:xfrm>
                  <a:off x="4500750" y="2588640"/>
                  <a:ext cx="131760" cy="101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
            <p14:nvContentPartPr>
              <p14:cNvPr id="97" name="Entrada de lápiz 96">
                <a:extLst>
                  <a:ext uri="{FF2B5EF4-FFF2-40B4-BE49-F238E27FC236}">
                    <a16:creationId xmlns:a16="http://schemas.microsoft.com/office/drawing/2014/main" id="{7A175C4A-D208-AB49-0787-F39A9328C867}"/>
                  </a:ext>
                </a:extLst>
              </p14:cNvPr>
              <p14:cNvContentPartPr/>
              <p14:nvPr/>
            </p14:nvContentPartPr>
            <p14:xfrm>
              <a:off x="4791270" y="2276160"/>
              <a:ext cx="275760" cy="172080"/>
            </p14:xfrm>
          </p:contentPart>
        </mc:Choice>
        <mc:Fallback xmlns="">
          <p:pic>
            <p:nvPicPr>
              <p:cNvPr id="97" name="Entrada de lápiz 96">
                <a:extLst>
                  <a:ext uri="{FF2B5EF4-FFF2-40B4-BE49-F238E27FC236}">
                    <a16:creationId xmlns:a16="http://schemas.microsoft.com/office/drawing/2014/main" id="{7A175C4A-D208-AB49-0787-F39A9328C867}"/>
                  </a:ext>
                </a:extLst>
              </p:cNvPr>
              <p:cNvPicPr/>
              <p:nvPr/>
            </p:nvPicPr>
            <p:blipFill>
              <a:blip r:embed="rId22"/>
              <a:stretch>
                <a:fillRect/>
              </a:stretch>
            </p:blipFill>
            <p:spPr>
              <a:xfrm>
                <a:off x="4786950" y="2271849"/>
                <a:ext cx="284400" cy="180702"/>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8" name="Entrada de lápiz 97">
                <a:extLst>
                  <a:ext uri="{FF2B5EF4-FFF2-40B4-BE49-F238E27FC236}">
                    <a16:creationId xmlns:a16="http://schemas.microsoft.com/office/drawing/2014/main" id="{C1E1A3B5-2B12-39CA-2739-30FF7E062F20}"/>
                  </a:ext>
                </a:extLst>
              </p14:cNvPr>
              <p14:cNvContentPartPr/>
              <p14:nvPr/>
            </p14:nvContentPartPr>
            <p14:xfrm>
              <a:off x="5194800" y="1958159"/>
              <a:ext cx="291600" cy="194040"/>
            </p14:xfrm>
          </p:contentPart>
        </mc:Choice>
        <mc:Fallback xmlns="">
          <p:pic>
            <p:nvPicPr>
              <p:cNvPr id="98" name="Entrada de lápiz 97">
                <a:extLst>
                  <a:ext uri="{FF2B5EF4-FFF2-40B4-BE49-F238E27FC236}">
                    <a16:creationId xmlns:a16="http://schemas.microsoft.com/office/drawing/2014/main" id="{C1E1A3B5-2B12-39CA-2739-30FF7E062F20}"/>
                  </a:ext>
                </a:extLst>
              </p:cNvPr>
              <p:cNvPicPr/>
              <p:nvPr/>
            </p:nvPicPr>
            <p:blipFill>
              <a:blip r:embed="rId24"/>
              <a:stretch>
                <a:fillRect/>
              </a:stretch>
            </p:blipFill>
            <p:spPr>
              <a:xfrm>
                <a:off x="5190480" y="1953839"/>
                <a:ext cx="30024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01" name="Entrada de lápiz 100">
                <a:extLst>
                  <a:ext uri="{FF2B5EF4-FFF2-40B4-BE49-F238E27FC236}">
                    <a16:creationId xmlns:a16="http://schemas.microsoft.com/office/drawing/2014/main" id="{33DC266C-C50A-447F-449A-CFF2882E124C}"/>
                  </a:ext>
                </a:extLst>
              </p14:cNvPr>
              <p14:cNvContentPartPr/>
              <p14:nvPr/>
            </p14:nvContentPartPr>
            <p14:xfrm>
              <a:off x="5626037" y="1603320"/>
              <a:ext cx="259273" cy="285528"/>
            </p14:xfrm>
          </p:contentPart>
        </mc:Choice>
        <mc:Fallback xmlns="">
          <p:pic>
            <p:nvPicPr>
              <p:cNvPr id="101" name="Entrada de lápiz 100">
                <a:extLst>
                  <a:ext uri="{FF2B5EF4-FFF2-40B4-BE49-F238E27FC236}">
                    <a16:creationId xmlns:a16="http://schemas.microsoft.com/office/drawing/2014/main" id="{33DC266C-C50A-447F-449A-CFF2882E124C}"/>
                  </a:ext>
                </a:extLst>
              </p:cNvPr>
              <p:cNvPicPr/>
              <p:nvPr/>
            </p:nvPicPr>
            <p:blipFill>
              <a:blip r:embed="rId26"/>
              <a:stretch>
                <a:fillRect/>
              </a:stretch>
            </p:blipFill>
            <p:spPr>
              <a:xfrm>
                <a:off x="5621722" y="1598994"/>
                <a:ext cx="267903" cy="294180"/>
              </a:xfrm>
              <a:prstGeom prst="rect">
                <a:avLst/>
              </a:prstGeom>
            </p:spPr>
          </p:pic>
        </mc:Fallback>
      </mc:AlternateContent>
      <p:sp>
        <p:nvSpPr>
          <p:cNvPr id="6" name="CuadroTexto 5">
            <a:extLst>
              <a:ext uri="{FF2B5EF4-FFF2-40B4-BE49-F238E27FC236}">
                <a16:creationId xmlns:a16="http://schemas.microsoft.com/office/drawing/2014/main" id="{D8F8726C-ECA7-208E-9C2C-AAC325B40EA9}"/>
              </a:ext>
            </a:extLst>
          </p:cNvPr>
          <p:cNvSpPr txBox="1"/>
          <p:nvPr/>
        </p:nvSpPr>
        <p:spPr>
          <a:xfrm>
            <a:off x="6321424" y="4080501"/>
            <a:ext cx="2269787" cy="369332"/>
          </a:xfrm>
          <a:prstGeom prst="rect">
            <a:avLst/>
          </a:prstGeom>
          <a:noFill/>
        </p:spPr>
        <p:txBody>
          <a:bodyPr wrap="square">
            <a:spAutoFit/>
          </a:bodyPr>
          <a:lstStyle/>
          <a:p>
            <a:r>
              <a:rPr lang="en-US"/>
              <a:t>slab = 150nm</a:t>
            </a:r>
            <a:endParaRPr lang="es-ES"/>
          </a:p>
        </p:txBody>
      </p:sp>
    </p:spTree>
    <p:extLst>
      <p:ext uri="{BB962C8B-B14F-4D97-AF65-F5344CB8AC3E}">
        <p14:creationId xmlns:p14="http://schemas.microsoft.com/office/powerpoint/2010/main" val="371235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8012" y="3774468"/>
            <a:ext cx="11199971" cy="2677656"/>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a:latin typeface="Arial"/>
                <a:cs typeface="Arial"/>
              </a:rPr>
              <a:t>Para </a:t>
            </a:r>
            <a:r>
              <a:rPr lang="en-US" sz="1200" err="1">
                <a:latin typeface="Arial"/>
                <a:cs typeface="Arial"/>
              </a:rPr>
              <a:t>esta</a:t>
            </a:r>
            <a:r>
              <a:rPr lang="en-US" sz="1200">
                <a:latin typeface="Arial"/>
                <a:cs typeface="Arial"/>
              </a:rPr>
              <a:t> </a:t>
            </a:r>
            <a:r>
              <a:rPr lang="en-US" sz="1200" err="1">
                <a:latin typeface="Arial"/>
                <a:cs typeface="Arial"/>
              </a:rPr>
              <a:t>segunda</a:t>
            </a:r>
            <a:r>
              <a:rPr lang="en-US" sz="1200">
                <a:latin typeface="Arial"/>
                <a:cs typeface="Arial"/>
              </a:rPr>
              <a:t> </a:t>
            </a:r>
            <a:r>
              <a:rPr lang="en-US" sz="1200" err="1">
                <a:latin typeface="Arial"/>
                <a:cs typeface="Arial"/>
              </a:rPr>
              <a:t>parte</a:t>
            </a:r>
            <a:r>
              <a:rPr lang="en-US" sz="1200">
                <a:latin typeface="Arial"/>
                <a:cs typeface="Arial"/>
              </a:rPr>
              <a:t>, </a:t>
            </a:r>
            <a:r>
              <a:rPr lang="en-US" sz="1200" err="1">
                <a:latin typeface="Arial"/>
                <a:cs typeface="Arial"/>
              </a:rPr>
              <a:t>vamos</a:t>
            </a:r>
            <a:r>
              <a:rPr lang="en-US" sz="1200">
                <a:latin typeface="Arial"/>
                <a:cs typeface="Arial"/>
              </a:rPr>
              <a:t> a </a:t>
            </a:r>
            <a:r>
              <a:rPr lang="en-US" sz="1200" err="1">
                <a:latin typeface="Arial"/>
                <a:cs typeface="Arial"/>
              </a:rPr>
              <a:t>estar</a:t>
            </a:r>
            <a:r>
              <a:rPr lang="en-US" sz="1200">
                <a:latin typeface="Arial"/>
                <a:cs typeface="Arial"/>
              </a:rPr>
              <a:t> </a:t>
            </a:r>
            <a:r>
              <a:rPr lang="en-US" sz="1200" err="1">
                <a:latin typeface="Arial"/>
                <a:cs typeface="Arial"/>
              </a:rPr>
              <a:t>lidiando</a:t>
            </a:r>
            <a:r>
              <a:rPr lang="en-US" sz="1200">
                <a:latin typeface="Arial"/>
                <a:cs typeface="Arial"/>
              </a:rPr>
              <a:t> con MMIs, </a:t>
            </a:r>
            <a:r>
              <a:rPr lang="en-US" sz="1200" err="1">
                <a:latin typeface="Arial"/>
                <a:cs typeface="Arial"/>
              </a:rPr>
              <a:t>acopladores</a:t>
            </a:r>
            <a:r>
              <a:rPr lang="en-US" sz="1200">
                <a:latin typeface="Arial"/>
                <a:cs typeface="Arial"/>
              </a:rPr>
              <a:t> </a:t>
            </a:r>
            <a:r>
              <a:rPr lang="en-US" sz="1200" err="1">
                <a:latin typeface="Arial"/>
                <a:cs typeface="Arial"/>
              </a:rPr>
              <a:t>basados</a:t>
            </a:r>
            <a:r>
              <a:rPr lang="en-US" sz="1200">
                <a:latin typeface="Arial"/>
                <a:cs typeface="Arial"/>
              </a:rPr>
              <a:t> </a:t>
            </a:r>
            <a:r>
              <a:rPr lang="en-US" sz="1200" err="1">
                <a:latin typeface="Arial"/>
                <a:cs typeface="Arial"/>
              </a:rPr>
              <a:t>en</a:t>
            </a:r>
            <a:r>
              <a:rPr lang="en-US" sz="1200">
                <a:latin typeface="Arial"/>
                <a:cs typeface="Arial"/>
              </a:rPr>
              <a:t> </a:t>
            </a:r>
            <a:r>
              <a:rPr lang="en-US" sz="1200" err="1">
                <a:latin typeface="Arial"/>
                <a:cs typeface="Arial"/>
              </a:rPr>
              <a:t>interferencias</a:t>
            </a:r>
            <a:r>
              <a:rPr lang="en-US" sz="1200">
                <a:latin typeface="Arial"/>
                <a:cs typeface="Arial"/>
              </a:rPr>
              <a:t> </a:t>
            </a:r>
            <a:r>
              <a:rPr lang="en-US" sz="1200" err="1">
                <a:latin typeface="Arial"/>
                <a:cs typeface="Arial"/>
              </a:rPr>
              <a:t>multimodo</a:t>
            </a:r>
            <a:r>
              <a:rPr lang="en-US" sz="1200">
                <a:latin typeface="Arial"/>
                <a:cs typeface="Arial"/>
              </a:rPr>
              <a:t>. De nuevo, </a:t>
            </a:r>
            <a:r>
              <a:rPr lang="en-US" sz="1200" err="1">
                <a:latin typeface="Arial"/>
                <a:cs typeface="Arial"/>
              </a:rPr>
              <a:t>deberemos</a:t>
            </a:r>
            <a:r>
              <a:rPr lang="en-US" sz="1200">
                <a:latin typeface="Arial"/>
                <a:cs typeface="Arial"/>
              </a:rPr>
              <a:t> </a:t>
            </a:r>
            <a:r>
              <a:rPr lang="en-US" sz="1200" err="1">
                <a:latin typeface="Arial"/>
                <a:cs typeface="Arial"/>
              </a:rPr>
              <a:t>definir</a:t>
            </a:r>
            <a:r>
              <a:rPr lang="en-US" sz="1200">
                <a:latin typeface="Arial"/>
                <a:cs typeface="Arial"/>
              </a:rPr>
              <a:t> </a:t>
            </a:r>
            <a:r>
              <a:rPr lang="en-US" sz="1200" err="1">
                <a:latin typeface="Arial"/>
                <a:cs typeface="Arial"/>
              </a:rPr>
              <a:t>el</a:t>
            </a:r>
            <a:r>
              <a:rPr lang="en-US" sz="1200">
                <a:latin typeface="Arial"/>
                <a:cs typeface="Arial"/>
              </a:rPr>
              <a:t> MMI con </a:t>
            </a:r>
            <a:r>
              <a:rPr lang="en-US" sz="1200" err="1">
                <a:latin typeface="Arial"/>
                <a:cs typeface="Arial"/>
              </a:rPr>
              <a:t>el</a:t>
            </a:r>
            <a:r>
              <a:rPr lang="en-US" sz="1200">
                <a:latin typeface="Arial"/>
                <a:cs typeface="Arial"/>
              </a:rPr>
              <a:t> </a:t>
            </a:r>
            <a:r>
              <a:rPr lang="en-US" sz="1200" err="1">
                <a:latin typeface="Arial"/>
                <a:cs typeface="Arial"/>
              </a:rPr>
              <a:t>modesolver</a:t>
            </a:r>
            <a:r>
              <a:rPr lang="en-US" sz="1200">
                <a:latin typeface="Arial"/>
                <a:cs typeface="Arial"/>
              </a:rPr>
              <a:t> y </a:t>
            </a:r>
            <a:r>
              <a:rPr lang="en-US" sz="1200" err="1">
                <a:latin typeface="Arial"/>
                <a:cs typeface="Arial"/>
              </a:rPr>
              <a:t>estudiar</a:t>
            </a:r>
            <a:r>
              <a:rPr lang="en-US" sz="1200">
                <a:latin typeface="Arial"/>
                <a:cs typeface="Arial"/>
              </a:rPr>
              <a:t> </a:t>
            </a:r>
            <a:r>
              <a:rPr lang="en-US" sz="1200" err="1">
                <a:latin typeface="Arial"/>
                <a:cs typeface="Arial"/>
              </a:rPr>
              <a:t>los</a:t>
            </a:r>
            <a:r>
              <a:rPr lang="en-US" sz="1200">
                <a:latin typeface="Arial"/>
                <a:cs typeface="Arial"/>
              </a:rPr>
              <a:t> </a:t>
            </a:r>
            <a:r>
              <a:rPr lang="en-US" sz="1200" err="1">
                <a:latin typeface="Arial"/>
                <a:cs typeface="Arial"/>
              </a:rPr>
              <a:t>resultados</a:t>
            </a:r>
            <a:r>
              <a:rPr lang="en-US" sz="1200">
                <a:latin typeface="Arial"/>
                <a:cs typeface="Arial"/>
              </a:rPr>
              <a:t>. </a:t>
            </a:r>
            <a:r>
              <a:rPr lang="en-US" sz="1200" err="1">
                <a:latin typeface="Arial"/>
                <a:cs typeface="Arial"/>
              </a:rPr>
              <a:t>Esperamos</a:t>
            </a:r>
            <a:r>
              <a:rPr lang="en-US" sz="1200">
                <a:latin typeface="Arial"/>
                <a:cs typeface="Arial"/>
              </a:rPr>
              <a:t> </a:t>
            </a:r>
            <a:r>
              <a:rPr lang="en-US" sz="1200" err="1">
                <a:latin typeface="Arial"/>
                <a:cs typeface="Arial"/>
              </a:rPr>
              <a:t>obtener</a:t>
            </a:r>
            <a:r>
              <a:rPr lang="en-US" sz="1200">
                <a:latin typeface="Arial"/>
                <a:cs typeface="Arial"/>
              </a:rPr>
              <a:t> </a:t>
            </a:r>
            <a:r>
              <a:rPr lang="en-US" sz="1200" err="1">
                <a:latin typeface="Arial"/>
                <a:cs typeface="Arial"/>
              </a:rPr>
              <a:t>más</a:t>
            </a:r>
            <a:r>
              <a:rPr lang="en-US" sz="1200">
                <a:latin typeface="Arial"/>
                <a:cs typeface="Arial"/>
              </a:rPr>
              <a:t> </a:t>
            </a:r>
            <a:r>
              <a:rPr lang="en-US" sz="1200" err="1">
                <a:latin typeface="Arial"/>
                <a:cs typeface="Arial"/>
              </a:rPr>
              <a:t>modos</a:t>
            </a:r>
            <a:r>
              <a:rPr lang="en-US" sz="1200">
                <a:latin typeface="Arial"/>
                <a:cs typeface="Arial"/>
              </a:rPr>
              <a:t> </a:t>
            </a:r>
            <a:r>
              <a:rPr lang="en-US" sz="1200" err="1">
                <a:latin typeface="Arial"/>
                <a:cs typeface="Arial"/>
              </a:rPr>
              <a:t>guiados</a:t>
            </a:r>
            <a:r>
              <a:rPr lang="en-US" sz="1200">
                <a:latin typeface="Arial"/>
                <a:cs typeface="Arial"/>
              </a:rPr>
              <a:t> </a:t>
            </a:r>
            <a:r>
              <a:rPr lang="en-US" sz="1200" err="1">
                <a:latin typeface="Arial"/>
                <a:cs typeface="Arial"/>
              </a:rPr>
              <a:t>en</a:t>
            </a:r>
            <a:r>
              <a:rPr lang="en-US" sz="1200">
                <a:latin typeface="Arial"/>
                <a:cs typeface="Arial"/>
              </a:rPr>
              <a:t> </a:t>
            </a:r>
            <a:r>
              <a:rPr lang="en-US" sz="1200" err="1">
                <a:latin typeface="Arial"/>
                <a:cs typeface="Arial"/>
              </a:rPr>
              <a:t>este</a:t>
            </a:r>
            <a:r>
              <a:rPr lang="en-US" sz="1200">
                <a:latin typeface="Arial"/>
                <a:cs typeface="Arial"/>
              </a:rPr>
              <a:t> </a:t>
            </a:r>
            <a:r>
              <a:rPr lang="en-US" sz="1200" err="1">
                <a:latin typeface="Arial"/>
                <a:cs typeface="Arial"/>
              </a:rPr>
              <a:t>caso</a:t>
            </a:r>
            <a:r>
              <a:rPr lang="en-US" sz="1200">
                <a:latin typeface="Arial"/>
                <a:cs typeface="Arial"/>
              </a:rPr>
              <a:t>, </a:t>
            </a:r>
            <a:r>
              <a:rPr lang="en-US" sz="1200" err="1">
                <a:latin typeface="Arial"/>
                <a:cs typeface="Arial"/>
              </a:rPr>
              <a:t>puesto</a:t>
            </a:r>
            <a:r>
              <a:rPr lang="en-US" sz="1200">
                <a:latin typeface="Arial"/>
                <a:cs typeface="Arial"/>
              </a:rPr>
              <a:t> </a:t>
            </a:r>
            <a:r>
              <a:rPr lang="en-US" sz="1200" err="1">
                <a:latin typeface="Arial"/>
                <a:cs typeface="Arial"/>
              </a:rPr>
              <a:t>que</a:t>
            </a:r>
            <a:r>
              <a:rPr lang="en-US" sz="1200">
                <a:latin typeface="Arial"/>
                <a:cs typeface="Arial"/>
              </a:rPr>
              <a:t> </a:t>
            </a:r>
            <a:r>
              <a:rPr lang="en-US" sz="1200" err="1">
                <a:latin typeface="Arial"/>
                <a:cs typeface="Arial"/>
              </a:rPr>
              <a:t>estamos</a:t>
            </a:r>
            <a:r>
              <a:rPr lang="en-US" sz="1200">
                <a:latin typeface="Arial"/>
                <a:cs typeface="Arial"/>
              </a:rPr>
              <a:t> </a:t>
            </a:r>
            <a:r>
              <a:rPr lang="en-US" sz="1200" err="1">
                <a:latin typeface="Arial"/>
                <a:cs typeface="Arial"/>
              </a:rPr>
              <a:t>hablando</a:t>
            </a:r>
            <a:r>
              <a:rPr lang="en-US" sz="1200">
                <a:latin typeface="Arial"/>
                <a:cs typeface="Arial"/>
              </a:rPr>
              <a:t> de un </a:t>
            </a:r>
            <a:r>
              <a:rPr lang="en-US" sz="1200" b="1">
                <a:latin typeface="Arial"/>
                <a:cs typeface="Arial"/>
              </a:rPr>
              <a:t>Multimode</a:t>
            </a:r>
            <a:r>
              <a:rPr lang="en-US" sz="1200">
                <a:latin typeface="Arial"/>
                <a:cs typeface="Arial"/>
              </a:rPr>
              <a:t> Interference Coupler, y </a:t>
            </a:r>
            <a:r>
              <a:rPr lang="en-US" sz="1200" err="1">
                <a:latin typeface="Arial"/>
                <a:cs typeface="Arial"/>
              </a:rPr>
              <a:t>por</a:t>
            </a:r>
            <a:r>
              <a:rPr lang="en-US" sz="1200">
                <a:latin typeface="Arial"/>
                <a:cs typeface="Arial"/>
              </a:rPr>
              <a:t> tanto </a:t>
            </a:r>
            <a:r>
              <a:rPr lang="en-US" sz="1200" err="1">
                <a:latin typeface="Arial"/>
                <a:cs typeface="Arial"/>
              </a:rPr>
              <a:t>indicamos</a:t>
            </a:r>
            <a:r>
              <a:rPr lang="en-US" sz="1200">
                <a:latin typeface="Arial"/>
                <a:cs typeface="Arial"/>
              </a:rPr>
              <a:t> al </a:t>
            </a:r>
            <a:r>
              <a:rPr lang="en-US" sz="1200" err="1">
                <a:latin typeface="Arial"/>
                <a:cs typeface="Arial"/>
              </a:rPr>
              <a:t>modesolver</a:t>
            </a:r>
            <a:r>
              <a:rPr lang="en-US" sz="1200">
                <a:latin typeface="Arial"/>
                <a:cs typeface="Arial"/>
              </a:rPr>
              <a:t> </a:t>
            </a:r>
            <a:r>
              <a:rPr lang="en-US" sz="1200" err="1">
                <a:latin typeface="Arial"/>
                <a:cs typeface="Arial"/>
              </a:rPr>
              <a:t>el</a:t>
            </a:r>
            <a:r>
              <a:rPr lang="en-US" sz="1200">
                <a:latin typeface="Arial"/>
                <a:cs typeface="Arial"/>
              </a:rPr>
              <a:t> </a:t>
            </a:r>
            <a:r>
              <a:rPr lang="en-US" sz="1200" err="1">
                <a:latin typeface="Arial"/>
                <a:cs typeface="Arial"/>
              </a:rPr>
              <a:t>número</a:t>
            </a:r>
            <a:r>
              <a:rPr lang="en-US" sz="1200">
                <a:latin typeface="Arial"/>
                <a:cs typeface="Arial"/>
              </a:rPr>
              <a:t> de </a:t>
            </a:r>
            <a:r>
              <a:rPr lang="en-US" sz="1200" err="1">
                <a:latin typeface="Arial"/>
                <a:cs typeface="Arial"/>
              </a:rPr>
              <a:t>modos</a:t>
            </a:r>
            <a:r>
              <a:rPr lang="en-US" sz="1200">
                <a:latin typeface="Arial"/>
                <a:cs typeface="Arial"/>
              </a:rPr>
              <a:t> </a:t>
            </a:r>
            <a:r>
              <a:rPr lang="en-US" sz="1200" err="1">
                <a:latin typeface="Arial"/>
                <a:cs typeface="Arial"/>
              </a:rPr>
              <a:t>objetivo</a:t>
            </a:r>
            <a:r>
              <a:rPr lang="en-US" sz="1200">
                <a:latin typeface="Arial"/>
                <a:cs typeface="Arial"/>
              </a:rPr>
              <a:t> a </a:t>
            </a:r>
            <a:r>
              <a:rPr lang="en-US" sz="1200" err="1">
                <a:latin typeface="Arial"/>
                <a:cs typeface="Arial"/>
              </a:rPr>
              <a:t>encontrar</a:t>
            </a:r>
            <a:r>
              <a:rPr lang="en-US" sz="1200">
                <a:latin typeface="Arial"/>
                <a:cs typeface="Arial"/>
              </a:rPr>
              <a:t> a 30 </a:t>
            </a:r>
            <a:r>
              <a:rPr lang="en-US" sz="1200" err="1">
                <a:latin typeface="Arial"/>
                <a:cs typeface="Arial"/>
              </a:rPr>
              <a:t>modos</a:t>
            </a:r>
            <a:r>
              <a:rPr lang="en-US" sz="1200">
                <a:latin typeface="Arial"/>
                <a:cs typeface="Arial"/>
              </a:rPr>
              <a:t>.  A </a:t>
            </a:r>
            <a:r>
              <a:rPr lang="en-US" sz="1200" err="1">
                <a:latin typeface="Arial"/>
                <a:cs typeface="Arial"/>
              </a:rPr>
              <a:t>partir</a:t>
            </a:r>
            <a:r>
              <a:rPr lang="en-US" sz="1200">
                <a:latin typeface="Arial"/>
                <a:cs typeface="Arial"/>
              </a:rPr>
              <a:t> del </a:t>
            </a:r>
            <a:r>
              <a:rPr lang="en-US" sz="1200" err="1">
                <a:latin typeface="Arial"/>
                <a:cs typeface="Arial"/>
              </a:rPr>
              <a:t>modesolver</a:t>
            </a:r>
            <a:r>
              <a:rPr lang="en-US" sz="1200">
                <a:latin typeface="Arial"/>
                <a:cs typeface="Arial"/>
              </a:rPr>
              <a:t> se </a:t>
            </a:r>
            <a:r>
              <a:rPr lang="en-US" sz="1200" err="1">
                <a:latin typeface="Arial"/>
                <a:cs typeface="Arial"/>
              </a:rPr>
              <a:t>identifican</a:t>
            </a:r>
            <a:r>
              <a:rPr lang="en-US" sz="1200">
                <a:latin typeface="Arial"/>
                <a:cs typeface="Arial"/>
              </a:rPr>
              <a:t> 17  </a:t>
            </a:r>
            <a:r>
              <a:rPr lang="en-US" sz="1200" err="1">
                <a:latin typeface="Arial"/>
                <a:cs typeface="Arial"/>
              </a:rPr>
              <a:t>modos</a:t>
            </a:r>
            <a:r>
              <a:rPr lang="en-US" sz="1200">
                <a:latin typeface="Arial"/>
                <a:cs typeface="Arial"/>
              </a:rPr>
              <a:t> TE y 6 TM.</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r>
              <a:rPr lang="en-US" sz="1200">
                <a:latin typeface="Arial"/>
                <a:cs typeface="Arial"/>
              </a:rPr>
              <a:t>Una </a:t>
            </a:r>
            <a:r>
              <a:rPr lang="en-US" sz="1200" err="1">
                <a:latin typeface="Arial"/>
                <a:cs typeface="Arial"/>
              </a:rPr>
              <a:t>vez</a:t>
            </a:r>
            <a:r>
              <a:rPr lang="en-US" sz="1200">
                <a:latin typeface="Arial"/>
                <a:cs typeface="Arial"/>
              </a:rPr>
              <a:t> temenos </a:t>
            </a:r>
            <a:r>
              <a:rPr lang="en-US" sz="1200" err="1">
                <a:latin typeface="Arial"/>
                <a:cs typeface="Arial"/>
              </a:rPr>
              <a:t>los</a:t>
            </a:r>
            <a:r>
              <a:rPr lang="en-US" sz="1200">
                <a:latin typeface="Arial"/>
                <a:cs typeface="Arial"/>
              </a:rPr>
              <a:t> </a:t>
            </a:r>
            <a:r>
              <a:rPr lang="en-US" sz="1200" err="1">
                <a:latin typeface="Arial"/>
                <a:cs typeface="Arial"/>
              </a:rPr>
              <a:t>parámetros</a:t>
            </a:r>
            <a:r>
              <a:rPr lang="en-US" sz="1200">
                <a:latin typeface="Arial"/>
                <a:cs typeface="Arial"/>
              </a:rPr>
              <a:t> de </a:t>
            </a:r>
            <a:r>
              <a:rPr lang="en-US" sz="1200" err="1">
                <a:latin typeface="Arial"/>
                <a:cs typeface="Arial"/>
              </a:rPr>
              <a:t>salida</a:t>
            </a:r>
            <a:r>
              <a:rPr lang="en-US" sz="1200">
                <a:latin typeface="Arial"/>
                <a:cs typeface="Arial"/>
              </a:rPr>
              <a:t>, </a:t>
            </a:r>
            <a:r>
              <a:rPr lang="en-US" sz="1200" err="1">
                <a:latin typeface="Arial"/>
                <a:cs typeface="Arial"/>
              </a:rPr>
              <a:t>calculando</a:t>
            </a:r>
            <a:r>
              <a:rPr lang="en-US" sz="1200">
                <a:latin typeface="Arial"/>
                <a:cs typeface="Arial"/>
              </a:rPr>
              <a:t> la </a:t>
            </a:r>
            <a:r>
              <a:rPr lang="en-US" sz="1200" err="1">
                <a:latin typeface="Arial"/>
                <a:cs typeface="Arial"/>
              </a:rPr>
              <a:t>fracción</a:t>
            </a:r>
            <a:r>
              <a:rPr lang="en-US" sz="1200">
                <a:latin typeface="Arial"/>
                <a:cs typeface="Arial"/>
              </a:rPr>
              <a:t> TE y TM, </a:t>
            </a:r>
            <a:r>
              <a:rPr lang="en-US" sz="1200" err="1">
                <a:latin typeface="Arial"/>
                <a:cs typeface="Arial"/>
              </a:rPr>
              <a:t>vemos</a:t>
            </a:r>
            <a:r>
              <a:rPr lang="en-US" sz="1200">
                <a:latin typeface="Arial"/>
                <a:cs typeface="Arial"/>
              </a:rPr>
              <a:t> la </a:t>
            </a:r>
            <a:r>
              <a:rPr lang="en-US" sz="1200" err="1">
                <a:latin typeface="Arial"/>
                <a:cs typeface="Arial"/>
              </a:rPr>
              <a:t>polarización</a:t>
            </a:r>
            <a:r>
              <a:rPr lang="en-US" sz="1200">
                <a:latin typeface="Arial"/>
                <a:cs typeface="Arial"/>
              </a:rPr>
              <a:t> de </a:t>
            </a:r>
            <a:r>
              <a:rPr lang="en-US" sz="1200" err="1">
                <a:latin typeface="Arial"/>
                <a:cs typeface="Arial"/>
              </a:rPr>
              <a:t>cada</a:t>
            </a:r>
            <a:r>
              <a:rPr lang="en-US" sz="1200">
                <a:latin typeface="Arial"/>
                <a:cs typeface="Arial"/>
              </a:rPr>
              <a:t> uno de </a:t>
            </a:r>
            <a:r>
              <a:rPr lang="en-US" sz="1200" err="1">
                <a:latin typeface="Arial"/>
                <a:cs typeface="Arial"/>
              </a:rPr>
              <a:t>los</a:t>
            </a:r>
            <a:r>
              <a:rPr lang="en-US" sz="1200">
                <a:latin typeface="Arial"/>
                <a:cs typeface="Arial"/>
              </a:rPr>
              <a:t> </a:t>
            </a:r>
            <a:r>
              <a:rPr lang="en-US" sz="1200" err="1">
                <a:latin typeface="Arial"/>
                <a:cs typeface="Arial"/>
              </a:rPr>
              <a:t>modos</a:t>
            </a:r>
            <a:r>
              <a:rPr lang="en-US" sz="1200">
                <a:latin typeface="Arial"/>
                <a:cs typeface="Arial"/>
              </a:rPr>
              <a:t> para </a:t>
            </a:r>
            <a:r>
              <a:rPr lang="en-US" sz="1200" err="1">
                <a:latin typeface="Arial"/>
                <a:cs typeface="Arial"/>
              </a:rPr>
              <a:t>poder</a:t>
            </a:r>
            <a:r>
              <a:rPr lang="en-US" sz="1200">
                <a:latin typeface="Arial"/>
                <a:cs typeface="Arial"/>
              </a:rPr>
              <a:t> </a:t>
            </a:r>
            <a:r>
              <a:rPr lang="en-US" sz="1200" err="1">
                <a:latin typeface="Arial"/>
                <a:cs typeface="Arial"/>
              </a:rPr>
              <a:t>representar</a:t>
            </a:r>
            <a:r>
              <a:rPr lang="en-US" sz="1200">
                <a:latin typeface="Arial"/>
                <a:cs typeface="Arial"/>
              </a:rPr>
              <a:t> </a:t>
            </a:r>
            <a:r>
              <a:rPr lang="en-US" sz="1200" err="1">
                <a:latin typeface="Arial"/>
                <a:cs typeface="Arial"/>
              </a:rPr>
              <a:t>cada</a:t>
            </a:r>
            <a:r>
              <a:rPr lang="en-US" sz="1200">
                <a:latin typeface="Arial"/>
                <a:cs typeface="Arial"/>
              </a:rPr>
              <a:t> uno </a:t>
            </a:r>
            <a:r>
              <a:rPr lang="en-US" sz="1200" err="1">
                <a:latin typeface="Arial"/>
                <a:cs typeface="Arial"/>
              </a:rPr>
              <a:t>en</a:t>
            </a:r>
            <a:r>
              <a:rPr lang="en-US" sz="1200">
                <a:latin typeface="Arial"/>
                <a:cs typeface="Arial"/>
              </a:rPr>
              <a:t> </a:t>
            </a:r>
            <a:r>
              <a:rPr lang="en-US" sz="1200" err="1">
                <a:latin typeface="Arial"/>
                <a:cs typeface="Arial"/>
              </a:rPr>
              <a:t>su</a:t>
            </a:r>
            <a:r>
              <a:rPr lang="en-US" sz="1200">
                <a:latin typeface="Arial"/>
                <a:cs typeface="Arial"/>
              </a:rPr>
              <a:t> </a:t>
            </a:r>
            <a:r>
              <a:rPr lang="en-US" sz="1200" err="1">
                <a:latin typeface="Arial"/>
                <a:cs typeface="Arial"/>
              </a:rPr>
              <a:t>correspondiente</a:t>
            </a:r>
            <a:r>
              <a:rPr lang="en-US" sz="1200">
                <a:latin typeface="Arial"/>
                <a:cs typeface="Arial"/>
              </a:rPr>
              <a:t> plano, para </a:t>
            </a:r>
            <a:r>
              <a:rPr lang="en-US" sz="1200" err="1">
                <a:latin typeface="Arial"/>
                <a:cs typeface="Arial"/>
              </a:rPr>
              <a:t>ver</a:t>
            </a:r>
            <a:r>
              <a:rPr lang="en-US" sz="1200">
                <a:latin typeface="Arial"/>
                <a:cs typeface="Arial"/>
              </a:rPr>
              <a:t> la </a:t>
            </a:r>
            <a:r>
              <a:rPr lang="en-US" sz="1200" err="1">
                <a:latin typeface="Arial"/>
                <a:cs typeface="Arial"/>
              </a:rPr>
              <a:t>distribución</a:t>
            </a:r>
            <a:r>
              <a:rPr lang="en-US" sz="1200">
                <a:latin typeface="Arial"/>
                <a:cs typeface="Arial"/>
              </a:rPr>
              <a:t> del campo a lo largo de la guía. Los cortes con </a:t>
            </a:r>
            <a:r>
              <a:rPr lang="en-US" sz="1200" err="1">
                <a:latin typeface="Arial"/>
                <a:cs typeface="Arial"/>
              </a:rPr>
              <a:t>el</a:t>
            </a:r>
            <a:r>
              <a:rPr lang="en-US" sz="1200">
                <a:latin typeface="Arial"/>
                <a:cs typeface="Arial"/>
              </a:rPr>
              <a:t> </a:t>
            </a:r>
            <a:r>
              <a:rPr lang="en-US" sz="1200" err="1">
                <a:latin typeface="Arial"/>
                <a:cs typeface="Arial"/>
              </a:rPr>
              <a:t>eje</a:t>
            </a:r>
            <a:r>
              <a:rPr lang="en-US" sz="1200">
                <a:latin typeface="Arial"/>
                <a:cs typeface="Arial"/>
              </a:rPr>
              <a:t> x </a:t>
            </a:r>
            <a:r>
              <a:rPr lang="en-US" sz="1200" err="1">
                <a:latin typeface="Arial"/>
                <a:cs typeface="Arial"/>
              </a:rPr>
              <a:t>representan</a:t>
            </a:r>
            <a:r>
              <a:rPr lang="en-US" sz="1200">
                <a:latin typeface="Arial"/>
                <a:cs typeface="Arial"/>
              </a:rPr>
              <a:t> </a:t>
            </a:r>
            <a:r>
              <a:rPr lang="en-US" sz="1200" err="1">
                <a:latin typeface="Arial"/>
                <a:cs typeface="Arial"/>
              </a:rPr>
              <a:t>el</a:t>
            </a:r>
            <a:r>
              <a:rPr lang="en-US" sz="1200">
                <a:latin typeface="Arial"/>
                <a:cs typeface="Arial"/>
              </a:rPr>
              <a:t> </a:t>
            </a:r>
            <a:r>
              <a:rPr lang="en-US" sz="1200" err="1">
                <a:latin typeface="Arial"/>
                <a:cs typeface="Arial"/>
              </a:rPr>
              <a:t>orden</a:t>
            </a:r>
            <a:r>
              <a:rPr lang="en-US" sz="1200">
                <a:latin typeface="Arial"/>
                <a:cs typeface="Arial"/>
              </a:rPr>
              <a:t> del </a:t>
            </a:r>
            <a:r>
              <a:rPr lang="en-US" sz="1200" err="1">
                <a:latin typeface="Arial"/>
                <a:cs typeface="Arial"/>
              </a:rPr>
              <a:t>módulo</a:t>
            </a:r>
            <a:r>
              <a:rPr lang="en-US" sz="1200">
                <a:latin typeface="Arial"/>
                <a:cs typeface="Arial"/>
              </a:rPr>
              <a:t>, </a:t>
            </a:r>
            <a:r>
              <a:rPr lang="en-US" sz="1200" err="1">
                <a:latin typeface="Arial"/>
                <a:cs typeface="Arial"/>
              </a:rPr>
              <a:t>aquí</a:t>
            </a:r>
            <a:r>
              <a:rPr lang="en-US" sz="1200">
                <a:latin typeface="Arial"/>
                <a:cs typeface="Arial"/>
              </a:rPr>
              <a:t> </a:t>
            </a:r>
            <a:r>
              <a:rPr lang="en-US" sz="1200" err="1">
                <a:latin typeface="Arial"/>
                <a:cs typeface="Arial"/>
              </a:rPr>
              <a:t>representamos</a:t>
            </a:r>
            <a:r>
              <a:rPr lang="en-US" sz="1200">
                <a:latin typeface="Arial"/>
                <a:cs typeface="Arial"/>
              </a:rPr>
              <a:t> TE7.</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Por último, tenemos el cálculo de L</a:t>
            </a:r>
            <a:r>
              <a:rPr lang="el-GR" sz="1200">
                <a:latin typeface="Times New Roman" panose="02020603050405020304" pitchFamily="18" charset="0"/>
                <a:cs typeface="Times New Roman" panose="02020603050405020304" pitchFamily="18" charset="0"/>
              </a:rPr>
              <a:t>π</a:t>
            </a:r>
            <a:r>
              <a:rPr lang="ca-ES-valencia" sz="1200">
                <a:latin typeface="Arial" panose="020B0604020202020204" pitchFamily="34" charset="0"/>
                <a:cs typeface="Arial" panose="020B0604020202020204" pitchFamily="34" charset="0"/>
              </a:rPr>
              <a:t>, para el cual de nuevo usaremos la fórmula que relaciona neff0 y neff1, y nos da: </a:t>
            </a:r>
            <a:endParaRPr lang="es-ES" sz="1200">
              <a:latin typeface="Times New Roman" panose="02020603050405020304" pitchFamily="18" charset="0"/>
              <a:cs typeface="Times New Roman" panose="02020603050405020304" pitchFamily="18" charset="0"/>
            </a:endParaRP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En los MMI, la distancia L</a:t>
            </a:r>
            <a:r>
              <a:rPr lang="el-GR" sz="1200">
                <a:latin typeface="Times New Roman" panose="02020603050405020304" pitchFamily="18" charset="0"/>
                <a:cs typeface="Times New Roman" panose="02020603050405020304" pitchFamily="18" charset="0"/>
              </a:rPr>
              <a:t>π</a:t>
            </a:r>
            <a:r>
              <a:rPr lang="es-ES" sz="1200">
                <a:latin typeface="Arial" panose="020B0604020202020204" pitchFamily="34" charset="0"/>
                <a:cs typeface="Arial" panose="020B0604020202020204" pitchFamily="34" charset="0"/>
              </a:rPr>
              <a:t> determina la distancia a la que aparece una réplica de la imagen, que dependiendo del mecanismo de interferencia lo encontraremos a una distancia u a otra, pero siempre directamente proporcional a L</a:t>
            </a:r>
            <a:r>
              <a:rPr lang="el-GR" sz="1200">
                <a:latin typeface="Times New Roman" panose="02020603050405020304" pitchFamily="18" charset="0"/>
                <a:cs typeface="Times New Roman" panose="02020603050405020304" pitchFamily="18" charset="0"/>
              </a:rPr>
              <a:t>π</a:t>
            </a:r>
            <a:r>
              <a:rPr lang="es-ES" sz="1200">
                <a:latin typeface="Arial" panose="020B0604020202020204" pitchFamily="34" charset="0"/>
                <a:cs typeface="Arial" panose="020B0604020202020204" pitchFamily="34" charset="0"/>
              </a:rPr>
              <a:t>.</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D11E48EA-D153-DB1F-C2D8-B2F3F40C44B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686800" y="5423530"/>
            <a:ext cx="2562840" cy="304999"/>
          </a:xfrm>
          <a:prstGeom prst="rect">
            <a:avLst/>
          </a:prstGeom>
        </p:spPr>
      </p:pic>
      <p:pic>
        <p:nvPicPr>
          <p:cNvPr id="5" name="Imagen 4" descr="Texto&#10;&#10;El contenido generado por IA puede ser incorrecto.">
            <a:extLst>
              <a:ext uri="{FF2B5EF4-FFF2-40B4-BE49-F238E27FC236}">
                <a16:creationId xmlns:a16="http://schemas.microsoft.com/office/drawing/2014/main" id="{837AEBE6-F818-CD7A-FD75-DA1EBFA71E9C}"/>
              </a:ext>
            </a:extLst>
          </p:cNvPr>
          <p:cNvPicPr>
            <a:picLocks noChangeAspect="1"/>
          </p:cNvPicPr>
          <p:nvPr/>
        </p:nvPicPr>
        <p:blipFill>
          <a:blip r:embed="rId5"/>
          <a:stretch>
            <a:fillRect/>
          </a:stretch>
        </p:blipFill>
        <p:spPr>
          <a:xfrm>
            <a:off x="784285" y="1335478"/>
            <a:ext cx="10134600" cy="1771650"/>
          </a:xfrm>
          <a:prstGeom prst="rect">
            <a:avLst/>
          </a:prstGeom>
        </p:spPr>
      </p:pic>
      <p:pic>
        <p:nvPicPr>
          <p:cNvPr id="7" name="Imagen 6" descr="Interfaz de usuario gráfica, Aplicación&#10;&#10;El contenido generado por IA puede ser incorrecto.">
            <a:extLst>
              <a:ext uri="{FF2B5EF4-FFF2-40B4-BE49-F238E27FC236}">
                <a16:creationId xmlns:a16="http://schemas.microsoft.com/office/drawing/2014/main" id="{E8F61E33-11A6-2888-B89F-42AA54E1374A}"/>
              </a:ext>
            </a:extLst>
          </p:cNvPr>
          <p:cNvPicPr>
            <a:picLocks noChangeAspect="1"/>
          </p:cNvPicPr>
          <p:nvPr/>
        </p:nvPicPr>
        <p:blipFill>
          <a:blip r:embed="rId6"/>
          <a:stretch>
            <a:fillRect/>
          </a:stretch>
        </p:blipFill>
        <p:spPr>
          <a:xfrm>
            <a:off x="9075683" y="1240693"/>
            <a:ext cx="2640386" cy="1884364"/>
          </a:xfrm>
          <a:prstGeom prst="rect">
            <a:avLst/>
          </a:prstGeom>
        </p:spPr>
      </p:pic>
    </p:spTree>
    <p:extLst>
      <p:ext uri="{BB962C8B-B14F-4D97-AF65-F5344CB8AC3E}">
        <p14:creationId xmlns:p14="http://schemas.microsoft.com/office/powerpoint/2010/main" val="1802451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AC882-E50C-83BA-2ACB-EFB9E8950F9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4A93BC5-8A11-5399-CB26-BB330CD865DA}"/>
              </a:ext>
            </a:extLst>
          </p:cNvPr>
          <p:cNvSpPr txBox="1">
            <a:spLocks noGrp="1"/>
          </p:cNvSpPr>
          <p:nvPr>
            <p:ph type="title"/>
          </p:nvPr>
        </p:nvSpPr>
        <p:spPr>
          <a:xfrm>
            <a:off x="685800" y="408883"/>
            <a:ext cx="10994410" cy="782265"/>
          </a:xfrm>
          <a:prstGeom prst="rect">
            <a:avLst/>
          </a:prstGeom>
        </p:spPr>
        <p:txBody>
          <a:bodyPr vert="horz" wrap="square" lIns="0" tIns="12700" rIns="0" bIns="0" rtlCol="0" anchor="t">
            <a:spAutoFit/>
          </a:bodyPr>
          <a:lstStyle/>
          <a:p>
            <a:pPr marL="12700">
              <a:spcBef>
                <a:spcPts val="100"/>
              </a:spcBef>
            </a:pPr>
            <a:r>
              <a:rPr lang="en-US" sz="2500"/>
              <a:t>Learning outcome #6 – 6.1 2x2 Multimode Interference Coupler </a:t>
            </a:r>
            <a:br>
              <a:rPr lang="en-US" sz="2500"/>
            </a:br>
            <a:r>
              <a:rPr lang="en-US" sz="2500">
                <a:latin typeface="+mj-lt"/>
                <a:ea typeface="Calibri"/>
              </a:rPr>
              <a:t>introduction </a:t>
            </a:r>
            <a:endParaRPr lang="en-US" b="0">
              <a:latin typeface="+mj-lt"/>
              <a:ea typeface="Calibri"/>
            </a:endParaRPr>
          </a:p>
        </p:txBody>
      </p:sp>
      <p:pic>
        <p:nvPicPr>
          <p:cNvPr id="83" name="Gráfico 82">
            <a:extLst>
              <a:ext uri="{FF2B5EF4-FFF2-40B4-BE49-F238E27FC236}">
                <a16:creationId xmlns:a16="http://schemas.microsoft.com/office/drawing/2014/main" id="{B38D3543-F56E-B04A-9A53-7488B3696E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250B819-D7F3-4A14-3D23-486F2A160AF9}"/>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D9F34820-AEB0-A663-BB11-2F818FF109C1}"/>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F9FB3D68-B222-43E8-A14C-03F17A73B20B}"/>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Tabla&#10;&#10;El contenido generado por IA puede ser incorrecto.">
            <a:extLst>
              <a:ext uri="{FF2B5EF4-FFF2-40B4-BE49-F238E27FC236}">
                <a16:creationId xmlns:a16="http://schemas.microsoft.com/office/drawing/2014/main" id="{649AA973-B635-05C4-1638-FB89CEBE3374}"/>
              </a:ext>
            </a:extLst>
          </p:cNvPr>
          <p:cNvPicPr>
            <a:picLocks noChangeAspect="1"/>
          </p:cNvPicPr>
          <p:nvPr/>
        </p:nvPicPr>
        <p:blipFill>
          <a:blip r:embed="rId4"/>
          <a:stretch>
            <a:fillRect/>
          </a:stretch>
        </p:blipFill>
        <p:spPr>
          <a:xfrm>
            <a:off x="723900" y="1542494"/>
            <a:ext cx="10744200" cy="2981325"/>
          </a:xfrm>
          <a:prstGeom prst="rect">
            <a:avLst/>
          </a:prstGeom>
        </p:spPr>
      </p:pic>
    </p:spTree>
    <p:extLst>
      <p:ext uri="{BB962C8B-B14F-4D97-AF65-F5344CB8AC3E}">
        <p14:creationId xmlns:p14="http://schemas.microsoft.com/office/powerpoint/2010/main" val="1379579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 – 6.1 2x2 Multimode Interference Coupler </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endParaRPr lang="en-US" sz="1200">
              <a:latin typeface="Arial" panose="020B0604020202020204" pitchFamily="34" charset="0"/>
              <a:cs typeface="Arial" panose="020B0604020202020204" pitchFamily="34" charset="0"/>
            </a:endParaRPr>
          </a:p>
          <a:p>
            <a:r>
              <a:rPr lang="en-US" sz="1200">
                <a:latin typeface="Arial"/>
                <a:cs typeface="Arial"/>
              </a:rPr>
              <a:t>Como </a:t>
            </a:r>
            <a:r>
              <a:rPr lang="en-US" sz="1200" err="1">
                <a:latin typeface="Arial"/>
                <a:cs typeface="Arial"/>
              </a:rPr>
              <a:t>podemos</a:t>
            </a:r>
            <a:r>
              <a:rPr lang="en-US" sz="1200">
                <a:latin typeface="Arial"/>
                <a:cs typeface="Arial"/>
              </a:rPr>
              <a:t> </a:t>
            </a:r>
            <a:r>
              <a:rPr lang="en-US" sz="1200" err="1">
                <a:latin typeface="Arial"/>
                <a:cs typeface="Arial"/>
              </a:rPr>
              <a:t>ver</a:t>
            </a:r>
            <a:r>
              <a:rPr lang="en-US" sz="1200">
                <a:latin typeface="Arial"/>
                <a:cs typeface="Arial"/>
              </a:rPr>
              <a:t>, la </a:t>
            </a:r>
            <a:r>
              <a:rPr lang="en-US" sz="1200" err="1">
                <a:latin typeface="Arial"/>
                <a:cs typeface="Arial"/>
              </a:rPr>
              <a:t>relación</a:t>
            </a:r>
            <a:r>
              <a:rPr lang="en-US" sz="1200">
                <a:latin typeface="Arial"/>
                <a:cs typeface="Arial"/>
              </a:rPr>
              <a:t> </a:t>
            </a:r>
            <a:r>
              <a:rPr lang="en-US" sz="1200" err="1">
                <a:latin typeface="Arial"/>
                <a:cs typeface="Arial"/>
              </a:rPr>
              <a:t>en</a:t>
            </a:r>
            <a:r>
              <a:rPr lang="en-US" sz="1200">
                <a:latin typeface="Arial"/>
                <a:cs typeface="Arial"/>
              </a:rPr>
              <a:t> </a:t>
            </a:r>
            <a:r>
              <a:rPr lang="ca-ES-valencia" sz="1200">
                <a:latin typeface="Arial"/>
                <a:ea typeface="Calibri"/>
                <a:cs typeface="Arial"/>
              </a:rPr>
              <a:t>L</a:t>
            </a:r>
            <a:r>
              <a:rPr lang="el-GR" sz="1200">
                <a:latin typeface="Arial"/>
                <a:ea typeface="Calibri"/>
                <a:cs typeface="Arial"/>
              </a:rPr>
              <a:t>π</a:t>
            </a:r>
            <a:r>
              <a:rPr lang="ca-ES-valencia" sz="1200">
                <a:latin typeface="Arial"/>
                <a:ea typeface="Calibri"/>
                <a:cs typeface="Arial"/>
              </a:rPr>
              <a:t>/2 se corresponde a 50:50 debido a que su K es 0,5, para L igual a  </a:t>
            </a:r>
            <a:r>
              <a:rPr lang="en-US" sz="1200">
                <a:latin typeface="Arial"/>
                <a:ea typeface="Calibri"/>
                <a:cs typeface="Arial"/>
              </a:rPr>
              <a:t> 3</a:t>
            </a:r>
            <a:r>
              <a:rPr lang="ca-ES-valencia" sz="1200">
                <a:latin typeface="Arial"/>
                <a:ea typeface="Calibri"/>
                <a:cs typeface="Arial"/>
              </a:rPr>
              <a:t>L</a:t>
            </a:r>
            <a:r>
              <a:rPr lang="el-GR" sz="1200">
                <a:latin typeface="Arial"/>
                <a:ea typeface="Calibri"/>
                <a:cs typeface="Arial"/>
              </a:rPr>
              <a:t>π</a:t>
            </a:r>
            <a:r>
              <a:rPr lang="ca-ES-valencia" sz="1200">
                <a:latin typeface="Arial"/>
                <a:ea typeface="Calibri"/>
                <a:cs typeface="Arial"/>
              </a:rPr>
              <a:t>/2, K da un valor de 0.5 también, pero de menores pérdidas de exceso, este valor no es 0 </a:t>
            </a:r>
            <a:r>
              <a:rPr lang="ca-ES-valencia" sz="1200">
                <a:latin typeface="Calibri"/>
                <a:ea typeface="Calibri"/>
                <a:cs typeface="Calibri"/>
              </a:rPr>
              <a:t>debido</a:t>
            </a:r>
            <a:r>
              <a:rPr lang="ca-ES-valencia" sz="1200">
                <a:ea typeface="+mn-lt"/>
                <a:cs typeface="+mn-lt"/>
              </a:rPr>
              <a:t> a las pérdidas por propagación en el MMI, las pérdidas por acoplamiento entre los puertos y las pérdidas por reflexión en las interfaces.</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AA97780-BAF0-3F7B-2E77-5F07265395FE}"/>
              </a:ext>
            </a:extLst>
          </p:cNvPr>
          <p:cNvPicPr>
            <a:picLocks noChangeAspect="1"/>
          </p:cNvPicPr>
          <p:nvPr/>
        </p:nvPicPr>
        <p:blipFill>
          <a:blip r:embed="rId4"/>
          <a:srcRect t="17572" r="1299" b="13022"/>
          <a:stretch>
            <a:fillRect/>
          </a:stretch>
        </p:blipFill>
        <p:spPr>
          <a:xfrm>
            <a:off x="8986675" y="932168"/>
            <a:ext cx="2561225" cy="216373"/>
          </a:xfrm>
          <a:prstGeom prst="rect">
            <a:avLst/>
          </a:prstGeom>
        </p:spPr>
      </p:pic>
      <p:pic>
        <p:nvPicPr>
          <p:cNvPr id="9" name="Imagen 8">
            <a:extLst>
              <a:ext uri="{FF2B5EF4-FFF2-40B4-BE49-F238E27FC236}">
                <a16:creationId xmlns:a16="http://schemas.microsoft.com/office/drawing/2014/main" id="{4CD6FF41-5D26-3099-9EAC-C55ECB5B9E7E}"/>
              </a:ext>
            </a:extLst>
          </p:cNvPr>
          <p:cNvPicPr>
            <a:picLocks noChangeAspect="1"/>
          </p:cNvPicPr>
          <p:nvPr/>
        </p:nvPicPr>
        <p:blipFill>
          <a:blip r:embed="rId5"/>
          <a:srcRect r="1333"/>
          <a:stretch>
            <a:fillRect/>
          </a:stretch>
        </p:blipFill>
        <p:spPr>
          <a:xfrm>
            <a:off x="1534256" y="1445781"/>
            <a:ext cx="3037744" cy="1255536"/>
          </a:xfrm>
          <a:prstGeom prst="rect">
            <a:avLst/>
          </a:prstGeom>
        </p:spPr>
      </p:pic>
      <p:pic>
        <p:nvPicPr>
          <p:cNvPr id="13" name="Imagen 12">
            <a:extLst>
              <a:ext uri="{FF2B5EF4-FFF2-40B4-BE49-F238E27FC236}">
                <a16:creationId xmlns:a16="http://schemas.microsoft.com/office/drawing/2014/main" id="{A080B20A-2E5C-F94A-386B-CF8FE8AB22E7}"/>
              </a:ext>
            </a:extLst>
          </p:cNvPr>
          <p:cNvPicPr>
            <a:picLocks noChangeAspect="1"/>
          </p:cNvPicPr>
          <p:nvPr/>
        </p:nvPicPr>
        <p:blipFill>
          <a:blip r:embed="rId6"/>
          <a:stretch>
            <a:fillRect/>
          </a:stretch>
        </p:blipFill>
        <p:spPr>
          <a:xfrm>
            <a:off x="6553200" y="1475747"/>
            <a:ext cx="4795232" cy="1206520"/>
          </a:xfrm>
          <a:prstGeom prst="rect">
            <a:avLst/>
          </a:prstGeom>
        </p:spPr>
      </p:pic>
      <p:pic>
        <p:nvPicPr>
          <p:cNvPr id="15" name="Imagen 14">
            <a:extLst>
              <a:ext uri="{FF2B5EF4-FFF2-40B4-BE49-F238E27FC236}">
                <a16:creationId xmlns:a16="http://schemas.microsoft.com/office/drawing/2014/main" id="{2569E1AA-641C-3844-F30A-F14AC1D11E5B}"/>
              </a:ext>
            </a:extLst>
          </p:cNvPr>
          <p:cNvPicPr>
            <a:picLocks noChangeAspect="1"/>
          </p:cNvPicPr>
          <p:nvPr/>
        </p:nvPicPr>
        <p:blipFill>
          <a:blip r:embed="rId7"/>
          <a:stretch>
            <a:fillRect/>
          </a:stretch>
        </p:blipFill>
        <p:spPr>
          <a:xfrm>
            <a:off x="7991376" y="2635243"/>
            <a:ext cx="2795432" cy="2016100"/>
          </a:xfrm>
          <a:prstGeom prst="rect">
            <a:avLst/>
          </a:prstGeom>
        </p:spPr>
      </p:pic>
      <p:sp>
        <p:nvSpPr>
          <p:cNvPr id="17" name="CuadroTexto 16">
            <a:extLst>
              <a:ext uri="{FF2B5EF4-FFF2-40B4-BE49-F238E27FC236}">
                <a16:creationId xmlns:a16="http://schemas.microsoft.com/office/drawing/2014/main" id="{19E8F8EF-CF87-5DD4-F187-38C618C7E78E}"/>
              </a:ext>
            </a:extLst>
          </p:cNvPr>
          <p:cNvSpPr txBox="1"/>
          <p:nvPr/>
        </p:nvSpPr>
        <p:spPr>
          <a:xfrm>
            <a:off x="775442" y="2845858"/>
            <a:ext cx="728084" cy="369332"/>
          </a:xfrm>
          <a:prstGeom prst="rect">
            <a:avLst/>
          </a:prstGeom>
          <a:noFill/>
        </p:spPr>
        <p:txBody>
          <a:bodyPr wrap="none" lIns="91440" tIns="45720" rIns="91440" bIns="45720" rtlCol="0" anchor="t">
            <a:spAutoFit/>
          </a:bodyPr>
          <a:lstStyle/>
          <a:p>
            <a:r>
              <a:rPr lang="ca-ES-valencia">
                <a:latin typeface="Arial"/>
                <a:cs typeface="Arial"/>
              </a:rPr>
              <a:t>L</a:t>
            </a:r>
            <a:r>
              <a:rPr lang="el-GR">
                <a:latin typeface="Arial"/>
                <a:cs typeface="Arial"/>
              </a:rPr>
              <a:t>π</a:t>
            </a:r>
            <a:r>
              <a:rPr lang="ca-ES-valencia">
                <a:latin typeface="Arial"/>
                <a:cs typeface="Arial"/>
              </a:rPr>
              <a:t>/2:</a:t>
            </a:r>
            <a:endParaRPr lang="es-ES">
              <a:latin typeface="Arial"/>
              <a:cs typeface="Arial"/>
            </a:endParaRPr>
          </a:p>
        </p:txBody>
      </p:sp>
      <p:cxnSp>
        <p:nvCxnSpPr>
          <p:cNvPr id="19" name="Conector recto 18">
            <a:extLst>
              <a:ext uri="{FF2B5EF4-FFF2-40B4-BE49-F238E27FC236}">
                <a16:creationId xmlns:a16="http://schemas.microsoft.com/office/drawing/2014/main" id="{F56CD2FC-FCFB-1773-EDEC-D68E764F61D2}"/>
              </a:ext>
            </a:extLst>
          </p:cNvPr>
          <p:cNvCxnSpPr/>
          <p:nvPr/>
        </p:nvCxnSpPr>
        <p:spPr>
          <a:xfrm>
            <a:off x="5486400" y="1600200"/>
            <a:ext cx="0" cy="2819400"/>
          </a:xfrm>
          <a:prstGeom prst="line">
            <a:avLst/>
          </a:prstGeom>
          <a:ln>
            <a:solidFill>
              <a:schemeClr val="accent6">
                <a:lumMod val="75000"/>
              </a:schemeClr>
            </a:solidFill>
          </a:ln>
        </p:spPr>
        <p:style>
          <a:lnRef idx="2">
            <a:schemeClr val="accent6"/>
          </a:lnRef>
          <a:fillRef idx="0">
            <a:schemeClr val="accent6"/>
          </a:fillRef>
          <a:effectRef idx="1">
            <a:schemeClr val="accent6"/>
          </a:effectRef>
          <a:fontRef idx="minor">
            <a:schemeClr val="tx1"/>
          </a:fontRef>
        </p:style>
      </p:cxnSp>
      <p:sp>
        <p:nvSpPr>
          <p:cNvPr id="20" name="CuadroTexto 19">
            <a:extLst>
              <a:ext uri="{FF2B5EF4-FFF2-40B4-BE49-F238E27FC236}">
                <a16:creationId xmlns:a16="http://schemas.microsoft.com/office/drawing/2014/main" id="{CA5F8F3C-6805-45FE-237C-2F4465F4608F}"/>
              </a:ext>
            </a:extLst>
          </p:cNvPr>
          <p:cNvSpPr txBox="1"/>
          <p:nvPr/>
        </p:nvSpPr>
        <p:spPr>
          <a:xfrm>
            <a:off x="5873206" y="2846775"/>
            <a:ext cx="856325" cy="369332"/>
          </a:xfrm>
          <a:prstGeom prst="rect">
            <a:avLst/>
          </a:prstGeom>
          <a:noFill/>
        </p:spPr>
        <p:txBody>
          <a:bodyPr wrap="none" lIns="91440" tIns="45720" rIns="91440" bIns="45720" rtlCol="0" anchor="t">
            <a:spAutoFit/>
          </a:bodyPr>
          <a:lstStyle/>
          <a:p>
            <a:r>
              <a:rPr lang="ca-ES-valencia">
                <a:latin typeface="Arial"/>
                <a:cs typeface="Arial"/>
              </a:rPr>
              <a:t>3L</a:t>
            </a:r>
            <a:r>
              <a:rPr lang="el-GR">
                <a:latin typeface="Arial"/>
                <a:cs typeface="Arial"/>
              </a:rPr>
              <a:t>π</a:t>
            </a:r>
            <a:r>
              <a:rPr lang="ca-ES-valencia">
                <a:latin typeface="Arial"/>
                <a:cs typeface="Arial"/>
              </a:rPr>
              <a:t>/2:</a:t>
            </a:r>
            <a:endParaRPr lang="es-ES">
              <a:latin typeface="Arial"/>
              <a:cs typeface="Arial"/>
            </a:endParaRPr>
          </a:p>
        </p:txBody>
      </p:sp>
      <p:sp>
        <p:nvSpPr>
          <p:cNvPr id="21" name="Elipse 20">
            <a:extLst>
              <a:ext uri="{FF2B5EF4-FFF2-40B4-BE49-F238E27FC236}">
                <a16:creationId xmlns:a16="http://schemas.microsoft.com/office/drawing/2014/main" id="{B92F2C5A-D2DF-9E23-2AEA-A73CE31AA491}"/>
              </a:ext>
            </a:extLst>
          </p:cNvPr>
          <p:cNvSpPr/>
          <p:nvPr/>
        </p:nvSpPr>
        <p:spPr>
          <a:xfrm>
            <a:off x="7239000" y="1905000"/>
            <a:ext cx="346993" cy="228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Elipse 21">
            <a:extLst>
              <a:ext uri="{FF2B5EF4-FFF2-40B4-BE49-F238E27FC236}">
                <a16:creationId xmlns:a16="http://schemas.microsoft.com/office/drawing/2014/main" id="{1E241B65-5538-2924-66E8-FC25121434CF}"/>
              </a:ext>
            </a:extLst>
          </p:cNvPr>
          <p:cNvSpPr/>
          <p:nvPr/>
        </p:nvSpPr>
        <p:spPr>
          <a:xfrm>
            <a:off x="9567193" y="1844949"/>
            <a:ext cx="346993" cy="228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uadroTexto 22">
            <a:extLst>
              <a:ext uri="{FF2B5EF4-FFF2-40B4-BE49-F238E27FC236}">
                <a16:creationId xmlns:a16="http://schemas.microsoft.com/office/drawing/2014/main" id="{96345970-58C2-9C8A-9766-041F100E78D1}"/>
              </a:ext>
            </a:extLst>
          </p:cNvPr>
          <p:cNvSpPr txBox="1"/>
          <p:nvPr/>
        </p:nvSpPr>
        <p:spPr>
          <a:xfrm>
            <a:off x="9573903" y="2209482"/>
            <a:ext cx="359394" cy="307777"/>
          </a:xfrm>
          <a:prstGeom prst="rect">
            <a:avLst/>
          </a:prstGeom>
          <a:noFill/>
        </p:spPr>
        <p:txBody>
          <a:bodyPr wrap="none" rtlCol="0">
            <a:spAutoFit/>
          </a:bodyPr>
          <a:lstStyle/>
          <a:p>
            <a:r>
              <a:rPr lang="ca-ES-valencia" sz="1400"/>
              <a:t>L</a:t>
            </a:r>
            <a:r>
              <a:rPr lang="el-GR" sz="1400"/>
              <a:t>π</a:t>
            </a:r>
            <a:endParaRPr lang="es-ES" sz="1400"/>
          </a:p>
        </p:txBody>
      </p:sp>
      <p:cxnSp>
        <p:nvCxnSpPr>
          <p:cNvPr id="31" name="Conector recto 30">
            <a:extLst>
              <a:ext uri="{FF2B5EF4-FFF2-40B4-BE49-F238E27FC236}">
                <a16:creationId xmlns:a16="http://schemas.microsoft.com/office/drawing/2014/main" id="{F2ABE38D-3A1A-9FA0-A806-AD6B02323750}"/>
              </a:ext>
            </a:extLst>
          </p:cNvPr>
          <p:cNvCxnSpPr/>
          <p:nvPr/>
        </p:nvCxnSpPr>
        <p:spPr>
          <a:xfrm>
            <a:off x="9753600" y="1981200"/>
            <a:ext cx="0" cy="304800"/>
          </a:xfrm>
          <a:prstGeom prst="line">
            <a:avLst/>
          </a:prstGeom>
        </p:spPr>
        <p:style>
          <a:lnRef idx="1">
            <a:schemeClr val="dk1"/>
          </a:lnRef>
          <a:fillRef idx="0">
            <a:schemeClr val="dk1"/>
          </a:fillRef>
          <a:effectRef idx="0">
            <a:schemeClr val="dk1"/>
          </a:effectRef>
          <a:fontRef idx="minor">
            <a:schemeClr val="tx1"/>
          </a:fontRef>
        </p:style>
      </p:cxnSp>
      <p:pic>
        <p:nvPicPr>
          <p:cNvPr id="4" name="Imagen 3" descr="Texto&#10;&#10;El contenido generado por IA puede ser incorrecto.">
            <a:extLst>
              <a:ext uri="{FF2B5EF4-FFF2-40B4-BE49-F238E27FC236}">
                <a16:creationId xmlns:a16="http://schemas.microsoft.com/office/drawing/2014/main" id="{66DA4902-9846-4CFB-31A2-B7506097809A}"/>
              </a:ext>
            </a:extLst>
          </p:cNvPr>
          <p:cNvPicPr>
            <a:picLocks noChangeAspect="1"/>
          </p:cNvPicPr>
          <p:nvPr/>
        </p:nvPicPr>
        <p:blipFill>
          <a:blip r:embed="rId8"/>
          <a:stretch>
            <a:fillRect/>
          </a:stretch>
        </p:blipFill>
        <p:spPr>
          <a:xfrm>
            <a:off x="1918630" y="2694590"/>
            <a:ext cx="2652878" cy="1889236"/>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#6.2 – 2x2 Multimode Interference Coupler - Optimization</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3D7D9E5-DAC3-2BB8-7377-826863CBAD4E}"/>
              </a:ext>
            </a:extLst>
          </p:cNvPr>
          <p:cNvSpPr txBox="1"/>
          <p:nvPr/>
        </p:nvSpPr>
        <p:spPr>
          <a:xfrm>
            <a:off x="580686" y="4891358"/>
            <a:ext cx="11199971" cy="1384995"/>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a:latin typeface="Arial"/>
                <a:cs typeface="Arial"/>
              </a:rPr>
              <a:t>Con </a:t>
            </a:r>
            <a:r>
              <a:rPr lang="en-US" sz="1200" err="1">
                <a:latin typeface="Arial"/>
                <a:cs typeface="Arial"/>
              </a:rPr>
              <a:t>relación</a:t>
            </a:r>
            <a:r>
              <a:rPr lang="en-US" sz="1200">
                <a:latin typeface="Arial"/>
                <a:cs typeface="Arial"/>
              </a:rPr>
              <a:t> a</a:t>
            </a:r>
            <a:endParaRPr lang="es-ES"/>
          </a:p>
          <a:p>
            <a:pPr algn="just"/>
            <a:endParaRPr lang="en-US" sz="1200">
              <a:latin typeface="Arial" panose="020B0604020202020204" pitchFamily="34" charset="0"/>
              <a:cs typeface="Arial" panose="020B0604020202020204" pitchFamily="34" charset="0"/>
            </a:endParaRPr>
          </a:p>
          <a:p>
            <a:pPr algn="just"/>
            <a:r>
              <a:rPr lang="en-US" sz="1200" err="1">
                <a:latin typeface="Arial"/>
                <a:cs typeface="Arial"/>
              </a:rPr>
              <a:t>Probamos</a:t>
            </a:r>
            <a:r>
              <a:rPr lang="en-US" sz="1200">
                <a:latin typeface="Arial"/>
                <a:cs typeface="Arial"/>
              </a:rPr>
              <a:t> a </a:t>
            </a:r>
            <a:r>
              <a:rPr lang="en-US" sz="1200" err="1">
                <a:latin typeface="Arial"/>
                <a:cs typeface="Arial"/>
              </a:rPr>
              <a:t>ajustar</a:t>
            </a:r>
            <a:r>
              <a:rPr lang="en-US" sz="1200">
                <a:latin typeface="Arial"/>
                <a:cs typeface="Arial"/>
              </a:rPr>
              <a:t> </a:t>
            </a:r>
            <a:r>
              <a:rPr lang="en-US" sz="1200" err="1">
                <a:latin typeface="Arial"/>
                <a:cs typeface="Arial"/>
              </a:rPr>
              <a:t>primeramente</a:t>
            </a:r>
            <a:r>
              <a:rPr lang="en-US" sz="1200">
                <a:latin typeface="Arial"/>
                <a:cs typeface="Arial"/>
              </a:rPr>
              <a:t> la </a:t>
            </a:r>
            <a:r>
              <a:rPr lang="en-US" sz="1200" err="1">
                <a:latin typeface="Arial"/>
                <a:cs typeface="Arial"/>
              </a:rPr>
              <a:t>longitud</a:t>
            </a:r>
            <a:r>
              <a:rPr lang="en-US" sz="1200">
                <a:latin typeface="Arial"/>
                <a:cs typeface="Arial"/>
              </a:rPr>
              <a:t> del MMI( </a:t>
            </a:r>
            <a:r>
              <a:rPr lang="en-US" sz="1200" err="1">
                <a:latin typeface="Arial"/>
                <a:cs typeface="Arial"/>
              </a:rPr>
              <a:t>dy</a:t>
            </a:r>
            <a:r>
              <a:rPr lang="en-US" sz="1200">
                <a:latin typeface="Arial"/>
                <a:cs typeface="Arial"/>
              </a:rPr>
              <a:t>=0.5 </a:t>
            </a:r>
            <a:r>
              <a:rPr lang="en-US" sz="1200" err="1">
                <a:ea typeface="+mn-lt"/>
                <a:cs typeface="+mn-lt"/>
              </a:rPr>
              <a:t>μm</a:t>
            </a:r>
            <a:r>
              <a:rPr lang="en-US" sz="1200">
                <a:ea typeface="+mn-lt"/>
                <a:cs typeface="+mn-lt"/>
              </a:rPr>
              <a:t>,</a:t>
            </a:r>
            <a:r>
              <a:rPr lang="en-US" sz="1200">
                <a:latin typeface="Calibri"/>
                <a:ea typeface="+mn-lt"/>
                <a:cs typeface="Calibri"/>
              </a:rPr>
              <a:t> </a:t>
            </a:r>
            <a:r>
              <a:rPr lang="en-US" sz="1200">
                <a:latin typeface="Calibri"/>
                <a:ea typeface="Calibri"/>
                <a:cs typeface="Calibri"/>
              </a:rPr>
              <a:t>con lo </a:t>
            </a:r>
            <a:r>
              <a:rPr lang="en-US" sz="1200" err="1">
                <a:latin typeface="Calibri"/>
                <a:ea typeface="Calibri"/>
                <a:cs typeface="Calibri"/>
              </a:rPr>
              <a:t>que</a:t>
            </a:r>
            <a:r>
              <a:rPr lang="en-US" sz="1200">
                <a:latin typeface="Calibri"/>
                <a:ea typeface="Calibri"/>
                <a:cs typeface="Calibri"/>
              </a:rPr>
              <a:t> se </a:t>
            </a:r>
            <a:r>
              <a:rPr lang="en-US" sz="1200" err="1">
                <a:latin typeface="Calibri"/>
                <a:ea typeface="Calibri"/>
                <a:cs typeface="Calibri"/>
              </a:rPr>
              <a:t>obtiene</a:t>
            </a:r>
            <a:r>
              <a:rPr lang="en-US" sz="1200">
                <a:latin typeface="Calibri"/>
                <a:ea typeface="Calibri"/>
                <a:cs typeface="Calibri"/>
              </a:rPr>
              <a:t> un </a:t>
            </a:r>
            <a:r>
              <a:rPr lang="en-US" sz="1200" err="1">
                <a:latin typeface="Calibri"/>
                <a:ea typeface="Calibri"/>
                <a:cs typeface="Calibri"/>
              </a:rPr>
              <a:t>reparto</a:t>
            </a:r>
            <a:r>
              <a:rPr lang="en-US" sz="1200">
                <a:latin typeface="Calibri"/>
                <a:ea typeface="Calibri"/>
                <a:cs typeface="Calibri"/>
              </a:rPr>
              <a:t> de </a:t>
            </a:r>
            <a:r>
              <a:rPr lang="en-US" sz="1200" err="1">
                <a:latin typeface="Calibri"/>
                <a:ea typeface="Calibri"/>
                <a:cs typeface="Calibri"/>
              </a:rPr>
              <a:t>potencia</a:t>
            </a:r>
            <a:r>
              <a:rPr lang="en-US" sz="1200">
                <a:latin typeface="Calibri"/>
                <a:ea typeface="Calibri"/>
                <a:cs typeface="Calibri"/>
              </a:rPr>
              <a:t> </a:t>
            </a:r>
            <a:r>
              <a:rPr lang="en-US" sz="1200" err="1">
                <a:latin typeface="Calibri"/>
                <a:ea typeface="Calibri"/>
                <a:cs typeface="Calibri"/>
              </a:rPr>
              <a:t>equilibrado</a:t>
            </a:r>
            <a:r>
              <a:rPr lang="en-US" sz="1200">
                <a:latin typeface="Calibri"/>
                <a:ea typeface="Calibri"/>
                <a:cs typeface="Calibri"/>
              </a:rPr>
              <a:t>.</a:t>
            </a:r>
            <a:endParaRPr lang="en-US" sz="1200">
              <a:latin typeface="Arial"/>
              <a:cs typeface="Arial"/>
            </a:endParaRPr>
          </a:p>
          <a:p>
            <a:pPr algn="just"/>
            <a:r>
              <a:rPr lang="en-US" sz="1200" err="1">
                <a:latin typeface="Arial"/>
                <a:cs typeface="Arial"/>
              </a:rPr>
              <a:t>Justificación</a:t>
            </a:r>
            <a:r>
              <a:rPr lang="en-US" sz="1200">
                <a:latin typeface="Arial"/>
                <a:cs typeface="Arial"/>
              </a:rPr>
              <a:t>: </a:t>
            </a:r>
            <a:r>
              <a:rPr lang="en-US" sz="1200">
                <a:latin typeface="Arial"/>
                <a:ea typeface="+mn-lt"/>
                <a:cs typeface="Arial"/>
              </a:rPr>
              <a:t>L</a:t>
            </a:r>
            <a:r>
              <a:rPr lang="en-US" sz="1200">
                <a:ea typeface="+mn-lt"/>
                <a:cs typeface="+mn-lt"/>
              </a:rPr>
              <a:t>os </a:t>
            </a:r>
            <a:r>
              <a:rPr lang="en-US" sz="1200" err="1">
                <a:ea typeface="+mn-lt"/>
                <a:cs typeface="+mn-lt"/>
              </a:rPr>
              <a:t>resultados</a:t>
            </a:r>
            <a:r>
              <a:rPr lang="en-US" sz="1200">
                <a:ea typeface="+mn-lt"/>
                <a:cs typeface="+mn-lt"/>
              </a:rPr>
              <a:t> de la </a:t>
            </a:r>
            <a:r>
              <a:rPr lang="en-US" sz="1200" err="1">
                <a:ea typeface="+mn-lt"/>
                <a:cs typeface="+mn-lt"/>
              </a:rPr>
              <a:t>simulación</a:t>
            </a:r>
            <a:r>
              <a:rPr lang="en-US" sz="1200">
                <a:ea typeface="+mn-lt"/>
                <a:cs typeface="+mn-lt"/>
              </a:rPr>
              <a:t> </a:t>
            </a:r>
            <a:r>
              <a:rPr lang="en-US" sz="1200" err="1">
                <a:ea typeface="+mn-lt"/>
                <a:cs typeface="+mn-lt"/>
              </a:rPr>
              <a:t>muestran</a:t>
            </a:r>
            <a:r>
              <a:rPr lang="en-US" sz="1200">
                <a:ea typeface="+mn-lt"/>
                <a:cs typeface="+mn-lt"/>
              </a:rPr>
              <a:t> </a:t>
            </a:r>
            <a:r>
              <a:rPr lang="en-US" sz="1200" err="1">
                <a:ea typeface="+mn-lt"/>
                <a:cs typeface="+mn-lt"/>
              </a:rPr>
              <a:t>una</a:t>
            </a:r>
            <a:r>
              <a:rPr lang="en-US" sz="1200">
                <a:ea typeface="+mn-lt"/>
                <a:cs typeface="+mn-lt"/>
              </a:rPr>
              <a:t> </a:t>
            </a:r>
            <a:r>
              <a:rPr lang="en-US" sz="1200" err="1">
                <a:ea typeface="+mn-lt"/>
                <a:cs typeface="+mn-lt"/>
              </a:rPr>
              <a:t>mejora</a:t>
            </a:r>
            <a:r>
              <a:rPr lang="en-US" sz="1200">
                <a:ea typeface="+mn-lt"/>
                <a:cs typeface="+mn-lt"/>
              </a:rPr>
              <a:t> </a:t>
            </a:r>
            <a:r>
              <a:rPr lang="en-US" sz="1200" err="1">
                <a:ea typeface="+mn-lt"/>
                <a:cs typeface="+mn-lt"/>
              </a:rPr>
              <a:t>en</a:t>
            </a:r>
            <a:r>
              <a:rPr lang="en-US" sz="1200">
                <a:ea typeface="+mn-lt"/>
                <a:cs typeface="+mn-lt"/>
              </a:rPr>
              <a:t> la </a:t>
            </a:r>
            <a:r>
              <a:rPr lang="en-US" sz="1200" err="1">
                <a:ea typeface="+mn-lt"/>
                <a:cs typeface="+mn-lt"/>
              </a:rPr>
              <a:t>distribución</a:t>
            </a:r>
            <a:r>
              <a:rPr lang="en-US" sz="1200">
                <a:ea typeface="+mn-lt"/>
                <a:cs typeface="+mn-lt"/>
              </a:rPr>
              <a:t> de </a:t>
            </a:r>
            <a:r>
              <a:rPr lang="en-US" sz="1200" err="1">
                <a:ea typeface="+mn-lt"/>
                <a:cs typeface="+mn-lt"/>
              </a:rPr>
              <a:t>potencia</a:t>
            </a:r>
            <a:r>
              <a:rPr lang="en-US" sz="1200">
                <a:ea typeface="+mn-lt"/>
                <a:cs typeface="+mn-lt"/>
              </a:rPr>
              <a:t> entre </a:t>
            </a:r>
            <a:r>
              <a:rPr lang="en-US" sz="1200" err="1">
                <a:ea typeface="+mn-lt"/>
                <a:cs typeface="+mn-lt"/>
              </a:rPr>
              <a:t>los</a:t>
            </a:r>
            <a:r>
              <a:rPr lang="en-US" sz="1200">
                <a:ea typeface="+mn-lt"/>
                <a:cs typeface="+mn-lt"/>
              </a:rPr>
              <a:t> </a:t>
            </a:r>
            <a:r>
              <a:rPr lang="en-US" sz="1200" err="1">
                <a:ea typeface="+mn-lt"/>
                <a:cs typeface="+mn-lt"/>
              </a:rPr>
              <a:t>puertos</a:t>
            </a:r>
            <a:r>
              <a:rPr lang="en-US" sz="1200">
                <a:ea typeface="+mn-lt"/>
                <a:cs typeface="+mn-lt"/>
              </a:rPr>
              <a:t> de </a:t>
            </a:r>
            <a:r>
              <a:rPr lang="en-US" sz="1200" err="1">
                <a:ea typeface="+mn-lt"/>
                <a:cs typeface="+mn-lt"/>
              </a:rPr>
              <a:t>salida</a:t>
            </a:r>
            <a:r>
              <a:rPr lang="en-US" sz="1200">
                <a:ea typeface="+mn-lt"/>
                <a:cs typeface="+mn-lt"/>
              </a:rPr>
              <a:t> del </a:t>
            </a:r>
            <a:r>
              <a:rPr lang="en-US" sz="1200" err="1">
                <a:ea typeface="+mn-lt"/>
                <a:cs typeface="+mn-lt"/>
              </a:rPr>
              <a:t>acoplador</a:t>
            </a:r>
            <a:r>
              <a:rPr lang="en-US" sz="1200">
                <a:ea typeface="+mn-lt"/>
                <a:cs typeface="+mn-lt"/>
              </a:rPr>
              <a:t> MMI 2x2 </a:t>
            </a:r>
            <a:r>
              <a:rPr lang="en-US" sz="1200" err="1">
                <a:ea typeface="+mn-lt"/>
                <a:cs typeface="+mn-lt"/>
              </a:rPr>
              <a:t>en</a:t>
            </a:r>
            <a:r>
              <a:rPr lang="en-US" sz="1200">
                <a:ea typeface="+mn-lt"/>
                <a:cs typeface="+mn-lt"/>
              </a:rPr>
              <a:t> </a:t>
            </a:r>
            <a:r>
              <a:rPr lang="en-US" sz="1200" err="1">
                <a:ea typeface="+mn-lt"/>
                <a:cs typeface="+mn-lt"/>
              </a:rPr>
              <a:t>comparación</a:t>
            </a:r>
            <a:r>
              <a:rPr lang="en-US" sz="1200">
                <a:ea typeface="+mn-lt"/>
                <a:cs typeface="+mn-lt"/>
              </a:rPr>
              <a:t> con las </a:t>
            </a:r>
            <a:r>
              <a:rPr lang="en-US" sz="1200" err="1">
                <a:ea typeface="+mn-lt"/>
                <a:cs typeface="+mn-lt"/>
              </a:rPr>
              <a:t>simulaciones</a:t>
            </a:r>
            <a:r>
              <a:rPr lang="en-US" sz="1200">
                <a:ea typeface="+mn-lt"/>
                <a:cs typeface="+mn-lt"/>
              </a:rPr>
              <a:t> </a:t>
            </a:r>
            <a:r>
              <a:rPr lang="en-US" sz="1200" err="1">
                <a:ea typeface="+mn-lt"/>
                <a:cs typeface="+mn-lt"/>
              </a:rPr>
              <a:t>anteriores</a:t>
            </a:r>
            <a:r>
              <a:rPr lang="en-US" sz="1200">
                <a:ea typeface="+mn-lt"/>
                <a:cs typeface="+mn-lt"/>
              </a:rPr>
              <a:t>. Sin embargo, </a:t>
            </a:r>
            <a:r>
              <a:rPr lang="en-US" sz="1200" err="1">
                <a:ea typeface="+mn-lt"/>
                <a:cs typeface="+mn-lt"/>
              </a:rPr>
              <a:t>aún</a:t>
            </a:r>
            <a:r>
              <a:rPr lang="en-US" sz="1200">
                <a:ea typeface="+mn-lt"/>
                <a:cs typeface="+mn-lt"/>
              </a:rPr>
              <a:t> se </a:t>
            </a:r>
            <a:r>
              <a:rPr lang="en-US" sz="1200" err="1">
                <a:ea typeface="+mn-lt"/>
                <a:cs typeface="+mn-lt"/>
              </a:rPr>
              <a:t>observa</a:t>
            </a:r>
            <a:r>
              <a:rPr lang="en-US" sz="1200">
                <a:ea typeface="+mn-lt"/>
                <a:cs typeface="+mn-lt"/>
              </a:rPr>
              <a:t> </a:t>
            </a:r>
            <a:r>
              <a:rPr lang="en-US" sz="1200" err="1">
                <a:ea typeface="+mn-lt"/>
                <a:cs typeface="+mn-lt"/>
              </a:rPr>
              <a:t>una</a:t>
            </a:r>
            <a:r>
              <a:rPr lang="en-US" sz="1200">
                <a:ea typeface="+mn-lt"/>
                <a:cs typeface="+mn-lt"/>
              </a:rPr>
              <a:t> </a:t>
            </a:r>
            <a:r>
              <a:rPr lang="en-US" sz="1200" err="1">
                <a:ea typeface="+mn-lt"/>
                <a:cs typeface="+mn-lt"/>
              </a:rPr>
              <a:t>ligera</a:t>
            </a:r>
            <a:r>
              <a:rPr lang="en-US" sz="1200">
                <a:ea typeface="+mn-lt"/>
                <a:cs typeface="+mn-lt"/>
              </a:rPr>
              <a:t> </a:t>
            </a:r>
            <a:r>
              <a:rPr lang="en-US" sz="1200" err="1">
                <a:ea typeface="+mn-lt"/>
                <a:cs typeface="+mn-lt"/>
              </a:rPr>
              <a:t>desviación</a:t>
            </a:r>
            <a:r>
              <a:rPr lang="en-US" sz="1200">
                <a:ea typeface="+mn-lt"/>
                <a:cs typeface="+mn-lt"/>
              </a:rPr>
              <a:t> del </a:t>
            </a:r>
            <a:r>
              <a:rPr lang="en-US" sz="1200" err="1">
                <a:ea typeface="+mn-lt"/>
                <a:cs typeface="+mn-lt"/>
              </a:rPr>
              <a:t>objetivo</a:t>
            </a:r>
            <a:r>
              <a:rPr lang="en-US" sz="1200">
                <a:ea typeface="+mn-lt"/>
                <a:cs typeface="+mn-lt"/>
              </a:rPr>
              <a:t> de </a:t>
            </a:r>
            <a:r>
              <a:rPr lang="en-US" sz="1200" err="1">
                <a:ea typeface="+mn-lt"/>
                <a:cs typeface="+mn-lt"/>
              </a:rPr>
              <a:t>una</a:t>
            </a:r>
            <a:r>
              <a:rPr lang="en-US" sz="1200">
                <a:ea typeface="+mn-lt"/>
                <a:cs typeface="+mn-lt"/>
              </a:rPr>
              <a:t> </a:t>
            </a:r>
            <a:r>
              <a:rPr lang="en-US" sz="1200" err="1">
                <a:ea typeface="+mn-lt"/>
                <a:cs typeface="+mn-lt"/>
              </a:rPr>
              <a:t>distribución</a:t>
            </a:r>
            <a:r>
              <a:rPr lang="en-US" sz="1200">
                <a:ea typeface="+mn-lt"/>
                <a:cs typeface="+mn-lt"/>
              </a:rPr>
              <a:t> 50:50 y </a:t>
            </a:r>
            <a:r>
              <a:rPr lang="en-US" sz="1200" err="1">
                <a:ea typeface="+mn-lt"/>
                <a:cs typeface="+mn-lt"/>
              </a:rPr>
              <a:t>una</a:t>
            </a:r>
            <a:r>
              <a:rPr lang="en-US" sz="1200">
                <a:ea typeface="+mn-lt"/>
                <a:cs typeface="+mn-lt"/>
              </a:rPr>
              <a:t> </a:t>
            </a:r>
            <a:r>
              <a:rPr lang="en-US" sz="1200" err="1">
                <a:ea typeface="+mn-lt"/>
                <a:cs typeface="+mn-lt"/>
              </a:rPr>
              <a:t>pérdida</a:t>
            </a:r>
            <a:r>
              <a:rPr lang="en-US" sz="1200">
                <a:ea typeface="+mn-lt"/>
                <a:cs typeface="+mn-lt"/>
              </a:rPr>
              <a:t> de </a:t>
            </a:r>
            <a:r>
              <a:rPr lang="en-US" sz="1200" err="1">
                <a:ea typeface="+mn-lt"/>
                <a:cs typeface="+mn-lt"/>
              </a:rPr>
              <a:t>inserción</a:t>
            </a:r>
            <a:r>
              <a:rPr lang="en-US" sz="1200">
                <a:ea typeface="+mn-lt"/>
                <a:cs typeface="+mn-lt"/>
              </a:rPr>
              <a:t> no </a:t>
            </a:r>
            <a:r>
              <a:rPr lang="en-US" sz="1200" err="1">
                <a:ea typeface="+mn-lt"/>
                <a:cs typeface="+mn-lt"/>
              </a:rPr>
              <a:t>nula</a:t>
            </a:r>
            <a:r>
              <a:rPr lang="en-US" sz="1200">
                <a:ea typeface="+mn-lt"/>
                <a:cs typeface="+mn-lt"/>
              </a:rPr>
              <a:t>.</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Gráfico&#10;&#10;El contenido generado por IA puede ser incorrecto.">
            <a:extLst>
              <a:ext uri="{FF2B5EF4-FFF2-40B4-BE49-F238E27FC236}">
                <a16:creationId xmlns:a16="http://schemas.microsoft.com/office/drawing/2014/main" id="{0F2D8EF8-E7CA-B123-3988-77C18451DC70}"/>
              </a:ext>
            </a:extLst>
          </p:cNvPr>
          <p:cNvPicPr>
            <a:picLocks noChangeAspect="1"/>
          </p:cNvPicPr>
          <p:nvPr/>
        </p:nvPicPr>
        <p:blipFill>
          <a:blip r:embed="rId4"/>
          <a:stretch>
            <a:fillRect/>
          </a:stretch>
        </p:blipFill>
        <p:spPr>
          <a:xfrm>
            <a:off x="6079377" y="1916772"/>
            <a:ext cx="5381625" cy="2219325"/>
          </a:xfrm>
          <a:prstGeom prst="rect">
            <a:avLst/>
          </a:prstGeom>
        </p:spPr>
      </p:pic>
      <p:pic>
        <p:nvPicPr>
          <p:cNvPr id="9" name="Imagen 8" descr="Texto&#10;&#10;El contenido generado por IA puede ser incorrecto.">
            <a:extLst>
              <a:ext uri="{FF2B5EF4-FFF2-40B4-BE49-F238E27FC236}">
                <a16:creationId xmlns:a16="http://schemas.microsoft.com/office/drawing/2014/main" id="{81266680-F7A8-56B4-9FA5-B1EFEECA7A5B}"/>
              </a:ext>
            </a:extLst>
          </p:cNvPr>
          <p:cNvPicPr>
            <a:picLocks noChangeAspect="1"/>
          </p:cNvPicPr>
          <p:nvPr/>
        </p:nvPicPr>
        <p:blipFill>
          <a:blip r:embed="rId5"/>
          <a:stretch>
            <a:fillRect/>
          </a:stretch>
        </p:blipFill>
        <p:spPr>
          <a:xfrm>
            <a:off x="1447800" y="1945436"/>
            <a:ext cx="3200400" cy="2190750"/>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#6.3 – 2x2 Multimode Interference Coupler – Optimization (II)</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a:latin typeface="Arial"/>
                <a:cs typeface="Arial"/>
              </a:rPr>
              <a:t>Al </a:t>
            </a:r>
            <a:r>
              <a:rPr lang="en-US" sz="1200" err="1">
                <a:latin typeface="Arial"/>
                <a:cs typeface="Arial"/>
              </a:rPr>
              <a:t>ajustar</a:t>
            </a:r>
            <a:r>
              <a:rPr lang="en-US" sz="1200">
                <a:latin typeface="Arial"/>
                <a:cs typeface="Arial"/>
              </a:rPr>
              <a:t> la </a:t>
            </a:r>
            <a:r>
              <a:rPr lang="en-US" sz="1200" err="1">
                <a:latin typeface="Arial"/>
                <a:cs typeface="Arial"/>
              </a:rPr>
              <a:t>longitud</a:t>
            </a:r>
            <a:r>
              <a:rPr lang="en-US" sz="1200">
                <a:latin typeface="Arial"/>
                <a:cs typeface="Arial"/>
              </a:rPr>
              <a:t> y </a:t>
            </a:r>
            <a:r>
              <a:rPr lang="en-US" sz="1200" err="1">
                <a:latin typeface="Arial"/>
                <a:cs typeface="Arial"/>
              </a:rPr>
              <a:t>aumentar</a:t>
            </a:r>
            <a:r>
              <a:rPr lang="en-US" sz="1200">
                <a:latin typeface="Arial"/>
                <a:cs typeface="Arial"/>
              </a:rPr>
              <a:t> la </a:t>
            </a:r>
            <a:r>
              <a:rPr lang="en-US" sz="1200" err="1">
                <a:latin typeface="Arial"/>
                <a:cs typeface="Arial"/>
              </a:rPr>
              <a:t>anchura</a:t>
            </a:r>
            <a:r>
              <a:rPr lang="en-US" sz="1200">
                <a:latin typeface="Arial"/>
                <a:cs typeface="Arial"/>
              </a:rPr>
              <a:t> de las </a:t>
            </a:r>
            <a:r>
              <a:rPr lang="en-US" sz="1200" err="1">
                <a:latin typeface="Arial"/>
                <a:cs typeface="Arial"/>
              </a:rPr>
              <a:t>guías</a:t>
            </a:r>
            <a:r>
              <a:rPr lang="en-US" sz="1200">
                <a:latin typeface="Arial"/>
                <a:cs typeface="Arial"/>
              </a:rPr>
              <a:t> de </a:t>
            </a:r>
            <a:r>
              <a:rPr lang="en-US" sz="1200" err="1">
                <a:latin typeface="Arial"/>
                <a:cs typeface="Arial"/>
              </a:rPr>
              <a:t>entrad</a:t>
            </a:r>
            <a:r>
              <a:rPr lang="en-US" sz="1200">
                <a:latin typeface="Arial"/>
                <a:cs typeface="Arial"/>
              </a:rPr>
              <a:t> y </a:t>
            </a:r>
            <a:r>
              <a:rPr lang="en-US" sz="1200" err="1">
                <a:latin typeface="Arial"/>
                <a:cs typeface="Arial"/>
              </a:rPr>
              <a:t>salida</a:t>
            </a:r>
            <a:r>
              <a:rPr lang="en-US" sz="1200">
                <a:latin typeface="Arial"/>
                <a:cs typeface="Arial"/>
              </a:rPr>
              <a:t>, </a:t>
            </a:r>
            <a:r>
              <a:rPr lang="en-US" sz="1200" err="1">
                <a:latin typeface="Arial"/>
                <a:cs typeface="Arial"/>
              </a:rPr>
              <a:t>llegando</a:t>
            </a:r>
            <a:r>
              <a:rPr lang="en-US" sz="1200">
                <a:latin typeface="Arial"/>
                <a:cs typeface="Arial"/>
              </a:rPr>
              <a:t> a 0.8 </a:t>
            </a:r>
            <a:r>
              <a:rPr lang="en-US" sz="1200" err="1">
                <a:ea typeface="+mn-lt"/>
                <a:cs typeface="+mn-lt"/>
              </a:rPr>
              <a:t>μm</a:t>
            </a:r>
            <a:r>
              <a:rPr lang="en-US" sz="1200">
                <a:ea typeface="+mn-lt"/>
                <a:cs typeface="+mn-lt"/>
              </a:rPr>
              <a:t>, y </a:t>
            </a:r>
            <a:r>
              <a:rPr lang="en-US" sz="1200" err="1">
                <a:ea typeface="+mn-lt"/>
                <a:cs typeface="+mn-lt"/>
              </a:rPr>
              <a:t>teniendo</a:t>
            </a:r>
            <a:r>
              <a:rPr lang="en-US" sz="1200">
                <a:ea typeface="+mn-lt"/>
                <a:cs typeface="+mn-lt"/>
              </a:rPr>
              <a:t> un </a:t>
            </a:r>
            <a:r>
              <a:rPr lang="en-US" sz="1200" err="1">
                <a:ea typeface="+mn-lt"/>
                <a:cs typeface="+mn-lt"/>
              </a:rPr>
              <a:t>incremento</a:t>
            </a:r>
            <a:r>
              <a:rPr lang="en-US" sz="1200">
                <a:ea typeface="+mn-lt"/>
                <a:cs typeface="+mn-lt"/>
              </a:rPr>
              <a:t> de </a:t>
            </a:r>
            <a:r>
              <a:rPr lang="en-US" sz="1200" err="1">
                <a:ea typeface="+mn-lt"/>
                <a:cs typeface="+mn-lt"/>
              </a:rPr>
              <a:t>longitud</a:t>
            </a:r>
            <a:r>
              <a:rPr lang="en-US" sz="1200">
                <a:ea typeface="+mn-lt"/>
                <a:cs typeface="+mn-lt"/>
              </a:rPr>
              <a:t> </a:t>
            </a:r>
            <a:r>
              <a:rPr lang="en-US" sz="1200" err="1">
                <a:ea typeface="+mn-lt"/>
                <a:cs typeface="+mn-lt"/>
              </a:rPr>
              <a:t>positivo</a:t>
            </a:r>
            <a:r>
              <a:rPr lang="en-US" sz="1200">
                <a:ea typeface="+mn-lt"/>
                <a:cs typeface="+mn-lt"/>
              </a:rPr>
              <a:t>, </a:t>
            </a:r>
            <a:r>
              <a:rPr lang="en-US" sz="1200" err="1">
                <a:ea typeface="+mn-lt"/>
                <a:cs typeface="+mn-lt"/>
              </a:rPr>
              <a:t>conseguimos</a:t>
            </a:r>
            <a:r>
              <a:rPr lang="en-US" sz="1200">
                <a:ea typeface="+mn-lt"/>
                <a:cs typeface="+mn-lt"/>
              </a:rPr>
              <a:t> </a:t>
            </a:r>
            <a:r>
              <a:rPr lang="en-US" sz="1200" err="1">
                <a:ea typeface="+mn-lt"/>
                <a:cs typeface="+mn-lt"/>
              </a:rPr>
              <a:t>llegar</a:t>
            </a:r>
            <a:r>
              <a:rPr lang="en-US" sz="1200">
                <a:ea typeface="+mn-lt"/>
                <a:cs typeface="+mn-lt"/>
              </a:rPr>
              <a:t> a </a:t>
            </a:r>
            <a:r>
              <a:rPr lang="en-US" sz="1200" err="1">
                <a:ea typeface="+mn-lt"/>
                <a:cs typeface="+mn-lt"/>
              </a:rPr>
              <a:t>valores</a:t>
            </a:r>
            <a:r>
              <a:rPr lang="en-US" sz="1200">
                <a:ea typeface="+mn-lt"/>
                <a:cs typeface="+mn-lt"/>
              </a:rPr>
              <a:t> </a:t>
            </a:r>
            <a:r>
              <a:rPr lang="en-US" sz="1200" err="1">
                <a:ea typeface="+mn-lt"/>
                <a:cs typeface="+mn-lt"/>
              </a:rPr>
              <a:t>por</a:t>
            </a:r>
            <a:r>
              <a:rPr lang="en-US" sz="1200">
                <a:ea typeface="+mn-lt"/>
                <a:cs typeface="+mn-lt"/>
              </a:rPr>
              <a:t> </a:t>
            </a:r>
            <a:r>
              <a:rPr lang="en-US" sz="1200" err="1">
                <a:ea typeface="+mn-lt"/>
                <a:cs typeface="+mn-lt"/>
              </a:rPr>
              <a:t>debajo</a:t>
            </a:r>
            <a:r>
              <a:rPr lang="en-US" sz="1200">
                <a:ea typeface="+mn-lt"/>
                <a:cs typeface="+mn-lt"/>
              </a:rPr>
              <a:t> del 0.1dB </a:t>
            </a:r>
            <a:r>
              <a:rPr lang="en-US" sz="1200" err="1">
                <a:ea typeface="+mn-lt"/>
                <a:cs typeface="+mn-lt"/>
              </a:rPr>
              <a:t>requerido</a:t>
            </a:r>
            <a:r>
              <a:rPr lang="en-US" sz="1200">
                <a:ea typeface="+mn-lt"/>
                <a:cs typeface="+mn-lt"/>
              </a:rPr>
              <a:t> de </a:t>
            </a:r>
            <a:r>
              <a:rPr lang="en-US" sz="1200" err="1">
                <a:ea typeface="+mn-lt"/>
                <a:cs typeface="+mn-lt"/>
              </a:rPr>
              <a:t>pérdidas</a:t>
            </a:r>
            <a:r>
              <a:rPr lang="en-US" sz="1200">
                <a:ea typeface="+mn-lt"/>
                <a:cs typeface="+mn-lt"/>
              </a:rPr>
              <a:t> </a:t>
            </a:r>
            <a:r>
              <a:rPr lang="en-US" sz="1200" err="1">
                <a:ea typeface="+mn-lt"/>
                <a:cs typeface="+mn-lt"/>
              </a:rPr>
              <a:t>en</a:t>
            </a:r>
            <a:r>
              <a:rPr lang="en-US" sz="1200">
                <a:ea typeface="+mn-lt"/>
                <a:cs typeface="+mn-lt"/>
              </a:rPr>
              <a:t> </a:t>
            </a:r>
            <a:r>
              <a:rPr lang="en-US" sz="1200" err="1">
                <a:ea typeface="+mn-lt"/>
                <a:cs typeface="+mn-lt"/>
              </a:rPr>
              <a:t>exceso,llegando</a:t>
            </a:r>
            <a:r>
              <a:rPr lang="en-US" sz="1200">
                <a:ea typeface="+mn-lt"/>
                <a:cs typeface="+mn-lt"/>
              </a:rPr>
              <a:t> hasta 0.0808 dB, </a:t>
            </a:r>
            <a:r>
              <a:rPr lang="en-US" sz="1200" err="1">
                <a:ea typeface="+mn-lt"/>
                <a:cs typeface="+mn-lt"/>
              </a:rPr>
              <a:t>mejorando</a:t>
            </a:r>
            <a:r>
              <a:rPr lang="en-US" sz="1200">
                <a:ea typeface="+mn-lt"/>
                <a:cs typeface="+mn-lt"/>
              </a:rPr>
              <a:t>  </a:t>
            </a:r>
            <a:r>
              <a:rPr lang="en-US" sz="1200" err="1">
                <a:ea typeface="+mn-lt"/>
                <a:cs typeface="+mn-lt"/>
              </a:rPr>
              <a:t>el</a:t>
            </a:r>
            <a:r>
              <a:rPr lang="en-US" sz="1200">
                <a:ea typeface="+mn-lt"/>
                <a:cs typeface="+mn-lt"/>
              </a:rPr>
              <a:t> </a:t>
            </a:r>
            <a:r>
              <a:rPr lang="en-US" sz="1200" err="1">
                <a:ea typeface="+mn-lt"/>
                <a:cs typeface="+mn-lt"/>
              </a:rPr>
              <a:t>mecanismo</a:t>
            </a:r>
            <a:r>
              <a:rPr lang="en-US" sz="1200">
                <a:ea typeface="+mn-lt"/>
                <a:cs typeface="+mn-lt"/>
              </a:rPr>
              <a:t> </a:t>
            </a:r>
            <a:r>
              <a:rPr lang="en-US" sz="1200" err="1">
                <a:ea typeface="+mn-lt"/>
                <a:cs typeface="+mn-lt"/>
              </a:rPr>
              <a:t>en</a:t>
            </a:r>
            <a:r>
              <a:rPr lang="en-US" sz="1200">
                <a:ea typeface="+mn-lt"/>
                <a:cs typeface="+mn-lt"/>
              </a:rPr>
              <a:t> general. </a:t>
            </a:r>
            <a:endParaRPr lang="en-US" sz="1200" err="1">
              <a:ea typeface="Calibri"/>
              <a:cs typeface="Calibri"/>
            </a:endParaRPr>
          </a:p>
          <a:p>
            <a:pPr algn="just"/>
            <a:r>
              <a:rPr lang="en-US" sz="1200">
                <a:latin typeface="Calibri"/>
                <a:ea typeface="Calibri"/>
                <a:cs typeface="Calibri"/>
              </a:rPr>
              <a:t>En general </a:t>
            </a:r>
            <a:r>
              <a:rPr lang="en-US" sz="1200" err="1">
                <a:latin typeface="Calibri"/>
                <a:ea typeface="Calibri"/>
                <a:cs typeface="Calibri"/>
              </a:rPr>
              <a:t>conseguimos</a:t>
            </a:r>
            <a:r>
              <a:rPr lang="en-US" sz="1200">
                <a:latin typeface="Calibri"/>
                <a:ea typeface="Calibri"/>
                <a:cs typeface="Calibri"/>
              </a:rPr>
              <a:t> un ratio 50:50 y </a:t>
            </a:r>
            <a:r>
              <a:rPr lang="en-US" sz="1200" err="1">
                <a:latin typeface="Calibri"/>
                <a:ea typeface="Calibri"/>
                <a:cs typeface="Calibri"/>
              </a:rPr>
              <a:t>conseguimos</a:t>
            </a:r>
            <a:r>
              <a:rPr lang="en-US" sz="1200">
                <a:latin typeface="Calibri"/>
                <a:ea typeface="Calibri"/>
                <a:cs typeface="Calibri"/>
              </a:rPr>
              <a:t> </a:t>
            </a:r>
            <a:r>
              <a:rPr lang="en-US" sz="1200" err="1">
                <a:latin typeface="Calibri"/>
                <a:ea typeface="Calibri"/>
                <a:cs typeface="Calibri"/>
              </a:rPr>
              <a:t>valores</a:t>
            </a:r>
            <a:r>
              <a:rPr lang="en-US" sz="1200">
                <a:latin typeface="Calibri"/>
                <a:ea typeface="Calibri"/>
                <a:cs typeface="Calibri"/>
              </a:rPr>
              <a:t> </a:t>
            </a:r>
            <a:r>
              <a:rPr lang="en-US" sz="1200" err="1">
                <a:latin typeface="Calibri"/>
                <a:ea typeface="Calibri"/>
                <a:cs typeface="Calibri"/>
              </a:rPr>
              <a:t>por</a:t>
            </a:r>
            <a:r>
              <a:rPr lang="en-US" sz="1200">
                <a:latin typeface="Calibri"/>
                <a:ea typeface="Calibri"/>
                <a:cs typeface="Calibri"/>
              </a:rPr>
              <a:t> </a:t>
            </a:r>
            <a:r>
              <a:rPr lang="en-US" sz="1200" err="1">
                <a:latin typeface="Calibri"/>
                <a:ea typeface="Calibri"/>
                <a:cs typeface="Calibri"/>
              </a:rPr>
              <a:t>debajo</a:t>
            </a:r>
            <a:r>
              <a:rPr lang="en-US" sz="1200">
                <a:latin typeface="Calibri"/>
                <a:ea typeface="Calibri"/>
                <a:cs typeface="Calibri"/>
              </a:rPr>
              <a:t> del 0.1 dB </a:t>
            </a:r>
            <a:r>
              <a:rPr lang="en-US" sz="1200" err="1">
                <a:latin typeface="Calibri"/>
                <a:ea typeface="Calibri"/>
                <a:cs typeface="Calibri"/>
              </a:rPr>
              <a:t>requerido</a:t>
            </a:r>
            <a:r>
              <a:rPr lang="en-US" sz="1200">
                <a:latin typeface="Calibri"/>
                <a:ea typeface="Calibri"/>
                <a:cs typeface="Calibri"/>
              </a:rPr>
              <a:t>, </a:t>
            </a:r>
            <a:r>
              <a:rPr lang="en-US" sz="1200" err="1">
                <a:latin typeface="Calibri"/>
                <a:ea typeface="Calibri"/>
                <a:cs typeface="Calibri"/>
              </a:rPr>
              <a:t>consiguiendo</a:t>
            </a:r>
            <a:r>
              <a:rPr lang="en-US" sz="1200">
                <a:latin typeface="Calibri"/>
                <a:ea typeface="Calibri"/>
                <a:cs typeface="Calibri"/>
              </a:rPr>
              <a:t> un </a:t>
            </a:r>
            <a:r>
              <a:rPr lang="en-US" sz="1200" err="1">
                <a:latin typeface="Calibri"/>
                <a:ea typeface="Calibri"/>
                <a:cs typeface="Calibri"/>
              </a:rPr>
              <a:t>resultado</a:t>
            </a:r>
            <a:r>
              <a:rPr lang="en-US" sz="1200">
                <a:latin typeface="Calibri"/>
                <a:ea typeface="Calibri"/>
                <a:cs typeface="Calibri"/>
              </a:rPr>
              <a:t> óptimo.</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Gráfico&#10;&#10;El contenido generado por IA puede ser incorrecto.">
            <a:extLst>
              <a:ext uri="{FF2B5EF4-FFF2-40B4-BE49-F238E27FC236}">
                <a16:creationId xmlns:a16="http://schemas.microsoft.com/office/drawing/2014/main" id="{B33EA081-061F-C46A-0F7C-C773AF5636C1}"/>
              </a:ext>
            </a:extLst>
          </p:cNvPr>
          <p:cNvPicPr>
            <a:picLocks noChangeAspect="1"/>
          </p:cNvPicPr>
          <p:nvPr/>
        </p:nvPicPr>
        <p:blipFill>
          <a:blip r:embed="rId4"/>
          <a:stretch>
            <a:fillRect/>
          </a:stretch>
        </p:blipFill>
        <p:spPr>
          <a:xfrm>
            <a:off x="5561791" y="2094062"/>
            <a:ext cx="5381625" cy="2209800"/>
          </a:xfrm>
          <a:prstGeom prst="rect">
            <a:avLst/>
          </a:prstGeom>
        </p:spPr>
      </p:pic>
      <p:pic>
        <p:nvPicPr>
          <p:cNvPr id="9" name="Imagen 8" descr="Texto&#10;&#10;El contenido generado por IA puede ser incorrecto.">
            <a:extLst>
              <a:ext uri="{FF2B5EF4-FFF2-40B4-BE49-F238E27FC236}">
                <a16:creationId xmlns:a16="http://schemas.microsoft.com/office/drawing/2014/main" id="{0936E691-4F90-25F7-EB24-A32B9C65F761}"/>
              </a:ext>
            </a:extLst>
          </p:cNvPr>
          <p:cNvPicPr>
            <a:picLocks noChangeAspect="1"/>
          </p:cNvPicPr>
          <p:nvPr/>
        </p:nvPicPr>
        <p:blipFill>
          <a:blip r:embed="rId5"/>
          <a:stretch>
            <a:fillRect/>
          </a:stretch>
        </p:blipFill>
        <p:spPr>
          <a:xfrm>
            <a:off x="1764102" y="1715399"/>
            <a:ext cx="3200400" cy="2190750"/>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#7 – 1x4 Multimode Interference Coupler </a:t>
            </a:r>
            <a:br>
              <a:rPr lang="en-US" sz="2500"/>
            </a:br>
            <a:r>
              <a:rPr lang="en-US" b="0"/>
              <a:t>Wavelength 1.55 µm, </a:t>
            </a:r>
            <a:r>
              <a:rPr lang="en-US" b="0" err="1"/>
              <a:t>wMMI</a:t>
            </a:r>
            <a:r>
              <a:rPr lang="en-US" b="0"/>
              <a:t> = ? µm</a:t>
            </a:r>
            <a:endParaRPr lang="en-US" sz="2500" b="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830997"/>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a:latin typeface="Arial"/>
                <a:cs typeface="Arial"/>
              </a:rPr>
              <a:t>Repeat all the design process for a 1x4 MMI Coupler.  </a:t>
            </a:r>
          </a:p>
          <a:p>
            <a:pPr algn="just"/>
            <a:r>
              <a:rPr lang="en-US" sz="1200" err="1">
                <a:latin typeface="Arial"/>
                <a:cs typeface="Arial"/>
              </a:rPr>
              <a:t>Creamos</a:t>
            </a:r>
            <a:r>
              <a:rPr lang="en-US" sz="1200">
                <a:latin typeface="Arial"/>
                <a:cs typeface="Arial"/>
              </a:rPr>
              <a:t> un </a:t>
            </a:r>
            <a:r>
              <a:rPr lang="en-US" sz="1200" err="1">
                <a:latin typeface="Arial"/>
                <a:cs typeface="Arial"/>
              </a:rPr>
              <a:t>diseño</a:t>
            </a:r>
            <a:r>
              <a:rPr lang="en-US" sz="1200">
                <a:latin typeface="Arial"/>
                <a:cs typeface="Arial"/>
              </a:rPr>
              <a:t> de </a:t>
            </a:r>
            <a:r>
              <a:rPr lang="en-US" sz="1200" err="1">
                <a:latin typeface="Arial"/>
                <a:cs typeface="Arial"/>
              </a:rPr>
              <a:t>reparto</a:t>
            </a:r>
            <a:r>
              <a:rPr lang="en-US" sz="1200">
                <a:latin typeface="Arial"/>
                <a:cs typeface="Arial"/>
              </a:rPr>
              <a:t> de </a:t>
            </a:r>
            <a:r>
              <a:rPr lang="en-US" sz="1200" err="1">
                <a:latin typeface="Arial"/>
                <a:cs typeface="Arial"/>
              </a:rPr>
              <a:t>potencia</a:t>
            </a:r>
            <a:r>
              <a:rPr lang="en-US" sz="1200">
                <a:latin typeface="Arial"/>
                <a:cs typeface="Arial"/>
              </a:rPr>
              <a:t> </a:t>
            </a:r>
            <a:r>
              <a:rPr lang="en-US" sz="1200" err="1">
                <a:latin typeface="Arial"/>
                <a:cs typeface="Arial"/>
              </a:rPr>
              <a:t>optimizado</a:t>
            </a:r>
            <a:r>
              <a:rPr lang="en-US" sz="1200">
                <a:latin typeface="Arial"/>
                <a:cs typeface="Arial"/>
              </a:rPr>
              <a:t> con un ancho lo </a:t>
            </a:r>
            <a:r>
              <a:rPr lang="en-US" sz="1200" err="1">
                <a:latin typeface="Arial"/>
                <a:cs typeface="Arial"/>
              </a:rPr>
              <a:t>suficientemente</a:t>
            </a:r>
            <a:r>
              <a:rPr lang="en-US" sz="1200">
                <a:latin typeface="Arial"/>
                <a:cs typeface="Arial"/>
              </a:rPr>
              <a:t> grande </a:t>
            </a:r>
            <a:r>
              <a:rPr lang="en-US" sz="1200" err="1">
                <a:latin typeface="Arial"/>
                <a:cs typeface="Arial"/>
              </a:rPr>
              <a:t>como</a:t>
            </a:r>
            <a:r>
              <a:rPr lang="en-US" sz="1200">
                <a:latin typeface="Arial"/>
                <a:cs typeface="Arial"/>
              </a:rPr>
              <a:t> para </a:t>
            </a:r>
            <a:r>
              <a:rPr lang="en-US" sz="1200" err="1">
                <a:latin typeface="Arial"/>
                <a:cs typeface="Arial"/>
              </a:rPr>
              <a:t>tener</a:t>
            </a:r>
            <a:r>
              <a:rPr lang="en-US" sz="1200">
                <a:latin typeface="Arial"/>
                <a:cs typeface="Arial"/>
              </a:rPr>
              <a:t> </a:t>
            </a:r>
            <a:r>
              <a:rPr lang="en-US" sz="1200" err="1">
                <a:latin typeface="Arial"/>
                <a:cs typeface="Arial"/>
              </a:rPr>
              <a:t>unas</a:t>
            </a:r>
            <a:r>
              <a:rPr lang="en-US" sz="1200">
                <a:latin typeface="Arial"/>
                <a:cs typeface="Arial"/>
              </a:rPr>
              <a:t> </a:t>
            </a:r>
            <a:r>
              <a:rPr lang="en-US" sz="1200" err="1">
                <a:latin typeface="Arial"/>
                <a:cs typeface="Arial"/>
              </a:rPr>
              <a:t>pérdidas</a:t>
            </a:r>
            <a:r>
              <a:rPr lang="en-US" sz="1200">
                <a:latin typeface="Arial"/>
                <a:cs typeface="Arial"/>
              </a:rPr>
              <a:t> de </a:t>
            </a:r>
            <a:r>
              <a:rPr lang="en-US" sz="1200" err="1">
                <a:latin typeface="Arial"/>
                <a:cs typeface="Arial"/>
              </a:rPr>
              <a:t>exceso</a:t>
            </a:r>
            <a:r>
              <a:rPr lang="en-US" sz="1200">
                <a:latin typeface="Arial"/>
                <a:cs typeface="Arial"/>
              </a:rPr>
              <a:t> </a:t>
            </a:r>
            <a:r>
              <a:rPr lang="en-US" sz="1200" err="1">
                <a:latin typeface="Arial"/>
                <a:cs typeface="Arial"/>
              </a:rPr>
              <a:t>por</a:t>
            </a:r>
            <a:r>
              <a:rPr lang="en-US" sz="1200">
                <a:latin typeface="Arial"/>
                <a:cs typeface="Arial"/>
              </a:rPr>
              <a:t> </a:t>
            </a:r>
            <a:r>
              <a:rPr lang="en-US" sz="1200" err="1">
                <a:latin typeface="Arial"/>
                <a:cs typeface="Arial"/>
              </a:rPr>
              <a:t>debajo</a:t>
            </a:r>
            <a:r>
              <a:rPr lang="en-US" sz="1200">
                <a:latin typeface="Arial"/>
                <a:cs typeface="Arial"/>
              </a:rPr>
              <a:t> de 0.1 dB, y </a:t>
            </a:r>
            <a:r>
              <a:rPr lang="en-US" sz="1200" err="1">
                <a:latin typeface="Arial"/>
                <a:cs typeface="Arial"/>
              </a:rPr>
              <a:t>el</a:t>
            </a:r>
            <a:r>
              <a:rPr lang="en-US" sz="1200">
                <a:latin typeface="Arial"/>
                <a:cs typeface="Arial"/>
              </a:rPr>
              <a:t> ratio de </a:t>
            </a:r>
            <a:r>
              <a:rPr lang="en-US" sz="1200" err="1">
                <a:latin typeface="Arial"/>
                <a:cs typeface="Arial"/>
              </a:rPr>
              <a:t>reparto</a:t>
            </a:r>
            <a:r>
              <a:rPr lang="en-US" sz="1200">
                <a:latin typeface="Arial"/>
                <a:cs typeface="Arial"/>
              </a:rPr>
              <a:t> entre </a:t>
            </a:r>
            <a:r>
              <a:rPr lang="en-US" sz="1200" err="1">
                <a:latin typeface="Arial"/>
                <a:cs typeface="Arial"/>
              </a:rPr>
              <a:t>puertos</a:t>
            </a:r>
            <a:r>
              <a:rPr lang="en-US" sz="1200">
                <a:latin typeface="Arial"/>
                <a:cs typeface="Arial"/>
              </a:rPr>
              <a:t> lo </a:t>
            </a:r>
            <a:r>
              <a:rPr lang="en-US" sz="1200" err="1">
                <a:latin typeface="Arial"/>
                <a:cs typeface="Arial"/>
              </a:rPr>
              <a:t>más</a:t>
            </a:r>
            <a:r>
              <a:rPr lang="en-US" sz="1200">
                <a:latin typeface="Arial"/>
                <a:cs typeface="Arial"/>
              </a:rPr>
              <a:t> </a:t>
            </a:r>
            <a:r>
              <a:rPr lang="en-US" sz="1200" err="1">
                <a:latin typeface="Arial"/>
                <a:cs typeface="Arial"/>
              </a:rPr>
              <a:t>equilibrado</a:t>
            </a:r>
            <a:r>
              <a:rPr lang="en-US" sz="1200">
                <a:latin typeface="Arial"/>
                <a:cs typeface="Arial"/>
              </a:rPr>
              <a:t> </a:t>
            </a:r>
            <a:r>
              <a:rPr lang="en-US" sz="1200" err="1">
                <a:latin typeface="Arial"/>
                <a:cs typeface="Arial"/>
              </a:rPr>
              <a:t>posible</a:t>
            </a:r>
            <a:r>
              <a:rPr lang="en-US" sz="1200">
                <a:latin typeface="Arial"/>
                <a:cs typeface="Arial"/>
              </a:rPr>
              <a:t>.</a:t>
            </a:r>
            <a:endParaRPr lang="en-US" sz="1200">
              <a:latin typeface="Arial" panose="020B0604020202020204" pitchFamily="34" charset="0"/>
              <a:cs typeface="Arial" panose="020B0604020202020204" pitchFamily="34" charset="0"/>
            </a:endParaRPr>
          </a:p>
          <a:p>
            <a:pPr algn="just"/>
            <a:r>
              <a:rPr lang="en-US" sz="1200">
                <a:latin typeface="Arial"/>
                <a:cs typeface="Arial"/>
              </a:rPr>
              <a:t>Ese ancho de </a:t>
            </a:r>
            <a:r>
              <a:rPr lang="en-US" sz="1200" err="1">
                <a:latin typeface="Arial"/>
                <a:cs typeface="Arial"/>
              </a:rPr>
              <a:t>guía</a:t>
            </a:r>
            <a:r>
              <a:rPr lang="en-US" sz="1200">
                <a:latin typeface="Arial"/>
                <a:cs typeface="Arial"/>
              </a:rPr>
              <a:t> de </a:t>
            </a:r>
            <a:r>
              <a:rPr lang="en-US" sz="1200" err="1">
                <a:latin typeface="Arial"/>
                <a:cs typeface="Arial"/>
              </a:rPr>
              <a:t>onda</a:t>
            </a:r>
            <a:r>
              <a:rPr lang="en-US" sz="1200">
                <a:latin typeface="Arial"/>
                <a:cs typeface="Arial"/>
              </a:rPr>
              <a:t> ha </a:t>
            </a:r>
            <a:r>
              <a:rPr lang="en-US" sz="1200" err="1">
                <a:latin typeface="Arial"/>
                <a:cs typeface="Arial"/>
              </a:rPr>
              <a:t>sido</a:t>
            </a:r>
            <a:r>
              <a:rPr lang="en-US" sz="1200">
                <a:latin typeface="Arial"/>
                <a:cs typeface="Arial"/>
              </a:rPr>
              <a:t> </a:t>
            </a:r>
            <a:r>
              <a:rPr lang="en-US" sz="1200" err="1">
                <a:latin typeface="Arial"/>
                <a:cs typeface="Arial"/>
              </a:rPr>
              <a:t>ajustado</a:t>
            </a:r>
            <a:r>
              <a:rPr lang="en-US" sz="1200">
                <a:latin typeface="Arial"/>
                <a:cs typeface="Arial"/>
              </a:rPr>
              <a:t> a la </a:t>
            </a:r>
            <a:r>
              <a:rPr lang="en-US" sz="1200" err="1">
                <a:latin typeface="Arial"/>
                <a:cs typeface="Arial"/>
              </a:rPr>
              <a:t>longitud</a:t>
            </a:r>
            <a:r>
              <a:rPr lang="en-US" sz="1200">
                <a:latin typeface="Arial"/>
                <a:cs typeface="Arial"/>
              </a:rPr>
              <a:t> del MMI de 41.0886 </a:t>
            </a:r>
            <a:r>
              <a:rPr lang="en-US" sz="1200" err="1">
                <a:latin typeface="Arial"/>
                <a:ea typeface="+mn-lt"/>
                <a:cs typeface="Arial"/>
              </a:rPr>
              <a:t>μm</a:t>
            </a:r>
            <a:r>
              <a:rPr lang="en-US" sz="1200">
                <a:latin typeface="Arial"/>
                <a:ea typeface="Calibri"/>
                <a:cs typeface="Arial"/>
              </a:rPr>
              <a:t>.</a:t>
            </a:r>
            <a:r>
              <a:rPr lang="en-US" sz="1200">
                <a:latin typeface="Arial"/>
                <a:cs typeface="Arial"/>
              </a:rPr>
              <a:t> </a:t>
            </a:r>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Texto&#10;&#10;El contenido generado por IA puede ser incorrecto.">
            <a:extLst>
              <a:ext uri="{FF2B5EF4-FFF2-40B4-BE49-F238E27FC236}">
                <a16:creationId xmlns:a16="http://schemas.microsoft.com/office/drawing/2014/main" id="{791DCD23-9FA4-314D-E1D2-75313D67FD2D}"/>
              </a:ext>
            </a:extLst>
          </p:cNvPr>
          <p:cNvPicPr>
            <a:picLocks noChangeAspect="1"/>
          </p:cNvPicPr>
          <p:nvPr/>
        </p:nvPicPr>
        <p:blipFill>
          <a:blip r:embed="rId4"/>
          <a:stretch>
            <a:fillRect/>
          </a:stretch>
        </p:blipFill>
        <p:spPr>
          <a:xfrm>
            <a:off x="873515" y="1850186"/>
            <a:ext cx="4981575" cy="2381250"/>
          </a:xfrm>
          <a:prstGeom prst="rect">
            <a:avLst/>
          </a:prstGeom>
        </p:spPr>
      </p:pic>
      <p:pic>
        <p:nvPicPr>
          <p:cNvPr id="5" name="Imagen 4">
            <a:extLst>
              <a:ext uri="{FF2B5EF4-FFF2-40B4-BE49-F238E27FC236}">
                <a16:creationId xmlns:a16="http://schemas.microsoft.com/office/drawing/2014/main" id="{A0F801EF-5DA0-F1EA-15CD-7EA3954DCE2E}"/>
              </a:ext>
            </a:extLst>
          </p:cNvPr>
          <p:cNvPicPr>
            <a:picLocks noChangeAspect="1"/>
          </p:cNvPicPr>
          <p:nvPr/>
        </p:nvPicPr>
        <p:blipFill>
          <a:blip r:embed="rId5"/>
          <a:stretch>
            <a:fillRect/>
          </a:stretch>
        </p:blipFill>
        <p:spPr>
          <a:xfrm>
            <a:off x="5993382" y="1793036"/>
            <a:ext cx="5467350" cy="2495550"/>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Extra #1.1 – Directional coupler gap dependence (deep-etched)</a:t>
            </a:r>
            <a:br>
              <a:rPr lang="en-US" sz="2500"/>
            </a:br>
            <a:r>
              <a:rPr lang="en-US" b="0"/>
              <a:t>Wavelength 1.55 µm, width 1.0 µm, </a:t>
            </a:r>
            <a:r>
              <a:rPr lang="en-US"/>
              <a:t>gap 0.2-2.4 µm </a:t>
            </a:r>
            <a:r>
              <a:rPr lang="en-US" b="0"/>
              <a:t>(step 0.2 µm)</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600" y="1371917"/>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Las </a:t>
            </a:r>
            <a:r>
              <a:rPr lang="en-US" sz="1200" err="1">
                <a:latin typeface="Arial" panose="020B0604020202020204" pitchFamily="34" charset="0"/>
                <a:cs typeface="Arial" panose="020B0604020202020204" pitchFamily="34" charset="0"/>
              </a:rPr>
              <a:t>gráficas</a:t>
            </a:r>
            <a:r>
              <a:rPr lang="en-US" sz="1200">
                <a:latin typeface="Arial" panose="020B0604020202020204" pitchFamily="34" charset="0"/>
                <a:cs typeface="Arial" panose="020B0604020202020204" pitchFamily="34" charset="0"/>
              </a:rPr>
              <a:t> a </a:t>
            </a:r>
            <a:r>
              <a:rPr lang="en-US" sz="1200" err="1">
                <a:latin typeface="Arial" panose="020B0604020202020204" pitchFamily="34" charset="0"/>
                <a:cs typeface="Arial" panose="020B0604020202020204" pitchFamily="34" charset="0"/>
              </a:rPr>
              <a:t>continuación</a:t>
            </a:r>
            <a:r>
              <a:rPr lang="en-US" sz="1200">
                <a:latin typeface="Arial" panose="020B0604020202020204" pitchFamily="34" charset="0"/>
                <a:cs typeface="Arial" panose="020B0604020202020204" pitchFamily="34" charset="0"/>
              </a:rPr>
              <a:t> son </a:t>
            </a:r>
            <a:r>
              <a:rPr lang="en-US" sz="1200" err="1">
                <a:latin typeface="Arial" panose="020B0604020202020204" pitchFamily="34" charset="0"/>
                <a:cs typeface="Arial" panose="020B0604020202020204" pitchFamily="34" charset="0"/>
              </a:rPr>
              <a:t>como</a:t>
            </a:r>
            <a:r>
              <a:rPr lang="en-US" sz="1200">
                <a:latin typeface="Arial" panose="020B0604020202020204" pitchFamily="34" charset="0"/>
                <a:cs typeface="Arial" panose="020B0604020202020204" pitchFamily="34" charset="0"/>
              </a:rPr>
              <a:t> las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ya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vimos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LO4, solo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con la vista </a:t>
            </a:r>
            <a:r>
              <a:rPr lang="en-US" sz="1200" err="1">
                <a:latin typeface="Arial" panose="020B0604020202020204" pitchFamily="34" charset="0"/>
                <a:cs typeface="Arial" panose="020B0604020202020204" pitchFamily="34" charset="0"/>
              </a:rPr>
              <a:t>ampliada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sweep del gap entre 0.2 y 2.4 um. </a:t>
            </a:r>
            <a:r>
              <a:rPr lang="en-US" sz="1200" err="1">
                <a:latin typeface="Arial" panose="020B0604020202020204" pitchFamily="34" charset="0"/>
                <a:cs typeface="Arial" panose="020B0604020202020204" pitchFamily="34" charset="0"/>
              </a:rPr>
              <a:t>Así</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como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objetivo</a:t>
            </a:r>
            <a:r>
              <a:rPr lang="en-US" sz="1200">
                <a:latin typeface="Arial" panose="020B0604020202020204" pitchFamily="34" charset="0"/>
                <a:cs typeface="Arial" panose="020B0604020202020204" pitchFamily="34" charset="0"/>
              </a:rPr>
              <a:t> de LO4 era </a:t>
            </a:r>
            <a:r>
              <a:rPr lang="en-US" sz="1200" err="1">
                <a:latin typeface="Arial" panose="020B0604020202020204" pitchFamily="34" charset="0"/>
                <a:cs typeface="Arial" panose="020B0604020202020204" pitchFamily="34" charset="0"/>
              </a:rPr>
              <a:t>encontrar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gap </a:t>
            </a:r>
            <a:r>
              <a:rPr lang="en-US" sz="1200" err="1">
                <a:latin typeface="Arial" panose="020B0604020202020204" pitchFamily="34" charset="0"/>
                <a:cs typeface="Arial" panose="020B0604020202020204" pitchFamily="34" charset="0"/>
              </a:rPr>
              <a:t>mínimo</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las dos </a:t>
            </a:r>
            <a:r>
              <a:rPr lang="en-US" sz="1200" err="1">
                <a:latin typeface="Arial" panose="020B0604020202020204" pitchFamily="34" charset="0"/>
                <a:cs typeface="Arial" panose="020B0604020202020204" pitchFamily="34" charset="0"/>
              </a:rPr>
              <a:t>guías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colocadas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paralelo</a:t>
            </a:r>
            <a:r>
              <a:rPr lang="en-US" sz="1200">
                <a:latin typeface="Arial" panose="020B0604020202020204" pitchFamily="34" charset="0"/>
                <a:cs typeface="Arial" panose="020B0604020202020204" pitchFamily="34" charset="0"/>
              </a:rPr>
              <a:t> no </a:t>
            </a:r>
            <a:r>
              <a:rPr lang="en-US" sz="1200" err="1">
                <a:latin typeface="Arial" panose="020B0604020202020204" pitchFamily="34" charset="0"/>
                <a:cs typeface="Arial" panose="020B0604020202020204" pitchFamily="34" charset="0"/>
              </a:rPr>
              <a:t>estuvieran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acopladas</a:t>
            </a:r>
            <a:r>
              <a:rPr lang="en-US" sz="1200">
                <a:latin typeface="Arial" panose="020B0604020202020204" pitchFamily="34" charset="0"/>
                <a:cs typeface="Arial" panose="020B0604020202020204" pitchFamily="34" charset="0"/>
              </a:rPr>
              <a:t> (K&lt;0.01),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este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caso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queremos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simplemente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visualizar</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dependencia</a:t>
            </a:r>
            <a:r>
              <a:rPr lang="en-US" sz="1200">
                <a:latin typeface="Arial" panose="020B0604020202020204" pitchFamily="34" charset="0"/>
                <a:cs typeface="Arial" panose="020B0604020202020204" pitchFamily="34" charset="0"/>
              </a:rPr>
              <a:t> de un </a:t>
            </a:r>
            <a:r>
              <a:rPr lang="en-US" sz="1200" err="1">
                <a:latin typeface="Arial" panose="020B0604020202020204" pitchFamily="34" charset="0"/>
                <a:cs typeface="Arial" panose="020B0604020202020204" pitchFamily="34" charset="0"/>
              </a:rPr>
              <a:t>acoplador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direccional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sobre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distintos</a:t>
            </a:r>
            <a:r>
              <a:rPr lang="en-US" sz="1200">
                <a:latin typeface="Arial" panose="020B0604020202020204" pitchFamily="34" charset="0"/>
                <a:cs typeface="Arial" panose="020B0604020202020204" pitchFamily="34" charset="0"/>
              </a:rPr>
              <a:t> gaps y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comportamiento</a:t>
            </a:r>
            <a:r>
              <a:rPr lang="en-US" sz="1200">
                <a:latin typeface="Arial" panose="020B0604020202020204" pitchFamily="34" charset="0"/>
                <a:cs typeface="Arial" panose="020B0604020202020204" pitchFamily="34" charset="0"/>
              </a:rPr>
              <a:t> de las </a:t>
            </a:r>
            <a:r>
              <a:rPr lang="en-US" sz="1200" err="1">
                <a:latin typeface="Arial" panose="020B0604020202020204" pitchFamily="34" charset="0"/>
                <a:cs typeface="Arial" panose="020B0604020202020204" pitchFamily="34" charset="0"/>
              </a:rPr>
              <a:t>polarizaciones</a:t>
            </a:r>
            <a:r>
              <a:rPr lang="en-US" sz="1200">
                <a:latin typeface="Arial" panose="020B0604020202020204" pitchFamily="34" charset="0"/>
                <a:cs typeface="Arial" panose="020B0604020202020204" pitchFamily="34" charset="0"/>
              </a:rPr>
              <a:t> (TE y TM) para </a:t>
            </a:r>
            <a:r>
              <a:rPr lang="en-US" sz="1200" err="1">
                <a:latin typeface="Arial" panose="020B0604020202020204" pitchFamily="34" charset="0"/>
                <a:cs typeface="Arial" panose="020B0604020202020204" pitchFamily="34" charset="0"/>
              </a:rPr>
              <a:t>cada</a:t>
            </a:r>
            <a:r>
              <a:rPr lang="en-US" sz="1200">
                <a:latin typeface="Arial" panose="020B0604020202020204" pitchFamily="34" charset="0"/>
                <a:cs typeface="Arial" panose="020B0604020202020204" pitchFamily="34" charset="0"/>
              </a:rPr>
              <a:t> uno de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casos</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598443" y="2582044"/>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68405" y="3843340"/>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68405" y="3843340"/>
                <a:ext cx="4546634" cy="923330"/>
              </a:xfrm>
              <a:prstGeom prst="rect">
                <a:avLst/>
              </a:prstGeom>
              <a:blipFill>
                <a:blip r:embed="rId4"/>
                <a:stretch>
                  <a:fillRect t="-3289" b="-9211"/>
                </a:stretch>
              </a:blipFill>
            </p:spPr>
            <p:txBody>
              <a:bodyPr/>
              <a:lstStyle/>
              <a:p>
                <a:r>
                  <a:rPr lang="en-US">
                    <a:noFill/>
                  </a:rPr>
                  <a:t> </a:t>
                </a:r>
              </a:p>
            </p:txBody>
          </p:sp>
        </mc:Fallback>
      </mc:AlternateContent>
      <p:pic>
        <p:nvPicPr>
          <p:cNvPr id="10" name="Imagen 9">
            <a:extLst>
              <a:ext uri="{FF2B5EF4-FFF2-40B4-BE49-F238E27FC236}">
                <a16:creationId xmlns:a16="http://schemas.microsoft.com/office/drawing/2014/main" id="{21852BD6-FED8-CF2F-94E3-C9E4FDCA687D}"/>
              </a:ext>
            </a:extLst>
          </p:cNvPr>
          <p:cNvPicPr>
            <a:picLocks noChangeAspect="1"/>
          </p:cNvPicPr>
          <p:nvPr/>
        </p:nvPicPr>
        <p:blipFill>
          <a:blip r:embed="rId5"/>
          <a:stretch>
            <a:fillRect/>
          </a:stretch>
        </p:blipFill>
        <p:spPr>
          <a:xfrm>
            <a:off x="655948" y="2799132"/>
            <a:ext cx="5355996" cy="3031696"/>
          </a:xfrm>
          <a:prstGeom prst="rect">
            <a:avLst/>
          </a:prstGeom>
        </p:spPr>
      </p:pic>
      <p:sp>
        <p:nvSpPr>
          <p:cNvPr id="13" name="CuadroTexto 12">
            <a:extLst>
              <a:ext uri="{FF2B5EF4-FFF2-40B4-BE49-F238E27FC236}">
                <a16:creationId xmlns:a16="http://schemas.microsoft.com/office/drawing/2014/main" id="{CF12315E-7B85-393E-5B5D-4C84843FC798}"/>
              </a:ext>
            </a:extLst>
          </p:cNvPr>
          <p:cNvSpPr txBox="1"/>
          <p:nvPr/>
        </p:nvSpPr>
        <p:spPr>
          <a:xfrm>
            <a:off x="6350687" y="2699107"/>
            <a:ext cx="5394884" cy="2862322"/>
          </a:xfrm>
          <a:prstGeom prst="rect">
            <a:avLst/>
          </a:prstGeom>
          <a:solidFill>
            <a:schemeClr val="bg1">
              <a:lumMod val="95000"/>
            </a:schemeClr>
          </a:solidFill>
          <a:ln w="28575">
            <a:solidFill>
              <a:srgbClr val="E0700D"/>
            </a:solidFill>
          </a:ln>
        </p:spPr>
        <p:txBody>
          <a:bodyPr wrap="square" rtlCol="0">
            <a:spAutoFit/>
          </a:bodyPr>
          <a:lstStyle/>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En las guías </a:t>
            </a:r>
            <a:r>
              <a:rPr lang="es-ES" sz="1200" err="1">
                <a:latin typeface="Arial" panose="020B0604020202020204" pitchFamily="34" charset="0"/>
                <a:cs typeface="Arial" panose="020B0604020202020204" pitchFamily="34" charset="0"/>
              </a:rPr>
              <a:t>deep-etched</a:t>
            </a:r>
            <a:r>
              <a:rPr lang="es-ES" sz="1200">
                <a:latin typeface="Arial" panose="020B0604020202020204" pitchFamily="34" charset="0"/>
                <a:cs typeface="Arial" panose="020B0604020202020204" pitchFamily="34" charset="0"/>
              </a:rPr>
              <a:t>, el confinamiento óptico es mucho más fuerte al no existir </a:t>
            </a:r>
            <a:r>
              <a:rPr lang="es-ES" sz="1200" err="1">
                <a:latin typeface="Arial" panose="020B0604020202020204" pitchFamily="34" charset="0"/>
                <a:cs typeface="Arial" panose="020B0604020202020204" pitchFamily="34" charset="0"/>
              </a:rPr>
              <a:t>slab</a:t>
            </a:r>
            <a:r>
              <a:rPr lang="es-ES" sz="1200">
                <a:latin typeface="Arial" panose="020B0604020202020204" pitchFamily="34" charset="0"/>
                <a:cs typeface="Arial" panose="020B0604020202020204" pitchFamily="34" charset="0"/>
              </a:rPr>
              <a:t>, lo que hace que los modos estén bien localizados en el núcleo y claramente definidos. Como consecuencia, el acoplamiento entre guías es más débil y disminuye rápidamente al aumentar el gap, lo que se traduce en un crecimiento acusado de Lπ. Este comportamiento es consistente con la física del problema: al reducirse el solapamiento evanescente, la diferencia entre los índices efectivos de los </a:t>
            </a:r>
            <a:r>
              <a:rPr lang="es-ES" sz="1200" err="1">
                <a:latin typeface="Arial" panose="020B0604020202020204" pitchFamily="34" charset="0"/>
                <a:cs typeface="Arial" panose="020B0604020202020204" pitchFamily="34" charset="0"/>
              </a:rPr>
              <a:t>supermodos</a:t>
            </a:r>
            <a:r>
              <a:rPr lang="es-ES" sz="1200">
                <a:latin typeface="Arial" panose="020B0604020202020204" pitchFamily="34" charset="0"/>
                <a:cs typeface="Arial" panose="020B0604020202020204" pitchFamily="34" charset="0"/>
              </a:rPr>
              <a:t> disminuye y, por tanto, la longitud de acoplo aumenta. </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Además, en este caso tanto los modos TE como TM están bien definidos y son físicamente interpretables, aunque el modo TE presenta un mayor confinamiento y, por ello, un acoplamiento más débil (mayores valores de Lπ) que el TM.</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796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E8EC0-324C-D6AA-2E57-072A16B73F4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09EE167-B075-8FEA-37C0-19E098C05952}"/>
                  </a:ext>
                </a:extLst>
              </p:cNvPr>
              <p:cNvSpPr txBox="1"/>
              <p:nvPr/>
            </p:nvSpPr>
            <p:spPr>
              <a:xfrm>
                <a:off x="6883366" y="24804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xmlns="">
          <p:sp>
            <p:nvSpPr>
              <p:cNvPr id="9" name="CuadroTexto 8">
                <a:extLst>
                  <a:ext uri="{FF2B5EF4-FFF2-40B4-BE49-F238E27FC236}">
                    <a16:creationId xmlns:a16="http://schemas.microsoft.com/office/drawing/2014/main" id="{209EE167-B075-8FEA-37C0-19E098C05952}"/>
                  </a:ext>
                </a:extLst>
              </p:cNvPr>
              <p:cNvSpPr txBox="1">
                <a:spLocks noRot="1" noChangeAspect="1" noMove="1" noResize="1" noEditPoints="1" noAdjustHandles="1" noChangeArrowheads="1" noChangeShapeType="1" noTextEdit="1"/>
              </p:cNvSpPr>
              <p:nvPr/>
            </p:nvSpPr>
            <p:spPr>
              <a:xfrm>
                <a:off x="6883366" y="2480496"/>
                <a:ext cx="4546634" cy="923330"/>
              </a:xfrm>
              <a:prstGeom prst="rect">
                <a:avLst/>
              </a:prstGeom>
              <a:blipFill>
                <a:blip r:embed="rId3"/>
                <a:stretch>
                  <a:fillRect t="-3974" b="-9934"/>
                </a:stretch>
              </a:blipFill>
            </p:spPr>
            <p:txBody>
              <a:bodyPr/>
              <a:lstStyle/>
              <a:p>
                <a:r>
                  <a:rPr lang="en-US">
                    <a:noFill/>
                  </a:rPr>
                  <a:t> </a:t>
                </a:r>
              </a:p>
            </p:txBody>
          </p:sp>
        </mc:Fallback>
      </mc:AlternateContent>
      <p:pic>
        <p:nvPicPr>
          <p:cNvPr id="12" name="Imagen 11">
            <a:extLst>
              <a:ext uri="{FF2B5EF4-FFF2-40B4-BE49-F238E27FC236}">
                <a16:creationId xmlns:a16="http://schemas.microsoft.com/office/drawing/2014/main" id="{2D1B8DF9-F145-8DC9-ED9E-4F59A9B2DF2E}"/>
              </a:ext>
            </a:extLst>
          </p:cNvPr>
          <p:cNvPicPr>
            <a:picLocks noChangeAspect="1"/>
          </p:cNvPicPr>
          <p:nvPr/>
        </p:nvPicPr>
        <p:blipFill>
          <a:blip r:embed="rId4"/>
          <a:stretch>
            <a:fillRect/>
          </a:stretch>
        </p:blipFill>
        <p:spPr>
          <a:xfrm>
            <a:off x="6348622" y="1416630"/>
            <a:ext cx="5372596" cy="3041092"/>
          </a:xfrm>
          <a:prstGeom prst="rect">
            <a:avLst/>
          </a:prstGeom>
        </p:spPr>
      </p:pic>
      <p:sp>
        <p:nvSpPr>
          <p:cNvPr id="16" name="object 16">
            <a:extLst>
              <a:ext uri="{FF2B5EF4-FFF2-40B4-BE49-F238E27FC236}">
                <a16:creationId xmlns:a16="http://schemas.microsoft.com/office/drawing/2014/main" id="{3699FE3E-A1EB-E6FD-3C96-873EC85ABA59}"/>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Extra #1.2 – Directional coupler gap dependence (shallow-etched)</a:t>
            </a:r>
            <a:br>
              <a:rPr lang="en-US" sz="2500"/>
            </a:br>
            <a:r>
              <a:rPr lang="en-US" b="0"/>
              <a:t>Wavelength 1.55 µm, width 1.0 µm, </a:t>
            </a:r>
            <a:r>
              <a:rPr lang="en-US"/>
              <a:t>gap 0.2-2.4 µm </a:t>
            </a:r>
            <a:r>
              <a:rPr lang="en-US" b="0"/>
              <a:t>(step 0.2 µm)</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F32B8A30-6305-2E3A-54E5-6C6A95D213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3CFAD33-2316-7234-FC5B-CC36EC5DB985}"/>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73AEE435-CCFD-C508-384D-87881BBF1532}"/>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02400069-748B-E22D-2974-B5720E398861}"/>
              </a:ext>
            </a:extLst>
          </p:cNvPr>
          <p:cNvSpPr txBox="1"/>
          <p:nvPr/>
        </p:nvSpPr>
        <p:spPr>
          <a:xfrm>
            <a:off x="625834" y="1372612"/>
            <a:ext cx="5410359" cy="3046988"/>
          </a:xfrm>
          <a:prstGeom prst="rect">
            <a:avLst/>
          </a:prstGeom>
          <a:solidFill>
            <a:schemeClr val="bg1">
              <a:lumMod val="95000"/>
            </a:schemeClr>
          </a:solidFill>
          <a:ln w="28575">
            <a:solidFill>
              <a:srgbClr val="E0700D"/>
            </a:solidFill>
          </a:ln>
        </p:spPr>
        <p:txBody>
          <a:bodyPr wrap="square" rtlCol="0">
            <a:spAutoFit/>
          </a:bodyPr>
          <a:lstStyle/>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En comparación, las guías </a:t>
            </a:r>
            <a:r>
              <a:rPr lang="es-ES" sz="1200" err="1">
                <a:latin typeface="Arial" panose="020B0604020202020204" pitchFamily="34" charset="0"/>
                <a:cs typeface="Arial" panose="020B0604020202020204" pitchFamily="34" charset="0"/>
              </a:rPr>
              <a:t>shallow-etched</a:t>
            </a:r>
            <a:r>
              <a:rPr lang="es-ES" sz="1200">
                <a:latin typeface="Arial" panose="020B0604020202020204" pitchFamily="34" charset="0"/>
                <a:cs typeface="Arial" panose="020B0604020202020204" pitchFamily="34" charset="0"/>
              </a:rPr>
              <a:t> presentan un confinamiento mucho más débil debido a la presencia del </a:t>
            </a:r>
            <a:r>
              <a:rPr lang="es-ES" sz="1200" err="1">
                <a:latin typeface="Arial" panose="020B0604020202020204" pitchFamily="34" charset="0"/>
                <a:cs typeface="Arial" panose="020B0604020202020204" pitchFamily="34" charset="0"/>
              </a:rPr>
              <a:t>slab</a:t>
            </a:r>
            <a:r>
              <a:rPr lang="es-ES" sz="1200">
                <a:latin typeface="Arial" panose="020B0604020202020204" pitchFamily="34" charset="0"/>
                <a:cs typeface="Arial" panose="020B0604020202020204" pitchFamily="34" charset="0"/>
              </a:rPr>
              <a:t>, lo que favorece la extensión de los campos fuera del núcleo y aumenta el acoplamiento entre guías. Esto da lugar a valores de Lπ menores y a una variación más suave con el gap. </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Sin embargo, este menor confinamiento también introduce hibridación modal, especialmente en TM, dificultando la identificación de modos puros y reduciendo la fiabilidad del análisis para esta polarización. </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Al analizar </a:t>
            </a:r>
            <a:r>
              <a:rPr lang="es-ES" sz="1200" err="1">
                <a:latin typeface="Arial" panose="020B0604020202020204" pitchFamily="34" charset="0"/>
                <a:cs typeface="Arial" panose="020B0604020202020204" pitchFamily="34" charset="0"/>
              </a:rPr>
              <a:t>neff</a:t>
            </a:r>
            <a:r>
              <a:rPr lang="es-ES" sz="1200">
                <a:latin typeface="Arial" panose="020B0604020202020204" pitchFamily="34" charset="0"/>
                <a:cs typeface="Arial" panose="020B0604020202020204" pitchFamily="34" charset="0"/>
              </a:rPr>
              <a:t> y las fracciones TE/TM, se observa que muchos modos son híbridos y no existe un par claro de modos TM (par/impar). Por ello, el análisis del acoplamiento para TM en esta configuración no es tiene sentido y sus resultados no se consideran, ya que carecen de un significado físico claro.</a:t>
            </a:r>
          </a:p>
          <a:p>
            <a:pPr algn="just"/>
            <a:endParaRPr lang="en-US" sz="120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75443A7F-D676-7082-7B34-E0BEB904D7E5}"/>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B80AB9BF-8707-D199-DD34-754110CDE202}"/>
              </a:ext>
            </a:extLst>
          </p:cNvPr>
          <p:cNvSpPr txBox="1"/>
          <p:nvPr/>
        </p:nvSpPr>
        <p:spPr>
          <a:xfrm>
            <a:off x="6331152" y="4113578"/>
            <a:ext cx="2269787" cy="369332"/>
          </a:xfrm>
          <a:prstGeom prst="rect">
            <a:avLst/>
          </a:prstGeom>
          <a:noFill/>
        </p:spPr>
        <p:txBody>
          <a:bodyPr wrap="square">
            <a:spAutoFit/>
          </a:bodyPr>
          <a:lstStyle/>
          <a:p>
            <a:r>
              <a:rPr lang="en-US"/>
              <a:t>slab = 150nm</a:t>
            </a:r>
            <a:endParaRPr lang="es-ES"/>
          </a:p>
        </p:txBody>
      </p:sp>
      <p:sp>
        <p:nvSpPr>
          <p:cNvPr id="4" name="CuadroTexto 3">
            <a:extLst>
              <a:ext uri="{FF2B5EF4-FFF2-40B4-BE49-F238E27FC236}">
                <a16:creationId xmlns:a16="http://schemas.microsoft.com/office/drawing/2014/main" id="{D7F5A5F0-F59E-D758-5A29-AC7F2A66BF8B}"/>
              </a:ext>
            </a:extLst>
          </p:cNvPr>
          <p:cNvSpPr txBox="1"/>
          <p:nvPr/>
        </p:nvSpPr>
        <p:spPr>
          <a:xfrm>
            <a:off x="625834" y="5634335"/>
            <a:ext cx="11175864" cy="461665"/>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En conjunto, las guías </a:t>
            </a:r>
            <a:r>
              <a:rPr lang="es-ES" sz="1200" err="1">
                <a:latin typeface="Arial" panose="020B0604020202020204" pitchFamily="34" charset="0"/>
                <a:cs typeface="Arial" panose="020B0604020202020204" pitchFamily="34" charset="0"/>
              </a:rPr>
              <a:t>deep-etched</a:t>
            </a:r>
            <a:r>
              <a:rPr lang="es-ES" sz="1200">
                <a:latin typeface="Arial" panose="020B0604020202020204" pitchFamily="34" charset="0"/>
                <a:cs typeface="Arial" panose="020B0604020202020204" pitchFamily="34" charset="0"/>
              </a:rPr>
              <a:t> permiten un control más preciso y una interpretación más robusta del acoplamiento, mientras que en las </a:t>
            </a:r>
            <a:r>
              <a:rPr lang="es-ES" sz="1200" err="1">
                <a:latin typeface="Arial" panose="020B0604020202020204" pitchFamily="34" charset="0"/>
                <a:cs typeface="Arial" panose="020B0604020202020204" pitchFamily="34" charset="0"/>
              </a:rPr>
              <a:t>shallow-etched</a:t>
            </a:r>
            <a:r>
              <a:rPr lang="es-ES" sz="1200">
                <a:latin typeface="Arial" panose="020B0604020202020204" pitchFamily="34" charset="0"/>
                <a:cs typeface="Arial" panose="020B0604020202020204" pitchFamily="34" charset="0"/>
              </a:rPr>
              <a:t> el comportamiento está más condicionado por efectos de fuga y mezcla modal, pero el acoplamiento entre guías es mayor, permitiendo trabajar con Lπ menores.</a:t>
            </a:r>
          </a:p>
        </p:txBody>
      </p:sp>
      <p:grpSp>
        <p:nvGrpSpPr>
          <p:cNvPr id="19" name="Grupo 18">
            <a:extLst>
              <a:ext uri="{FF2B5EF4-FFF2-40B4-BE49-F238E27FC236}">
                <a16:creationId xmlns:a16="http://schemas.microsoft.com/office/drawing/2014/main" id="{F706AFAB-7D82-1896-452B-B139998CC3E9}"/>
              </a:ext>
            </a:extLst>
          </p:cNvPr>
          <p:cNvGrpSpPr/>
          <p:nvPr/>
        </p:nvGrpSpPr>
        <p:grpSpPr>
          <a:xfrm>
            <a:off x="609601" y="4818779"/>
            <a:ext cx="7985759" cy="582392"/>
            <a:chOff x="597031" y="4800717"/>
            <a:chExt cx="8779497" cy="625909"/>
          </a:xfrm>
        </p:grpSpPr>
        <p:pic>
          <p:nvPicPr>
            <p:cNvPr id="13" name="Imagen 12">
              <a:extLst>
                <a:ext uri="{FF2B5EF4-FFF2-40B4-BE49-F238E27FC236}">
                  <a16:creationId xmlns:a16="http://schemas.microsoft.com/office/drawing/2014/main" id="{BD0D5DD6-5F16-47B6-3C05-62BE6CF03A3E}"/>
                </a:ext>
              </a:extLst>
            </p:cNvPr>
            <p:cNvPicPr>
              <a:picLocks noChangeAspect="1"/>
            </p:cNvPicPr>
            <p:nvPr/>
          </p:nvPicPr>
          <p:blipFill>
            <a:blip r:embed="rId6"/>
            <a:stretch>
              <a:fillRect/>
            </a:stretch>
          </p:blipFill>
          <p:spPr>
            <a:xfrm>
              <a:off x="597031" y="4800717"/>
              <a:ext cx="8779497" cy="625909"/>
            </a:xfrm>
            <a:prstGeom prst="rect">
              <a:avLst/>
            </a:prstGeom>
          </p:spPr>
        </p:pic>
        <p:sp>
          <p:nvSpPr>
            <p:cNvPr id="14" name="Elipse 13">
              <a:extLst>
                <a:ext uri="{FF2B5EF4-FFF2-40B4-BE49-F238E27FC236}">
                  <a16:creationId xmlns:a16="http://schemas.microsoft.com/office/drawing/2014/main" id="{2AEBCD77-1A83-CCC5-CBDE-C226A640EAE4}"/>
                </a:ext>
              </a:extLst>
            </p:cNvPr>
            <p:cNvSpPr/>
            <p:nvPr/>
          </p:nvSpPr>
          <p:spPr>
            <a:xfrm>
              <a:off x="5715000" y="4800717"/>
              <a:ext cx="1219200" cy="277890"/>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Elipse 14">
              <a:extLst>
                <a:ext uri="{FF2B5EF4-FFF2-40B4-BE49-F238E27FC236}">
                  <a16:creationId xmlns:a16="http://schemas.microsoft.com/office/drawing/2014/main" id="{297FDC44-D821-DB98-EA00-DEAA3BC4FDE2}"/>
                </a:ext>
              </a:extLst>
            </p:cNvPr>
            <p:cNvSpPr/>
            <p:nvPr/>
          </p:nvSpPr>
          <p:spPr>
            <a:xfrm>
              <a:off x="3124200" y="5069097"/>
              <a:ext cx="1219200" cy="277890"/>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Elipse 16">
              <a:extLst>
                <a:ext uri="{FF2B5EF4-FFF2-40B4-BE49-F238E27FC236}">
                  <a16:creationId xmlns:a16="http://schemas.microsoft.com/office/drawing/2014/main" id="{8698F52C-2ED2-325F-8089-25663F6D21F5}"/>
                </a:ext>
              </a:extLst>
            </p:cNvPr>
            <p:cNvSpPr/>
            <p:nvPr/>
          </p:nvSpPr>
          <p:spPr>
            <a:xfrm>
              <a:off x="4343400" y="5078607"/>
              <a:ext cx="1219200" cy="277890"/>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8" name="CuadroTexto 17">
            <a:extLst>
              <a:ext uri="{FF2B5EF4-FFF2-40B4-BE49-F238E27FC236}">
                <a16:creationId xmlns:a16="http://schemas.microsoft.com/office/drawing/2014/main" id="{095052C0-3964-2910-4CC0-29894BFB2D83}"/>
              </a:ext>
            </a:extLst>
          </p:cNvPr>
          <p:cNvSpPr txBox="1"/>
          <p:nvPr/>
        </p:nvSpPr>
        <p:spPr>
          <a:xfrm>
            <a:off x="8991600" y="4701570"/>
            <a:ext cx="2804161" cy="784830"/>
          </a:xfrm>
          <a:prstGeom prst="rect">
            <a:avLst/>
          </a:prstGeom>
          <a:noFill/>
          <a:ln w="28575">
            <a:solidFill>
              <a:schemeClr val="accent6">
                <a:lumMod val="75000"/>
              </a:schemeClr>
            </a:solidFill>
          </a:ln>
        </p:spPr>
        <p:txBody>
          <a:bodyPr wrap="square" rtlCol="0">
            <a:spAutoFit/>
          </a:bodyPr>
          <a:lstStyle/>
          <a:p>
            <a:pPr algn="just"/>
            <a:r>
              <a:rPr lang="ca-ES-valencia" sz="1200">
                <a:latin typeface="Arial" panose="020B0604020202020204" pitchFamily="34" charset="0"/>
                <a:cs typeface="Arial" panose="020B0604020202020204" pitchFamily="34" charset="0"/>
              </a:rPr>
              <a:t>Los modos </a:t>
            </a:r>
            <a:r>
              <a:rPr lang="ca-ES-valencia" sz="1200" b="1">
                <a:solidFill>
                  <a:schemeClr val="accent6">
                    <a:lumMod val="75000"/>
                  </a:schemeClr>
                </a:solidFill>
                <a:latin typeface="Arial" panose="020B0604020202020204" pitchFamily="34" charset="0"/>
                <a:cs typeface="Arial" panose="020B0604020202020204" pitchFamily="34" charset="0"/>
              </a:rPr>
              <a:t>3</a:t>
            </a:r>
            <a:r>
              <a:rPr lang="ca-ES-valencia" sz="1200">
                <a:latin typeface="Arial" panose="020B0604020202020204" pitchFamily="34" charset="0"/>
                <a:cs typeface="Arial" panose="020B0604020202020204" pitchFamily="34" charset="0"/>
              </a:rPr>
              <a:t> y </a:t>
            </a:r>
            <a:r>
              <a:rPr lang="ca-ES-valencia" sz="1200" b="1">
                <a:solidFill>
                  <a:srgbClr val="00B0F0"/>
                </a:solidFill>
                <a:latin typeface="Arial" panose="020B0604020202020204" pitchFamily="34" charset="0"/>
                <a:cs typeface="Arial" panose="020B0604020202020204" pitchFamily="34" charset="0"/>
              </a:rPr>
              <a:t>8</a:t>
            </a:r>
            <a:r>
              <a:rPr lang="ca-ES-valencia" sz="1200">
                <a:latin typeface="Arial" panose="020B0604020202020204" pitchFamily="34" charset="0"/>
                <a:cs typeface="Arial" panose="020B0604020202020204" pitchFamily="34" charset="0"/>
              </a:rPr>
              <a:t> son los únicos modos que podrían considerarse TM.</a:t>
            </a:r>
          </a:p>
          <a:p>
            <a:pPr algn="just"/>
            <a:endParaRPr lang="ca-ES-valencia" sz="800">
              <a:latin typeface="Arial" panose="020B0604020202020204" pitchFamily="34" charset="0"/>
              <a:cs typeface="Arial" panose="020B0604020202020204" pitchFamily="34" charset="0"/>
            </a:endParaRPr>
          </a:p>
          <a:p>
            <a:pPr algn="just"/>
            <a:r>
              <a:rPr lang="ca-ES-valencia" sz="1200">
                <a:latin typeface="Arial" panose="020B0604020202020204" pitchFamily="34" charset="0"/>
                <a:cs typeface="Arial" panose="020B0604020202020204" pitchFamily="34" charset="0"/>
              </a:rPr>
              <a:t>El modo </a:t>
            </a:r>
            <a:r>
              <a:rPr lang="ca-ES-valencia" sz="1200" b="1">
                <a:solidFill>
                  <a:srgbClr val="92D050"/>
                </a:solidFill>
                <a:latin typeface="Arial" panose="020B0604020202020204" pitchFamily="34" charset="0"/>
                <a:cs typeface="Arial" panose="020B0604020202020204" pitchFamily="34" charset="0"/>
              </a:rPr>
              <a:t>9</a:t>
            </a:r>
            <a:r>
              <a:rPr lang="ca-ES-valencia" sz="1200">
                <a:latin typeface="Arial" panose="020B0604020202020204" pitchFamily="34" charset="0"/>
                <a:cs typeface="Arial" panose="020B0604020202020204" pitchFamily="34" charset="0"/>
              </a:rPr>
              <a:t> no está guiado (neff,9&lt;n</a:t>
            </a:r>
            <a:r>
              <a:rPr lang="ca-ES-valencia" sz="1200" baseline="-25000">
                <a:latin typeface="Arial" panose="020B0604020202020204" pitchFamily="34" charset="0"/>
                <a:cs typeface="Arial" panose="020B0604020202020204" pitchFamily="34" charset="0"/>
              </a:rPr>
              <a:t>clad</a:t>
            </a:r>
            <a:r>
              <a:rPr lang="ca-ES-valencia" sz="1200">
                <a:latin typeface="Arial" panose="020B0604020202020204" pitchFamily="34" charset="0"/>
                <a:cs typeface="Arial" panose="020B0604020202020204" pitchFamily="34" charset="0"/>
              </a:rPr>
              <a:t>)</a:t>
            </a:r>
            <a:endParaRPr lang="es-ES" sz="1200">
              <a:latin typeface="Arial" panose="020B0604020202020204" pitchFamily="34" charset="0"/>
              <a:cs typeface="Arial" panose="020B0604020202020204" pitchFamily="34" charset="0"/>
            </a:endParaRPr>
          </a:p>
        </p:txBody>
      </p:sp>
      <p:sp>
        <p:nvSpPr>
          <p:cNvPr id="20" name="Cerrar llave 19">
            <a:extLst>
              <a:ext uri="{FF2B5EF4-FFF2-40B4-BE49-F238E27FC236}">
                <a16:creationId xmlns:a16="http://schemas.microsoft.com/office/drawing/2014/main" id="{79E8E31F-C567-794A-FE42-A02337F4D614}"/>
              </a:ext>
            </a:extLst>
          </p:cNvPr>
          <p:cNvSpPr/>
          <p:nvPr/>
        </p:nvSpPr>
        <p:spPr>
          <a:xfrm>
            <a:off x="8686800" y="4724400"/>
            <a:ext cx="167640" cy="757260"/>
          </a:xfrm>
          <a:prstGeom prst="rightBrace">
            <a:avLst/>
          </a:pr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es-ES">
              <a:solidFill>
                <a:schemeClr val="accent6">
                  <a:lumMod val="75000"/>
                </a:schemeClr>
              </a:solidFill>
            </a:endParaRPr>
          </a:p>
        </p:txBody>
      </p:sp>
    </p:spTree>
    <p:extLst>
      <p:ext uri="{BB962C8B-B14F-4D97-AF65-F5344CB8AC3E}">
        <p14:creationId xmlns:p14="http://schemas.microsoft.com/office/powerpoint/2010/main" val="1014214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#2.1 – Directional wavelength dependence (deep-etched)</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181326FD-308E-2C47-D5D2-57B3357241AA}"/>
              </a:ext>
            </a:extLst>
          </p:cNvPr>
          <p:cNvSpPr txBox="1"/>
          <p:nvPr/>
        </p:nvSpPr>
        <p:spPr>
          <a:xfrm>
            <a:off x="6209900" y="1765280"/>
            <a:ext cx="5486560" cy="3416320"/>
          </a:xfrm>
          <a:prstGeom prst="rect">
            <a:avLst/>
          </a:prstGeom>
          <a:solidFill>
            <a:schemeClr val="bg1">
              <a:lumMod val="95000"/>
            </a:schemeClr>
          </a:solidFill>
          <a:ln w="28575">
            <a:solidFill>
              <a:srgbClr val="E0700D"/>
            </a:solidFill>
          </a:ln>
        </p:spPr>
        <p:txBody>
          <a:bodyPr wrap="square" rtlCol="0">
            <a:spAutoFit/>
          </a:bodyPr>
          <a:lstStyle/>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Al aumentar la longitud de onda, tanto para TE como para TM, se observa que Lπ disminuye de forma progresiva. Esto indica que el acoplamiento entre las guías se vuelve más fuerte a longitudes de onda mayores. La razón es que, al aumentar λ, el campo óptico se vuelve menos confinado en el núcleo y se extiende más hacia el revestimiento, incrementando el solapamiento evanescente entre guías. Ese mayor solapamiento hace que la diferencia entre los índices efectivos de los modos aumente, lo que se traduce en una reducción de Lπ​.</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Además, se aprecia que en todo el rango el modo TE presenta valores de Lπ más altos que el TM. Esto es consistente con un mayor confinamiento del modo TE en este tipo de guía: al estar más localizado, su campo evanescente es menor y, por tanto, el acoplamiento es más débil. En cambio, el modo TM, al tener una componente de campo más relevante en la dirección vertical, se extiende más fuera del núcleo y acopla más fácilmente, lo que explica sus menores valores de Lπ.</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767996"/>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3029292"/>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3029292"/>
                <a:ext cx="4546634" cy="923330"/>
              </a:xfrm>
              <a:prstGeom prst="rect">
                <a:avLst/>
              </a:prstGeom>
              <a:blipFill>
                <a:blip r:embed="rId4"/>
                <a:stretch>
                  <a:fillRect t="-3974" b="-9934"/>
                </a:stretch>
              </a:blipFill>
            </p:spPr>
            <p:txBody>
              <a:bodyPr/>
              <a:lstStyle/>
              <a:p>
                <a:r>
                  <a:rPr lang="en-US">
                    <a:noFill/>
                  </a:rPr>
                  <a:t> </a:t>
                </a:r>
              </a:p>
            </p:txBody>
          </p:sp>
        </mc:Fallback>
      </mc:AlternateContent>
      <p:pic>
        <p:nvPicPr>
          <p:cNvPr id="4" name="Imagen 3">
            <a:extLst>
              <a:ext uri="{FF2B5EF4-FFF2-40B4-BE49-F238E27FC236}">
                <a16:creationId xmlns:a16="http://schemas.microsoft.com/office/drawing/2014/main" id="{98313F05-8946-53BC-4E7C-4B9D1099079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85800" y="1891244"/>
            <a:ext cx="5314950" cy="3097748"/>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79F08-B7D5-0F5E-BF98-FAE67A96C6C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CEE6F31-163A-0645-9CEE-596496D9C245}"/>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#2.2 – Directional wavelength dependence (shallow-etched)</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E50CACF7-25DE-9D71-7E93-CE2426FD50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B3E27E-0386-EDC9-9724-F3E6F22DADC5}"/>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AD7D9BAE-2A55-760E-6D2A-988B14D09BEF}"/>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324A9102-1E59-5BCB-42A9-4A8873AB6406}"/>
              </a:ext>
            </a:extLst>
          </p:cNvPr>
          <p:cNvSpPr txBox="1"/>
          <p:nvPr/>
        </p:nvSpPr>
        <p:spPr>
          <a:xfrm>
            <a:off x="609441" y="2434746"/>
            <a:ext cx="5486559" cy="2862322"/>
          </a:xfrm>
          <a:prstGeom prst="rect">
            <a:avLst/>
          </a:prstGeom>
          <a:solidFill>
            <a:schemeClr val="bg1">
              <a:lumMod val="95000"/>
            </a:schemeClr>
          </a:solidFill>
          <a:ln w="28575">
            <a:solidFill>
              <a:srgbClr val="E0700D"/>
            </a:solidFill>
          </a:ln>
        </p:spPr>
        <p:txBody>
          <a:bodyPr wrap="square" rtlCol="0">
            <a:spAutoFit/>
          </a:bodyPr>
          <a:lstStyle/>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el caso de guías </a:t>
            </a:r>
            <a:r>
              <a:rPr lang="es-ES" sz="1200" dirty="0" err="1">
                <a:latin typeface="Arial" panose="020B0604020202020204" pitchFamily="34" charset="0"/>
                <a:cs typeface="Arial" panose="020B0604020202020204" pitchFamily="34" charset="0"/>
              </a:rPr>
              <a:t>shallow-etched</a:t>
            </a:r>
            <a:r>
              <a:rPr lang="es-ES" sz="1200" dirty="0">
                <a:latin typeface="Arial" panose="020B0604020202020204" pitchFamily="34" charset="0"/>
                <a:cs typeface="Arial" panose="020B0604020202020204" pitchFamily="34" charset="0"/>
              </a:rPr>
              <a:t>, se ha identificado el par de modos TM a partir de la fracción de polarización, seleccionando aquellos modos con componente dominante TM, como vemos arriba. </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cuanto al comportamiento de Lπ, la tendencia observada es similar al caso </a:t>
            </a:r>
            <a:r>
              <a:rPr lang="es-ES" sz="1200" dirty="0" err="1">
                <a:latin typeface="Arial" panose="020B0604020202020204" pitchFamily="34" charset="0"/>
                <a:cs typeface="Arial" panose="020B0604020202020204" pitchFamily="34" charset="0"/>
              </a:rPr>
              <a:t>deep-etched</a:t>
            </a:r>
            <a:r>
              <a:rPr lang="es-ES" sz="1200" dirty="0">
                <a:latin typeface="Arial" panose="020B0604020202020204" pitchFamily="34" charset="0"/>
                <a:cs typeface="Arial" panose="020B0604020202020204" pitchFamily="34" charset="0"/>
              </a:rPr>
              <a:t>, con una disminución de Lπ al aumentar la longitud de onda, lo que refleja un incremento del acoplamiento. Sin embargo, en las guías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los valores de Lπ son menores desde el inicio, debido al menor confinamiento óptico provocado por la presencia del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que favorece un mayor solapamiento evanescente entre guías. Además, la variación de Lπ con la longitud de onda es más suave que en el caso </a:t>
            </a:r>
            <a:r>
              <a:rPr lang="es-ES" sz="1200" dirty="0" err="1">
                <a:latin typeface="Arial" panose="020B0604020202020204" pitchFamily="34" charset="0"/>
                <a:cs typeface="Arial" panose="020B0604020202020204" pitchFamily="34" charset="0"/>
              </a:rPr>
              <a:t>deep-etched</a:t>
            </a:r>
            <a:r>
              <a:rPr lang="es-ES" sz="1200" dirty="0">
                <a:latin typeface="Arial" panose="020B0604020202020204" pitchFamily="34" charset="0"/>
                <a:cs typeface="Arial" panose="020B0604020202020204" pitchFamily="34" charset="0"/>
              </a:rPr>
              <a:t>, ya que el campo óptico ya está más extendido desde el inicio y su redistribución con λ es menos pronunciada.</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DBCEAE8-4456-229D-99C4-B20BA01543FD}"/>
              </a:ext>
            </a:extLst>
          </p:cNvPr>
          <p:cNvSpPr/>
          <p:nvPr/>
        </p:nvSpPr>
        <p:spPr>
          <a:xfrm>
            <a:off x="6321424" y="21717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C304DC5-AA9A-2FF9-4DFE-08112B92251E}"/>
                  </a:ext>
                </a:extLst>
              </p:cNvPr>
              <p:cNvSpPr txBox="1"/>
              <p:nvPr/>
            </p:nvSpPr>
            <p:spPr>
              <a:xfrm>
                <a:off x="6883366" y="34329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9" name="CuadroTexto 8">
                <a:extLst>
                  <a:ext uri="{FF2B5EF4-FFF2-40B4-BE49-F238E27FC236}">
                    <a16:creationId xmlns:a16="http://schemas.microsoft.com/office/drawing/2014/main" id="{2C304DC5-AA9A-2FF9-4DFE-08112B92251E}"/>
                  </a:ext>
                </a:extLst>
              </p:cNvPr>
              <p:cNvSpPr txBox="1">
                <a:spLocks noRot="1" noChangeAspect="1" noMove="1" noResize="1" noEditPoints="1" noAdjustHandles="1" noChangeArrowheads="1" noChangeShapeType="1" noTextEdit="1"/>
              </p:cNvSpPr>
              <p:nvPr/>
            </p:nvSpPr>
            <p:spPr>
              <a:xfrm>
                <a:off x="6883366" y="3432996"/>
                <a:ext cx="4546634" cy="923330"/>
              </a:xfrm>
              <a:prstGeom prst="rect">
                <a:avLst/>
              </a:prstGeom>
              <a:blipFill>
                <a:blip r:embed="rId4"/>
                <a:stretch>
                  <a:fillRect t="-3289" b="-9211"/>
                </a:stretch>
              </a:blipFill>
            </p:spPr>
            <p:txBody>
              <a:bodyPr/>
              <a:lstStyle/>
              <a:p>
                <a:r>
                  <a:rPr lang="es-ES">
                    <a:noFill/>
                  </a:rPr>
                  <a:t> </a:t>
                </a:r>
              </a:p>
            </p:txBody>
          </p:sp>
        </mc:Fallback>
      </mc:AlternateContent>
      <p:pic>
        <p:nvPicPr>
          <p:cNvPr id="8" name="Imagen 7">
            <a:extLst>
              <a:ext uri="{FF2B5EF4-FFF2-40B4-BE49-F238E27FC236}">
                <a16:creationId xmlns:a16="http://schemas.microsoft.com/office/drawing/2014/main" id="{85735098-A63A-21F2-F8E9-435C4CA8EE23}"/>
              </a:ext>
            </a:extLst>
          </p:cNvPr>
          <p:cNvPicPr>
            <a:picLocks noChangeAspect="1"/>
          </p:cNvPicPr>
          <p:nvPr/>
        </p:nvPicPr>
        <p:blipFill>
          <a:blip r:embed="rId5"/>
          <a:stretch>
            <a:fillRect/>
          </a:stretch>
        </p:blipFill>
        <p:spPr>
          <a:xfrm>
            <a:off x="6403974" y="2262327"/>
            <a:ext cx="5321458" cy="3107883"/>
          </a:xfrm>
          <a:prstGeom prst="rect">
            <a:avLst/>
          </a:prstGeom>
        </p:spPr>
      </p:pic>
      <p:sp>
        <p:nvSpPr>
          <p:cNvPr id="7" name="CuadroTexto 6">
            <a:extLst>
              <a:ext uri="{FF2B5EF4-FFF2-40B4-BE49-F238E27FC236}">
                <a16:creationId xmlns:a16="http://schemas.microsoft.com/office/drawing/2014/main" id="{2462B682-BB26-DF5C-BB98-E6CF2895F08B}"/>
              </a:ext>
            </a:extLst>
          </p:cNvPr>
          <p:cNvSpPr txBox="1"/>
          <p:nvPr/>
        </p:nvSpPr>
        <p:spPr>
          <a:xfrm>
            <a:off x="6372544" y="5121927"/>
            <a:ext cx="2269787" cy="369332"/>
          </a:xfrm>
          <a:prstGeom prst="rect">
            <a:avLst/>
          </a:prstGeom>
          <a:noFill/>
        </p:spPr>
        <p:txBody>
          <a:bodyPr wrap="square">
            <a:spAutoFit/>
          </a:bodyPr>
          <a:lstStyle/>
          <a:p>
            <a:r>
              <a:rPr lang="en-US"/>
              <a:t>slab = 150nm</a:t>
            </a:r>
            <a:endParaRPr lang="es-ES"/>
          </a:p>
        </p:txBody>
      </p:sp>
      <p:grpSp>
        <p:nvGrpSpPr>
          <p:cNvPr id="20" name="Grupo 19">
            <a:extLst>
              <a:ext uri="{FF2B5EF4-FFF2-40B4-BE49-F238E27FC236}">
                <a16:creationId xmlns:a16="http://schemas.microsoft.com/office/drawing/2014/main" id="{A9F70C20-EF1B-0A55-B089-BFDD216EB619}"/>
              </a:ext>
            </a:extLst>
          </p:cNvPr>
          <p:cNvGrpSpPr/>
          <p:nvPr/>
        </p:nvGrpSpPr>
        <p:grpSpPr>
          <a:xfrm>
            <a:off x="685800" y="1410273"/>
            <a:ext cx="7830748" cy="323150"/>
            <a:chOff x="685800" y="1322795"/>
            <a:chExt cx="7830748" cy="323150"/>
          </a:xfrm>
        </p:grpSpPr>
        <p:pic>
          <p:nvPicPr>
            <p:cNvPr id="14" name="Imagen 13">
              <a:extLst>
                <a:ext uri="{FF2B5EF4-FFF2-40B4-BE49-F238E27FC236}">
                  <a16:creationId xmlns:a16="http://schemas.microsoft.com/office/drawing/2014/main" id="{6018DE77-FE93-D9E5-6AF6-6C4228F24EF9}"/>
                </a:ext>
              </a:extLst>
            </p:cNvPr>
            <p:cNvPicPr>
              <a:picLocks noChangeAspect="1"/>
            </p:cNvPicPr>
            <p:nvPr/>
          </p:nvPicPr>
          <p:blipFill>
            <a:blip r:embed="rId6"/>
            <a:stretch>
              <a:fillRect/>
            </a:stretch>
          </p:blipFill>
          <p:spPr>
            <a:xfrm>
              <a:off x="685800" y="1324404"/>
              <a:ext cx="7830748" cy="321541"/>
            </a:xfrm>
            <a:prstGeom prst="rect">
              <a:avLst/>
            </a:prstGeom>
          </p:spPr>
        </p:pic>
        <p:sp>
          <p:nvSpPr>
            <p:cNvPr id="15" name="Elipse 14">
              <a:extLst>
                <a:ext uri="{FF2B5EF4-FFF2-40B4-BE49-F238E27FC236}">
                  <a16:creationId xmlns:a16="http://schemas.microsoft.com/office/drawing/2014/main" id="{18BDA18D-70A7-9A6E-F145-3663098D0DF1}"/>
                </a:ext>
              </a:extLst>
            </p:cNvPr>
            <p:cNvSpPr/>
            <p:nvPr/>
          </p:nvSpPr>
          <p:spPr>
            <a:xfrm>
              <a:off x="4121864" y="1322795"/>
              <a:ext cx="1108974" cy="258569"/>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Elipse 16">
              <a:extLst>
                <a:ext uri="{FF2B5EF4-FFF2-40B4-BE49-F238E27FC236}">
                  <a16:creationId xmlns:a16="http://schemas.microsoft.com/office/drawing/2014/main" id="{FA1DDFF8-9688-03AF-EAF0-51BA70951020}"/>
                </a:ext>
              </a:extLst>
            </p:cNvPr>
            <p:cNvSpPr/>
            <p:nvPr/>
          </p:nvSpPr>
          <p:spPr>
            <a:xfrm>
              <a:off x="7265114" y="1330901"/>
              <a:ext cx="1108974" cy="258569"/>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8" name="Cerrar llave 17">
            <a:extLst>
              <a:ext uri="{FF2B5EF4-FFF2-40B4-BE49-F238E27FC236}">
                <a16:creationId xmlns:a16="http://schemas.microsoft.com/office/drawing/2014/main" id="{AA14F61C-4B30-01CC-B321-7A8C4D8565E0}"/>
              </a:ext>
            </a:extLst>
          </p:cNvPr>
          <p:cNvSpPr/>
          <p:nvPr/>
        </p:nvSpPr>
        <p:spPr>
          <a:xfrm>
            <a:off x="8642331" y="1260564"/>
            <a:ext cx="111144" cy="646595"/>
          </a:xfrm>
          <a:prstGeom prst="rightBrace">
            <a:avLst/>
          </a:pr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es-ES"/>
          </a:p>
        </p:txBody>
      </p:sp>
      <p:sp>
        <p:nvSpPr>
          <p:cNvPr id="19" name="CuadroTexto 18">
            <a:extLst>
              <a:ext uri="{FF2B5EF4-FFF2-40B4-BE49-F238E27FC236}">
                <a16:creationId xmlns:a16="http://schemas.microsoft.com/office/drawing/2014/main" id="{4664DCC7-4F56-74A6-A580-FF1D2AB8C6C6}"/>
              </a:ext>
            </a:extLst>
          </p:cNvPr>
          <p:cNvSpPr txBox="1"/>
          <p:nvPr/>
        </p:nvSpPr>
        <p:spPr>
          <a:xfrm>
            <a:off x="8921271" y="1170867"/>
            <a:ext cx="2884722" cy="830997"/>
          </a:xfrm>
          <a:prstGeom prst="rect">
            <a:avLst/>
          </a:prstGeom>
          <a:noFill/>
          <a:ln w="28575">
            <a:solidFill>
              <a:schemeClr val="accent6">
                <a:lumMod val="75000"/>
              </a:schemeClr>
            </a:solidFill>
          </a:ln>
        </p:spPr>
        <p:txBody>
          <a:bodyPr wrap="square" rtlCol="0">
            <a:spAutoFit/>
          </a:bodyPr>
          <a:lstStyle/>
          <a:p>
            <a:pPr algn="just"/>
            <a:r>
              <a:rPr lang="ca-ES-valencia" sz="1200" dirty="0">
                <a:latin typeface="Arial" panose="020B0604020202020204" pitchFamily="34" charset="0"/>
                <a:cs typeface="Arial" panose="020B0604020202020204" pitchFamily="34" charset="0"/>
              </a:rPr>
              <a:t>Los modos </a:t>
            </a:r>
            <a:r>
              <a:rPr lang="ca-ES-valencia" sz="1200" b="1" dirty="0">
                <a:solidFill>
                  <a:schemeClr val="accent6">
                    <a:lumMod val="75000"/>
                  </a:schemeClr>
                </a:solidFill>
                <a:latin typeface="Arial" panose="020B0604020202020204" pitchFamily="34" charset="0"/>
                <a:cs typeface="Arial" panose="020B0604020202020204" pitchFamily="34" charset="0"/>
              </a:rPr>
              <a:t>2</a:t>
            </a:r>
            <a:r>
              <a:rPr lang="ca-ES-valencia" sz="1200" dirty="0">
                <a:latin typeface="Arial" panose="020B0604020202020204" pitchFamily="34" charset="0"/>
                <a:cs typeface="Arial" panose="020B0604020202020204" pitchFamily="34" charset="0"/>
              </a:rPr>
              <a:t> y </a:t>
            </a:r>
            <a:r>
              <a:rPr lang="ca-ES-valencia" sz="1200" b="1" dirty="0">
                <a:solidFill>
                  <a:srgbClr val="00B0F0"/>
                </a:solidFill>
                <a:latin typeface="Arial" panose="020B0604020202020204" pitchFamily="34" charset="0"/>
                <a:cs typeface="Arial" panose="020B0604020202020204" pitchFamily="34" charset="0"/>
              </a:rPr>
              <a:t>5</a:t>
            </a:r>
            <a:r>
              <a:rPr lang="ca-ES-valencia" sz="1200" dirty="0">
                <a:latin typeface="Arial" panose="020B0604020202020204" pitchFamily="34" charset="0"/>
                <a:cs typeface="Arial" panose="020B0604020202020204" pitchFamily="34" charset="0"/>
              </a:rPr>
              <a:t> son los modos TM que usaremos como par odd/even para estudiar el sweep de wavelength en guías shallow-etched.</a:t>
            </a:r>
          </a:p>
        </p:txBody>
      </p:sp>
    </p:spTree>
    <p:extLst>
      <p:ext uri="{BB962C8B-B14F-4D97-AF65-F5344CB8AC3E}">
        <p14:creationId xmlns:p14="http://schemas.microsoft.com/office/powerpoint/2010/main" val="1473094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#3 – MMI coupler wavelength dependence</a:t>
            </a:r>
            <a:br>
              <a:rPr lang="en-US" sz="2500" spc="-5">
                <a:latin typeface="+mj-lt"/>
                <a:cs typeface="Lucida Sans"/>
              </a:rPr>
            </a:br>
            <a:r>
              <a:rPr lang="en-US" b="0"/>
              <a:t>Wavelengths from 1.5 to 1.7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a:latin typeface="Arial" panose="020B0604020202020204" pitchFamily="34" charset="0"/>
                <a:cs typeface="Arial" panose="020B0604020202020204" pitchFamily="34" charset="0"/>
              </a:rPr>
              <a:t>Comment results (Important. Compare with Directional Coupler)</a:t>
            </a:r>
          </a:p>
          <a:p>
            <a:pPr algn="just"/>
            <a:endParaRPr lang="en-US" sz="1200">
              <a:latin typeface="Arial" panose="020B0604020202020204" pitchFamily="34" charset="0"/>
              <a:cs typeface="Arial" panose="020B0604020202020204" pitchFamily="34" charset="0"/>
            </a:endParaRPr>
          </a:p>
          <a:p>
            <a:pPr algn="just"/>
            <a:r>
              <a:rPr lang="es-ES" sz="1200">
                <a:latin typeface="Arial"/>
                <a:ea typeface="+mn-lt"/>
                <a:cs typeface="Arial"/>
              </a:rPr>
              <a:t>Los resultados obtenidos en el experimento de las guías de onda </a:t>
            </a:r>
            <a:r>
              <a:rPr lang="es-ES" sz="1200" err="1">
                <a:latin typeface="Arial"/>
                <a:ea typeface="+mn-lt"/>
                <a:cs typeface="Arial"/>
              </a:rPr>
              <a:t>deep</a:t>
            </a:r>
            <a:r>
              <a:rPr lang="es-ES" sz="1200">
                <a:latin typeface="Arial"/>
                <a:ea typeface="+mn-lt"/>
                <a:cs typeface="Arial"/>
              </a:rPr>
              <a:t> muestran una clara dependencia del índice de refracción efectivo y de la longitud de interacción con respecto a la longitud de onda. Se observa una mayor dispersión en comparación con las guías de onda poco profundas, lo cual es atribuible al mayor número de modos soportados en el tipo de guías de onda </a:t>
            </a:r>
            <a:r>
              <a:rPr lang="es-ES" sz="1200" err="1">
                <a:latin typeface="Arial"/>
                <a:ea typeface="+mn-lt"/>
                <a:cs typeface="Arial"/>
              </a:rPr>
              <a:t>shallow</a:t>
            </a:r>
            <a:r>
              <a:rPr lang="es-ES" sz="1200">
                <a:latin typeface="Arial"/>
                <a:ea typeface="+mn-lt"/>
                <a:cs typeface="Arial"/>
              </a:rPr>
              <a:t>.</a:t>
            </a:r>
            <a:endParaRPr lang="es-ES" sz="1200">
              <a:latin typeface="Arial"/>
              <a:ea typeface="Calibri"/>
              <a:cs typeface="Arial"/>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p:pic>
        <p:nvPicPr>
          <p:cNvPr id="8" name="Imagen 7" descr="Gráfico, Gráfico de líneas&#10;&#10;El contenido generado por IA puede ser incorrecto.">
            <a:extLst>
              <a:ext uri="{FF2B5EF4-FFF2-40B4-BE49-F238E27FC236}">
                <a16:creationId xmlns:a16="http://schemas.microsoft.com/office/drawing/2014/main" id="{BC1CD03E-A6C0-0C9D-445B-081CF507DC94}"/>
              </a:ext>
            </a:extLst>
          </p:cNvPr>
          <p:cNvPicPr>
            <a:picLocks noChangeAspect="1"/>
          </p:cNvPicPr>
          <p:nvPr/>
        </p:nvPicPr>
        <p:blipFill>
          <a:blip r:embed="rId4"/>
          <a:stretch>
            <a:fillRect/>
          </a:stretch>
        </p:blipFill>
        <p:spPr>
          <a:xfrm>
            <a:off x="710152" y="1900507"/>
            <a:ext cx="5293924" cy="2539402"/>
          </a:xfrm>
          <a:prstGeom prst="rect">
            <a:avLst/>
          </a:prstGeom>
        </p:spPr>
      </p:pic>
      <p:pic>
        <p:nvPicPr>
          <p:cNvPr id="11" name="Imagen 10" descr="Gráfico, Gráfico de líneas&#10;&#10;El contenido generado por IA puede ser incorrecto.">
            <a:extLst>
              <a:ext uri="{FF2B5EF4-FFF2-40B4-BE49-F238E27FC236}">
                <a16:creationId xmlns:a16="http://schemas.microsoft.com/office/drawing/2014/main" id="{1628F2A2-7B23-80C6-74B8-4450D959CC07}"/>
              </a:ext>
            </a:extLst>
          </p:cNvPr>
          <p:cNvPicPr>
            <a:picLocks noChangeAspect="1"/>
          </p:cNvPicPr>
          <p:nvPr/>
        </p:nvPicPr>
        <p:blipFill>
          <a:blip r:embed="rId5"/>
          <a:stretch>
            <a:fillRect/>
          </a:stretch>
        </p:blipFill>
        <p:spPr>
          <a:xfrm>
            <a:off x="6489850" y="1900507"/>
            <a:ext cx="5121395" cy="2525024"/>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#4 – MMI coupler body width dependence</a:t>
            </a:r>
            <a:br>
              <a:rPr lang="en-US" sz="2500" spc="-5">
                <a:latin typeface="+mj-lt"/>
                <a:cs typeface="Lucida Sans"/>
              </a:rPr>
            </a:br>
            <a:r>
              <a:rPr lang="en-US" b="0"/>
              <a:t>Wavelength 1.55 µm, </a:t>
            </a:r>
            <a:r>
              <a:rPr lang="en-US" b="0" err="1"/>
              <a:t>wMMI</a:t>
            </a:r>
            <a:r>
              <a:rPr lang="en-US" b="0"/>
              <a:t> = 5-10 µm (steps 0.5 µm)</a:t>
            </a:r>
            <a:endParaRPr lang="en-US" sz="2500" b="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a:latin typeface="Arial"/>
                <a:cs typeface="Arial"/>
              </a:rPr>
              <a:t>Polarization independent coupler: is there any point for which the MMI coupler can work identically for TE and TM? Answer yes / no and explain why?</a:t>
            </a:r>
            <a:endParaRPr lang="en-US">
              <a:ea typeface="+mn-lt"/>
              <a:cs typeface="+mn-lt"/>
            </a:endParaRPr>
          </a:p>
          <a:p>
            <a:pPr algn="just"/>
            <a:r>
              <a:rPr lang="en-US" sz="1200">
                <a:ea typeface="+mn-lt"/>
                <a:cs typeface="+mn-lt"/>
              </a:rPr>
              <a:t>Los </a:t>
            </a:r>
            <a:r>
              <a:rPr lang="en-US" sz="1200" err="1">
                <a:ea typeface="+mn-lt"/>
                <a:cs typeface="+mn-lt"/>
              </a:rPr>
              <a:t>resultados</a:t>
            </a:r>
            <a:r>
              <a:rPr lang="en-US" sz="1200">
                <a:ea typeface="+mn-lt"/>
                <a:cs typeface="+mn-lt"/>
              </a:rPr>
              <a:t> </a:t>
            </a:r>
            <a:r>
              <a:rPr lang="en-US" sz="1200" err="1">
                <a:ea typeface="+mn-lt"/>
                <a:cs typeface="+mn-lt"/>
              </a:rPr>
              <a:t>muestran</a:t>
            </a:r>
            <a:r>
              <a:rPr lang="en-US" sz="1200">
                <a:ea typeface="+mn-lt"/>
                <a:cs typeface="+mn-lt"/>
              </a:rPr>
              <a:t> </a:t>
            </a:r>
            <a:r>
              <a:rPr lang="en-US" sz="1200" err="1">
                <a:ea typeface="+mn-lt"/>
                <a:cs typeface="+mn-lt"/>
              </a:rPr>
              <a:t>una</a:t>
            </a:r>
            <a:r>
              <a:rPr lang="en-US" sz="1200">
                <a:ea typeface="+mn-lt"/>
                <a:cs typeface="+mn-lt"/>
              </a:rPr>
              <a:t> </a:t>
            </a:r>
            <a:r>
              <a:rPr lang="en-US" sz="1200" err="1">
                <a:ea typeface="+mn-lt"/>
                <a:cs typeface="+mn-lt"/>
              </a:rPr>
              <a:t>clara</a:t>
            </a:r>
            <a:r>
              <a:rPr lang="en-US" sz="1200">
                <a:ea typeface="+mn-lt"/>
                <a:cs typeface="+mn-lt"/>
              </a:rPr>
              <a:t> </a:t>
            </a:r>
            <a:r>
              <a:rPr lang="en-US" sz="1200" err="1">
                <a:ea typeface="+mn-lt"/>
                <a:cs typeface="+mn-lt"/>
              </a:rPr>
              <a:t>dependencia</a:t>
            </a:r>
            <a:r>
              <a:rPr lang="en-US" sz="1200">
                <a:ea typeface="+mn-lt"/>
                <a:cs typeface="+mn-lt"/>
              </a:rPr>
              <a:t> de la </a:t>
            </a:r>
            <a:r>
              <a:rPr lang="en-US" sz="1200" err="1">
                <a:ea typeface="+mn-lt"/>
                <a:cs typeface="+mn-lt"/>
              </a:rPr>
              <a:t>longitud</a:t>
            </a:r>
            <a:r>
              <a:rPr lang="en-US" sz="1200">
                <a:ea typeface="+mn-lt"/>
                <a:cs typeface="+mn-lt"/>
              </a:rPr>
              <a:t> de </a:t>
            </a:r>
            <a:r>
              <a:rPr lang="en-US" sz="1200" err="1">
                <a:ea typeface="+mn-lt"/>
                <a:cs typeface="+mn-lt"/>
              </a:rPr>
              <a:t>interacción</a:t>
            </a:r>
            <a:r>
              <a:rPr lang="en-US" sz="1200">
                <a:ea typeface="+mn-lt"/>
                <a:cs typeface="+mn-lt"/>
              </a:rPr>
              <a:t> y del </a:t>
            </a:r>
            <a:r>
              <a:rPr lang="en-US" sz="1200" err="1">
                <a:ea typeface="+mn-lt"/>
                <a:cs typeface="+mn-lt"/>
              </a:rPr>
              <a:t>índice</a:t>
            </a:r>
            <a:r>
              <a:rPr lang="en-US" sz="1200">
                <a:ea typeface="+mn-lt"/>
                <a:cs typeface="+mn-lt"/>
              </a:rPr>
              <a:t> de </a:t>
            </a:r>
            <a:r>
              <a:rPr lang="en-US" sz="1200" err="1">
                <a:ea typeface="+mn-lt"/>
                <a:cs typeface="+mn-lt"/>
              </a:rPr>
              <a:t>refracción</a:t>
            </a:r>
            <a:r>
              <a:rPr lang="en-US" sz="1200">
                <a:ea typeface="+mn-lt"/>
                <a:cs typeface="+mn-lt"/>
              </a:rPr>
              <a:t> </a:t>
            </a:r>
            <a:r>
              <a:rPr lang="en-US" sz="1200" err="1">
                <a:ea typeface="+mn-lt"/>
                <a:cs typeface="+mn-lt"/>
              </a:rPr>
              <a:t>efectivo</a:t>
            </a:r>
            <a:r>
              <a:rPr lang="en-US" sz="1200">
                <a:ea typeface="+mn-lt"/>
                <a:cs typeface="+mn-lt"/>
              </a:rPr>
              <a:t> con </a:t>
            </a:r>
            <a:r>
              <a:rPr lang="en-US" sz="1200" err="1">
                <a:ea typeface="+mn-lt"/>
                <a:cs typeface="+mn-lt"/>
              </a:rPr>
              <a:t>respecto</a:t>
            </a:r>
            <a:r>
              <a:rPr lang="en-US" sz="1200">
                <a:ea typeface="+mn-lt"/>
                <a:cs typeface="+mn-lt"/>
              </a:rPr>
              <a:t> al ancho de la </a:t>
            </a:r>
            <a:r>
              <a:rPr lang="en-US" sz="1200" err="1">
                <a:ea typeface="+mn-lt"/>
                <a:cs typeface="+mn-lt"/>
              </a:rPr>
              <a:t>guía</a:t>
            </a:r>
            <a:r>
              <a:rPr lang="en-US" sz="1200">
                <a:ea typeface="+mn-lt"/>
                <a:cs typeface="+mn-lt"/>
              </a:rPr>
              <a:t> de </a:t>
            </a:r>
            <a:r>
              <a:rPr lang="en-US" sz="1200" err="1">
                <a:ea typeface="+mn-lt"/>
                <a:cs typeface="+mn-lt"/>
              </a:rPr>
              <a:t>onda</a:t>
            </a:r>
            <a:r>
              <a:rPr lang="en-US" sz="1200">
                <a:ea typeface="+mn-lt"/>
                <a:cs typeface="+mn-lt"/>
              </a:rPr>
              <a:t> MMI para ambas </a:t>
            </a:r>
            <a:r>
              <a:rPr lang="en-US" sz="1200" err="1">
                <a:ea typeface="+mn-lt"/>
                <a:cs typeface="+mn-lt"/>
              </a:rPr>
              <a:t>polarizaciones</a:t>
            </a:r>
            <a:r>
              <a:rPr lang="en-US" sz="1200">
                <a:ea typeface="+mn-lt"/>
                <a:cs typeface="+mn-lt"/>
              </a:rPr>
              <a:t>, TE y TM. Se </a:t>
            </a:r>
            <a:r>
              <a:rPr lang="en-US" sz="1200" err="1">
                <a:ea typeface="+mn-lt"/>
                <a:cs typeface="+mn-lt"/>
              </a:rPr>
              <a:t>observa</a:t>
            </a:r>
            <a:r>
              <a:rPr lang="en-US" sz="1200">
                <a:ea typeface="+mn-lt"/>
                <a:cs typeface="+mn-lt"/>
              </a:rPr>
              <a:t> </a:t>
            </a:r>
            <a:r>
              <a:rPr lang="en-US" sz="1200" err="1">
                <a:ea typeface="+mn-lt"/>
                <a:cs typeface="+mn-lt"/>
              </a:rPr>
              <a:t>una</a:t>
            </a:r>
            <a:r>
              <a:rPr lang="en-US" sz="1200">
                <a:ea typeface="+mn-lt"/>
                <a:cs typeface="+mn-lt"/>
              </a:rPr>
              <a:t> mayor </a:t>
            </a:r>
            <a:r>
              <a:rPr lang="en-US" sz="1200" err="1">
                <a:ea typeface="+mn-lt"/>
                <a:cs typeface="+mn-lt"/>
              </a:rPr>
              <a:t>dispersión</a:t>
            </a:r>
            <a:r>
              <a:rPr lang="en-US" sz="1200">
                <a:ea typeface="+mn-lt"/>
                <a:cs typeface="+mn-lt"/>
              </a:rPr>
              <a:t> </a:t>
            </a:r>
            <a:r>
              <a:rPr lang="en-US" sz="1200" err="1">
                <a:ea typeface="+mn-lt"/>
                <a:cs typeface="+mn-lt"/>
              </a:rPr>
              <a:t>en</a:t>
            </a:r>
            <a:r>
              <a:rPr lang="en-US" sz="1200">
                <a:ea typeface="+mn-lt"/>
                <a:cs typeface="+mn-lt"/>
              </a:rPr>
              <a:t> </a:t>
            </a:r>
            <a:r>
              <a:rPr lang="en-US" sz="1200" err="1">
                <a:ea typeface="+mn-lt"/>
                <a:cs typeface="+mn-lt"/>
              </a:rPr>
              <a:t>los</a:t>
            </a:r>
            <a:r>
              <a:rPr lang="en-US" sz="1200">
                <a:ea typeface="+mn-lt"/>
                <a:cs typeface="+mn-lt"/>
              </a:rPr>
              <a:t> </a:t>
            </a:r>
            <a:r>
              <a:rPr lang="en-US" sz="1200" err="1">
                <a:ea typeface="+mn-lt"/>
                <a:cs typeface="+mn-lt"/>
              </a:rPr>
              <a:t>modos</a:t>
            </a:r>
            <a:r>
              <a:rPr lang="en-US" sz="1200">
                <a:ea typeface="+mn-lt"/>
                <a:cs typeface="+mn-lt"/>
              </a:rPr>
              <a:t> TE </a:t>
            </a:r>
            <a:r>
              <a:rPr lang="en-US" sz="1200" err="1">
                <a:ea typeface="+mn-lt"/>
                <a:cs typeface="+mn-lt"/>
              </a:rPr>
              <a:t>en</a:t>
            </a:r>
            <a:r>
              <a:rPr lang="en-US" sz="1200">
                <a:ea typeface="+mn-lt"/>
                <a:cs typeface="+mn-lt"/>
              </a:rPr>
              <a:t> </a:t>
            </a:r>
            <a:r>
              <a:rPr lang="en-US" sz="1200" err="1">
                <a:ea typeface="+mn-lt"/>
                <a:cs typeface="+mn-lt"/>
              </a:rPr>
              <a:t>comparación</a:t>
            </a:r>
            <a:r>
              <a:rPr lang="en-US" sz="1200">
                <a:ea typeface="+mn-lt"/>
                <a:cs typeface="+mn-lt"/>
              </a:rPr>
              <a:t> con </a:t>
            </a:r>
            <a:r>
              <a:rPr lang="en-US" sz="1200" err="1">
                <a:ea typeface="+mn-lt"/>
                <a:cs typeface="+mn-lt"/>
              </a:rPr>
              <a:t>los</a:t>
            </a:r>
            <a:r>
              <a:rPr lang="en-US" sz="1200">
                <a:ea typeface="+mn-lt"/>
                <a:cs typeface="+mn-lt"/>
              </a:rPr>
              <a:t> </a:t>
            </a:r>
            <a:r>
              <a:rPr lang="en-US" sz="1200" err="1">
                <a:ea typeface="+mn-lt"/>
                <a:cs typeface="+mn-lt"/>
              </a:rPr>
              <a:t>modos</a:t>
            </a:r>
            <a:r>
              <a:rPr lang="en-US" sz="1200">
                <a:ea typeface="+mn-lt"/>
                <a:cs typeface="+mn-lt"/>
              </a:rPr>
              <a:t> TM, lo </a:t>
            </a:r>
            <a:r>
              <a:rPr lang="en-US" sz="1200" err="1">
                <a:ea typeface="+mn-lt"/>
                <a:cs typeface="+mn-lt"/>
              </a:rPr>
              <a:t>que</a:t>
            </a:r>
            <a:r>
              <a:rPr lang="en-US" sz="1200">
                <a:ea typeface="+mn-lt"/>
                <a:cs typeface="+mn-lt"/>
              </a:rPr>
              <a:t> </a:t>
            </a:r>
            <a:r>
              <a:rPr lang="en-US" sz="1200" err="1">
                <a:ea typeface="+mn-lt"/>
                <a:cs typeface="+mn-lt"/>
              </a:rPr>
              <a:t>sugiere</a:t>
            </a:r>
            <a:r>
              <a:rPr lang="en-US" sz="1200">
                <a:ea typeface="+mn-lt"/>
                <a:cs typeface="+mn-lt"/>
              </a:rPr>
              <a:t> </a:t>
            </a:r>
            <a:r>
              <a:rPr lang="en-US" sz="1200" err="1">
                <a:ea typeface="+mn-lt"/>
                <a:cs typeface="+mn-lt"/>
              </a:rPr>
              <a:t>una</a:t>
            </a:r>
            <a:r>
              <a:rPr lang="en-US" sz="1200">
                <a:ea typeface="+mn-lt"/>
                <a:cs typeface="+mn-lt"/>
              </a:rPr>
              <a:t> mayor </a:t>
            </a:r>
            <a:r>
              <a:rPr lang="en-US" sz="1200" err="1">
                <a:ea typeface="+mn-lt"/>
                <a:cs typeface="+mn-lt"/>
              </a:rPr>
              <a:t>sensibilidad</a:t>
            </a:r>
            <a:r>
              <a:rPr lang="en-US" sz="1200">
                <a:ea typeface="+mn-lt"/>
                <a:cs typeface="+mn-lt"/>
              </a:rPr>
              <a:t> a </a:t>
            </a:r>
            <a:r>
              <a:rPr lang="en-US" sz="1200" err="1">
                <a:ea typeface="+mn-lt"/>
                <a:cs typeface="+mn-lt"/>
              </a:rPr>
              <a:t>variaciones</a:t>
            </a:r>
            <a:r>
              <a:rPr lang="en-US" sz="1200">
                <a:ea typeface="+mn-lt"/>
                <a:cs typeface="+mn-lt"/>
              </a:rPr>
              <a:t> </a:t>
            </a:r>
            <a:r>
              <a:rPr lang="en-US" sz="1200" err="1">
                <a:ea typeface="+mn-lt"/>
                <a:cs typeface="+mn-lt"/>
              </a:rPr>
              <a:t>en</a:t>
            </a:r>
            <a:r>
              <a:rPr lang="en-US" sz="1200">
                <a:ea typeface="+mn-lt"/>
                <a:cs typeface="+mn-lt"/>
              </a:rPr>
              <a:t> </a:t>
            </a:r>
            <a:r>
              <a:rPr lang="en-US" sz="1200" err="1">
                <a:ea typeface="+mn-lt"/>
                <a:cs typeface="+mn-lt"/>
              </a:rPr>
              <a:t>el</a:t>
            </a:r>
            <a:r>
              <a:rPr lang="en-US" sz="1200">
                <a:ea typeface="+mn-lt"/>
                <a:cs typeface="+mn-lt"/>
              </a:rPr>
              <a:t> ancho de la </a:t>
            </a:r>
            <a:r>
              <a:rPr lang="en-US" sz="1200" err="1">
                <a:ea typeface="+mn-lt"/>
                <a:cs typeface="+mn-lt"/>
              </a:rPr>
              <a:t>guía</a:t>
            </a:r>
            <a:r>
              <a:rPr lang="en-US" sz="1200">
                <a:ea typeface="+mn-lt"/>
                <a:cs typeface="+mn-lt"/>
              </a:rPr>
              <a:t> para </a:t>
            </a:r>
            <a:r>
              <a:rPr lang="en-US" sz="1200" err="1">
                <a:ea typeface="+mn-lt"/>
                <a:cs typeface="+mn-lt"/>
              </a:rPr>
              <a:t>esta</a:t>
            </a:r>
            <a:r>
              <a:rPr lang="en-US" sz="1200">
                <a:ea typeface="+mn-lt"/>
                <a:cs typeface="+mn-lt"/>
              </a:rPr>
              <a:t> </a:t>
            </a:r>
            <a:r>
              <a:rPr lang="en-US" sz="1200" err="1">
                <a:ea typeface="+mn-lt"/>
                <a:cs typeface="+mn-lt"/>
              </a:rPr>
              <a:t>polarización</a:t>
            </a:r>
            <a:r>
              <a:rPr lang="en-US" sz="1200">
                <a:ea typeface="+mn-lt"/>
                <a:cs typeface="+mn-lt"/>
              </a:rPr>
              <a:t>. </a:t>
            </a:r>
            <a:endParaRPr lang="en-US">
              <a:ea typeface="Calibri"/>
              <a:cs typeface="Calibri"/>
            </a:endParaRPr>
          </a:p>
          <a:p>
            <a:pPr algn="just"/>
            <a:r>
              <a:rPr lang="en-US" sz="1200">
                <a:latin typeface="Calibri"/>
                <a:ea typeface="Calibri"/>
                <a:cs typeface="Calibri"/>
              </a:rPr>
              <a:t>No </a:t>
            </a:r>
            <a:r>
              <a:rPr lang="en-US" sz="1200" err="1">
                <a:latin typeface="Calibri"/>
                <a:ea typeface="Calibri"/>
                <a:cs typeface="Calibri"/>
              </a:rPr>
              <a:t>existe</a:t>
            </a:r>
            <a:r>
              <a:rPr lang="en-US" sz="1200">
                <a:latin typeface="Calibri"/>
                <a:ea typeface="Calibri"/>
                <a:cs typeface="Calibri"/>
              </a:rPr>
              <a:t> </a:t>
            </a:r>
            <a:r>
              <a:rPr lang="en-US" sz="1200" err="1">
                <a:latin typeface="Calibri"/>
                <a:ea typeface="Calibri"/>
                <a:cs typeface="Calibri"/>
              </a:rPr>
              <a:t>ningún</a:t>
            </a:r>
            <a:r>
              <a:rPr lang="en-US" sz="1200">
                <a:latin typeface="Calibri"/>
                <a:ea typeface="Calibri"/>
                <a:cs typeface="Calibri"/>
              </a:rPr>
              <a:t> punto donde actúen de igual manera porque existen diferencias en la interacición de campos eléctricos y magnéticos de cada polarización con la guía de onda.</a:t>
            </a:r>
          </a:p>
          <a:p>
            <a:pPr algn="just"/>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Imagen 11" descr="Gráfico, Gráfico de líneas&#10;&#10;El contenido generado por IA puede ser incorrecto.">
            <a:extLst>
              <a:ext uri="{FF2B5EF4-FFF2-40B4-BE49-F238E27FC236}">
                <a16:creationId xmlns:a16="http://schemas.microsoft.com/office/drawing/2014/main" id="{15D1F417-D2F8-7CAF-C447-8752ED4EED2D}"/>
              </a:ext>
            </a:extLst>
          </p:cNvPr>
          <p:cNvPicPr>
            <a:picLocks noChangeAspect="1"/>
          </p:cNvPicPr>
          <p:nvPr/>
        </p:nvPicPr>
        <p:blipFill>
          <a:blip r:embed="rId4"/>
          <a:stretch>
            <a:fillRect/>
          </a:stretch>
        </p:blipFill>
        <p:spPr>
          <a:xfrm>
            <a:off x="830919" y="1501035"/>
            <a:ext cx="4853077" cy="3195921"/>
          </a:xfrm>
          <a:prstGeom prst="rect">
            <a:avLst/>
          </a:prstGeom>
        </p:spPr>
      </p:pic>
      <p:pic>
        <p:nvPicPr>
          <p:cNvPr id="13" name="Imagen 12" descr="Gráfico, Gráfico de líneas&#10;&#10;El contenido generado por IA puede ser incorrecto.">
            <a:extLst>
              <a:ext uri="{FF2B5EF4-FFF2-40B4-BE49-F238E27FC236}">
                <a16:creationId xmlns:a16="http://schemas.microsoft.com/office/drawing/2014/main" id="{D5D7BAF5-4DD9-7AE5-E360-B7A959516F1B}"/>
              </a:ext>
            </a:extLst>
          </p:cNvPr>
          <p:cNvPicPr>
            <a:picLocks noChangeAspect="1"/>
          </p:cNvPicPr>
          <p:nvPr/>
        </p:nvPicPr>
        <p:blipFill>
          <a:blip r:embed="rId5"/>
          <a:stretch>
            <a:fillRect/>
          </a:stretch>
        </p:blipFill>
        <p:spPr>
          <a:xfrm>
            <a:off x="6520472" y="1519064"/>
            <a:ext cx="4934109" cy="3159864"/>
          </a:xfrm>
          <a:prstGeom prst="rect">
            <a:avLst/>
          </a:prstGeom>
        </p:spPr>
      </p:pic>
      <p:sp>
        <p:nvSpPr>
          <p:cNvPr id="6" name="CuadroTexto 5">
            <a:extLst>
              <a:ext uri="{FF2B5EF4-FFF2-40B4-BE49-F238E27FC236}">
                <a16:creationId xmlns:a16="http://schemas.microsoft.com/office/drawing/2014/main" id="{154B5534-E510-6404-1E30-B73FDF73AD42}"/>
              </a:ext>
            </a:extLst>
          </p:cNvPr>
          <p:cNvSpPr txBox="1"/>
          <p:nvPr/>
        </p:nvSpPr>
        <p:spPr>
          <a:xfrm>
            <a:off x="6397827" y="4392808"/>
            <a:ext cx="2269787" cy="369332"/>
          </a:xfrm>
          <a:prstGeom prst="rect">
            <a:avLst/>
          </a:prstGeom>
          <a:noFill/>
        </p:spPr>
        <p:txBody>
          <a:bodyPr wrap="square">
            <a:spAutoFit/>
          </a:bodyPr>
          <a:lstStyle/>
          <a:p>
            <a:r>
              <a:rPr lang="en-US" dirty="0"/>
              <a:t>slab = 150nm</a:t>
            </a:r>
            <a:endParaRPr lang="es-ES" dirty="0"/>
          </a:p>
        </p:txBody>
      </p:sp>
    </p:spTree>
    <p:extLst>
      <p:ext uri="{BB962C8B-B14F-4D97-AF65-F5344CB8AC3E}">
        <p14:creationId xmlns:p14="http://schemas.microsoft.com/office/powerpoint/2010/main" val="535939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3376</Words>
  <Application>Microsoft Office PowerPoint</Application>
  <PresentationFormat>Panorámica</PresentationFormat>
  <Paragraphs>230</Paragraphs>
  <Slides>22</Slides>
  <Notes>18</Notes>
  <HiddenSlides>0</HiddenSlides>
  <MMClips>0</MMClips>
  <ScaleCrop>false</ScaleCrop>
  <HeadingPairs>
    <vt:vector size="4" baseType="variant">
      <vt:variant>
        <vt:lpstr>Tema</vt:lpstr>
      </vt:variant>
      <vt:variant>
        <vt:i4>1</vt:i4>
      </vt:variant>
      <vt:variant>
        <vt:lpstr>Títulos de diapositiva</vt:lpstr>
      </vt:variant>
      <vt:variant>
        <vt:i4>22</vt:i4>
      </vt:variant>
    </vt:vector>
  </HeadingPairs>
  <TitlesOfParts>
    <vt:vector size="23" baseType="lpstr">
      <vt:lpstr>Office Theme</vt:lpstr>
      <vt:lpstr>Presentación de PowerPoint</vt:lpstr>
      <vt:lpstr>Instructions General</vt:lpstr>
      <vt:lpstr>Presentación de PowerPoint</vt:lpstr>
      <vt:lpstr>Learning outcome #1 – Directional coupler cross-section in GDSFactory </vt:lpstr>
      <vt:lpstr>Learning outcome #1 – Directional coupler cross-section in GDSFactory BIS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#6 – 6.1 2x2 Multimode Interference Coupler  introduction </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#1.1 – Directional coupler gap dependence (deep-etched) Wavelength 1.55 µm, width 1.0 µm, gap 0.2-2.4 µm (step 0.2 µm) </vt:lpstr>
      <vt:lpstr>Extra #1.2 – Directional coupler gap dependence (shallow-etched) Wavelength 1.55 µm, width 1.0 µm, gap 0.2-2.4 µm (step 0.2 µm) </vt:lpstr>
      <vt:lpstr>Extra #2.1 – Directional wavelength dependence (deep-etched) Wavelengths from 1.5 to 1.7 µm, gap = 0.6 µm, width 1.0 µm  </vt:lpstr>
      <vt:lpstr>Extra #2.2 – Directional wavelength dependence (shallow-etched)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Marta Orient Cabañas</cp:lastModifiedBy>
  <cp:revision>11</cp:revision>
  <dcterms:created xsi:type="dcterms:W3CDTF">2025-01-27T02:46:57Z</dcterms:created>
  <dcterms:modified xsi:type="dcterms:W3CDTF">2026-05-03T22:18:10Z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